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Us41Yc_9x2IA4PZVDPumDsoQ-&amp;format=source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15"/>
  </p:notesMasterIdLst>
  <p:handoutMasterIdLst>
    <p:handoutMasterId r:id="rId116"/>
  </p:handoutMasterIdLst>
  <p:sldIdLst>
    <p:sldId id="620" r:id="rId2"/>
    <p:sldId id="512" r:id="rId3"/>
    <p:sldId id="513" r:id="rId4"/>
    <p:sldId id="510" r:id="rId5"/>
    <p:sldId id="635" r:id="rId6"/>
    <p:sldId id="636" r:id="rId7"/>
    <p:sldId id="419" r:id="rId8"/>
    <p:sldId id="514" r:id="rId9"/>
    <p:sldId id="293" r:id="rId10"/>
    <p:sldId id="516" r:id="rId11"/>
    <p:sldId id="517" r:id="rId12"/>
    <p:sldId id="518" r:id="rId13"/>
    <p:sldId id="519" r:id="rId14"/>
    <p:sldId id="420" r:id="rId15"/>
    <p:sldId id="294" r:id="rId16"/>
    <p:sldId id="422" r:id="rId17"/>
    <p:sldId id="423" r:id="rId18"/>
    <p:sldId id="424" r:id="rId19"/>
    <p:sldId id="425" r:id="rId20"/>
    <p:sldId id="524" r:id="rId21"/>
    <p:sldId id="520" r:id="rId22"/>
    <p:sldId id="429" r:id="rId23"/>
    <p:sldId id="523" r:id="rId24"/>
    <p:sldId id="430" r:id="rId25"/>
    <p:sldId id="525" r:id="rId26"/>
    <p:sldId id="526" r:id="rId27"/>
    <p:sldId id="527" r:id="rId28"/>
    <p:sldId id="528" r:id="rId29"/>
    <p:sldId id="555" r:id="rId30"/>
    <p:sldId id="438" r:id="rId31"/>
    <p:sldId id="531" r:id="rId32"/>
    <p:sldId id="532" r:id="rId33"/>
    <p:sldId id="533" r:id="rId34"/>
    <p:sldId id="439" r:id="rId35"/>
    <p:sldId id="535" r:id="rId36"/>
    <p:sldId id="534" r:id="rId37"/>
    <p:sldId id="646" r:id="rId38"/>
    <p:sldId id="647" r:id="rId39"/>
    <p:sldId id="638" r:id="rId40"/>
    <p:sldId id="639" r:id="rId41"/>
    <p:sldId id="640" r:id="rId42"/>
    <p:sldId id="641" r:id="rId43"/>
    <p:sldId id="648" r:id="rId44"/>
    <p:sldId id="649" r:id="rId45"/>
    <p:sldId id="650" r:id="rId46"/>
    <p:sldId id="651" r:id="rId47"/>
    <p:sldId id="652" r:id="rId48"/>
    <p:sldId id="653" r:id="rId49"/>
    <p:sldId id="654" r:id="rId50"/>
    <p:sldId id="655" r:id="rId51"/>
    <p:sldId id="656" r:id="rId52"/>
    <p:sldId id="660" r:id="rId53"/>
    <p:sldId id="658" r:id="rId54"/>
    <p:sldId id="657" r:id="rId55"/>
    <p:sldId id="662" r:id="rId56"/>
    <p:sldId id="664" r:id="rId57"/>
    <p:sldId id="666" r:id="rId58"/>
    <p:sldId id="667" r:id="rId59"/>
    <p:sldId id="668" r:id="rId60"/>
    <p:sldId id="670" r:id="rId61"/>
    <p:sldId id="462" r:id="rId62"/>
    <p:sldId id="459" r:id="rId63"/>
    <p:sldId id="460" r:id="rId64"/>
    <p:sldId id="461" r:id="rId65"/>
    <p:sldId id="508" r:id="rId66"/>
    <p:sldId id="509" r:id="rId67"/>
    <p:sldId id="392" r:id="rId68"/>
    <p:sldId id="393" r:id="rId69"/>
    <p:sldId id="395" r:id="rId70"/>
    <p:sldId id="671" r:id="rId71"/>
    <p:sldId id="673" r:id="rId72"/>
    <p:sldId id="674" r:id="rId73"/>
    <p:sldId id="680" r:id="rId74"/>
    <p:sldId id="500" r:id="rId75"/>
    <p:sldId id="682" r:id="rId76"/>
    <p:sldId id="681" r:id="rId77"/>
    <p:sldId id="683" r:id="rId78"/>
    <p:sldId id="485" r:id="rId79"/>
    <p:sldId id="486" r:id="rId80"/>
    <p:sldId id="487" r:id="rId81"/>
    <p:sldId id="488" r:id="rId82"/>
    <p:sldId id="489" r:id="rId83"/>
    <p:sldId id="490" r:id="rId84"/>
    <p:sldId id="688" r:id="rId85"/>
    <p:sldId id="482" r:id="rId86"/>
    <p:sldId id="483" r:id="rId87"/>
    <p:sldId id="689" r:id="rId88"/>
    <p:sldId id="484" r:id="rId89"/>
    <p:sldId id="690" r:id="rId90"/>
    <p:sldId id="691" r:id="rId91"/>
    <p:sldId id="692" r:id="rId92"/>
    <p:sldId id="693" r:id="rId93"/>
    <p:sldId id="687" r:id="rId94"/>
    <p:sldId id="677" r:id="rId95"/>
    <p:sldId id="695" r:id="rId96"/>
    <p:sldId id="678" r:id="rId97"/>
    <p:sldId id="697" r:id="rId98"/>
    <p:sldId id="698" r:id="rId99"/>
    <p:sldId id="699" r:id="rId100"/>
    <p:sldId id="700" r:id="rId101"/>
    <p:sldId id="696" r:id="rId102"/>
    <p:sldId id="659" r:id="rId103"/>
    <p:sldId id="701" r:id="rId104"/>
    <p:sldId id="702" r:id="rId105"/>
    <p:sldId id="703" r:id="rId106"/>
    <p:sldId id="704" r:id="rId107"/>
    <p:sldId id="705" r:id="rId108"/>
    <p:sldId id="401" r:id="rId109"/>
    <p:sldId id="412" r:id="rId110"/>
    <p:sldId id="416" r:id="rId111"/>
    <p:sldId id="417" r:id="rId112"/>
    <p:sldId id="276" r:id="rId113"/>
    <p:sldId id="282" r:id="rId1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FF00"/>
    <a:srgbClr val="1DAF00"/>
    <a:srgbClr val="72BCE8"/>
    <a:srgbClr val="102D5F"/>
    <a:srgbClr val="447FC1"/>
    <a:srgbClr val="28458B"/>
    <a:srgbClr val="D1D1D1"/>
    <a:srgbClr val="A2A3BA"/>
    <a:srgbClr val="2DF001"/>
    <a:srgbClr val="2BEE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9"/>
    <p:restoredTop sz="94726"/>
  </p:normalViewPr>
  <p:slideViewPr>
    <p:cSldViewPr snapToGrid="0">
      <p:cViewPr varScale="1">
        <p:scale>
          <a:sx n="116" d="100"/>
          <a:sy n="116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49705B-72A9-9EAE-33B5-68EE1CAFE9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D70C0-7DB5-C3B5-770F-671B65D727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E7EAC-65A2-4E20-BE54-3A631FE5F0D4}" type="datetimeFigureOut">
              <a:rPr lang="en-ID" smtClean="0"/>
              <a:t>21/09/26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91042-2F79-28A0-3EF4-75C0310D7E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08045-0F87-2DB3-9701-03D67B8C2C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A9B36-19CD-46A1-A11E-A1E8E3C89A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4541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08BD3-748D-4636-86FF-7DC28E91A50F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391EAF-EA36-4D8C-923C-1E24C13A99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47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914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7AA9C-A19F-0800-541A-81E2B555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80905-A32B-156B-9B93-CBF597450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48F75-CEDD-4899-5BC5-14DC8971D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87C73-B936-FC43-66FC-3F8260C2A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514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32D2-88CE-126D-0F26-4D8B832A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506D6-AE77-5B87-DE3B-730826576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B33DB-B174-C9A8-94CE-CCA13162C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EE912-FAD0-170B-7D11-A91FF188B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414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7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A9AD-82D0-8CAF-CB63-D9D8D4933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CCD937-D58C-CB1A-2DF5-0C65C9CF5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8B29B-759D-A23C-23A2-0F3C9EF7B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6FC31-8525-E939-AB39-2015913DC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619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08730-076B-2D23-50F6-F8CD16F1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9728D-FF9C-CA6E-8E6A-CA9D5C741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66561-21C4-3060-82EE-B28A316E0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59899-FAF5-DD04-8E66-C10238522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89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115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3800-EEC4-EA49-CC5D-D515E6E0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9E6CD-5270-20DE-9417-0456C3EBE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452D2-504A-1B99-F556-698554773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B45EA-CB75-CA9A-69FB-CB09E97E8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840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2C04-4525-F17F-20CB-60AB5E79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67B12-4E6C-BD3B-BE4A-0DCB1346E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3C19F-A9EF-1DB4-134A-2BF028FEA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B98CC-EFC2-1F69-552C-4B9387C22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317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55D1F-284D-D83B-F220-4B10E027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B0908-30D2-3772-5902-1DEC6888B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30A0A-13CF-19F3-31AF-6FBD14FB5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A5ECD-20E8-96F8-B9C2-75A88DEB2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194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5BDD-88AD-53E6-B2D9-CFA17112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73FB8-5F93-0668-2559-412BFF6F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1D887-89C4-76D8-E8E2-020C55247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E5A9F-ECEF-9B09-7A0B-561D28C4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433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4D907-F336-8FFE-0632-C2549800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9C1E0-091A-E5FF-F0AF-EBEB9525C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F690C-C6FC-94AA-123C-1C21D5F8B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FB664-5188-B5E7-A759-CADDEBE8C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174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7A1A-42B0-B94D-5487-6F0C9E13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92D02-379C-D817-B86C-F47D648BA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1F27E-C7AA-F136-0B47-E6B80759F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B3B13-58F7-6316-9FB1-4A7FF8C13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246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7E73-B880-347E-B2AA-E721BFCC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494014-E143-FE7F-E6FE-91D9DEE8F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63B3F-DB49-0FD5-0EB9-555121A07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1274E-2A29-799E-9C69-2E4927244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395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48AF-3D06-A582-71E6-0789198D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4776D-113C-D90C-DFBB-B08BC5989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03B01-99BA-9B62-6673-22BE8E2F6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433F5-B885-4202-AEE5-3871A1BB8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636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A874-E9A8-F227-E4B4-D0601007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88C4C-665A-D390-B3AC-E14755DD2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A98D6-BF4F-0373-604B-A6F9276B5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1CEAD-36A7-5E44-251F-A7F72D555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62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B6CB-8ADB-F206-8DF2-01DBBCA8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B2B42-85A6-4FC6-7CA1-BA3BB68CC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AAF26-6D4A-F00C-EA48-118F40B4D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369B7-D78C-5F62-583F-CDD0CAB6D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675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F312-DE37-C855-3470-6793F761F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6D70B-1F0A-95D0-7A7F-A3C84338C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D596C-D780-C917-675A-CF00F971C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0DDD8-5E86-A84B-4BCA-17A21A3E5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967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6CC7-7034-B695-38F2-793AB6B8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FDD1F-6500-1C79-DD88-025D4AA43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41267-3F97-99FB-4F5B-9DAD50529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4CD4C-30CE-6051-EC82-D111BE0B0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31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6244-6E42-F4C0-3768-78F8A3B2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2132A-3778-84B8-1FB5-6ED1F243E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876E3-791A-6A04-E330-167E1C0BD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CD144-57EC-8FA0-335C-64F594C05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7521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30C5-684C-01BD-6EAD-41F0AD18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989A1-FB15-BA3B-73FD-1C3808AD5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3CE59-F84F-DCE3-A574-0AAC4AF23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AE7C7-AD29-E5AA-5190-A7A2840FC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852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C208-D1F7-AB29-76DE-38D19F2C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13CB6-559C-0A68-6433-3CA3DA695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83AB3-E1B7-8231-7F55-985B3A61E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266DD-ADD3-0BA4-2947-D565C42E9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109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58F4A-1BAB-9BD1-5994-9C571597C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9858F-B0C4-247B-FD26-2AE612467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EEB8B-5604-EFB6-FDDD-F5AE71B91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F0C0C-1E90-87D1-99F3-44727EA8F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2023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1519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691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4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8BB8-FDBE-7D6D-6329-8F6645D4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A4D01-2FD6-AB60-BCE2-F81C6895F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72291-DC30-B332-E3D5-5D7427351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B994D-1E00-6791-5AA9-039D0A1B7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0754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F3BF6-5383-38E4-E2BA-FBC024CB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C8027-C0B9-8CAB-0699-14CDF692A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06E32-034B-0224-F4E3-A1D2749E7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95F7C-9453-4327-29FC-846E9CC5F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742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3BB75-558D-5E17-949A-7D320B20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73B54-352A-920D-701D-FB2A39FCA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1691C-79DD-3EA2-C3B7-CD4666E1B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FB56A-61C6-0991-A4B7-4B415FDBB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6693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2707-375C-2E3D-24E1-0606EB12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9574F-1525-852C-677A-539C113A4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1F109-83BA-2456-2B89-F7BFD97B5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D96C-70CE-F038-E367-F4A626EC4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748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7920-6ACB-DB06-3ECB-01E3D51D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4758-01A2-9730-8C1F-83B1F9282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A15AB-6B42-5B44-DF64-CB1736471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C42E1-E6CA-5F67-B28F-876FDFD53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002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5A64-589E-4B05-AF88-6A349F2D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BF9B4-E181-A3F5-7517-52D111EE2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7DFB56-28CC-C93E-6FCA-D7ED8D3F6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A57C6-C29D-8BDA-26E7-A492B37C4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172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FE14-F48D-1D25-8925-0936EBF4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777D6-DD4A-7EE9-EF8C-F7249A34C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4B1FA-38F9-3623-6E8D-C5BA43D98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38289-B8CA-016F-B657-4A2454871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0109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9354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B80C8-1A9B-3AE8-1FE0-F00EFBF3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39E63-D16E-EE3A-0264-9763203B3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09FE9-850E-0113-6241-D5A748613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3CA76-AE0B-889E-87C6-69D77FAF1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7355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6819-7712-A295-96FC-68367E7F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484CD-492B-0857-F9E8-04F7C9729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3D178-4C15-8648-97D8-BB94304DD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C88BA-AB03-3DB7-D59D-FCC7849F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05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A379-1B0A-8A0C-E8C8-8481A8183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1337C-326A-9FCA-5F90-FDB394AD6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4EF92-3D8C-9BFE-933F-518AD1BC2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C83B4-8E81-9777-A243-D11FB2784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8130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86E8-6DDC-29B7-1D0A-39F2706B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CD405-DFF4-FA74-AC7B-2E3EDD53A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ADF79-FC2E-11F5-1F60-B77860EF8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8E965-4977-64CC-8B80-C0403265E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702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6456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BCED-C5F5-9E8C-B210-A41EDC51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340ED-B839-0103-5DAE-4AEC70D88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D6205-62E0-63AB-6BBA-F7EF85F9E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4F4E6-6DD5-14D0-C16E-B86FCE9B9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6737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20FE7-AC73-F872-6F7B-E7874D17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962EB-9969-0A1E-5C0A-8D2DAC6A8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A7A62-867D-9B1E-587C-1F282ADAE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59A26-3ACB-8232-1408-507153683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4913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18A8-8CCA-7F7A-F330-A825B71C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A12DC-77DA-81D3-DB8B-1C2546590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1CD7B-EC8D-56AE-E924-AE84E1D5C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F4C6E-7DBC-A034-372B-61A75194B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391EAF-EA36-4D8C-923C-1E24C13A991A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90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5681-B12B-1AF6-B7E5-CA598E170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DDF52-D42A-4D2D-2A28-33BC0042A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3BD9F-5FFE-F2C1-47D6-B089CFEF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83A9C-A02F-0954-DA1C-2EA5FEA58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319E3-3E53-0EE0-1B66-A83EDF8D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08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92DD-1AF5-B188-256F-0D977487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386DB-1C79-DCF7-7E42-D7509DD0F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78A6A-3845-98E1-E448-5B07A954A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A77B0-95C5-ED2C-C26A-B6AF4249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AB208-811C-4FE0-AE18-6036B7BC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52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B14E-5F52-BF94-B16A-BED33887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7987D-631B-2BB2-2A46-B0DFC53D6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AA985-379E-13CC-6299-75255235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AF6DD-356E-6A48-7779-D78EE716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E74F-596C-59B2-33FB-2DCA97CC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73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DF5A-1914-17E8-1544-C102B05B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4F438-B038-51C7-ACC7-CBC1D4AC0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9D58B-4380-D435-C870-AAEDE145D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D0EA-7636-70CF-F2A0-A5DE9312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5F4BA-384F-BC92-9161-A3608F5E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B1D62-38EC-CC4A-34D1-F2F853A3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86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6A44-C213-3CF3-9A2A-128E67DB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9F900-E5B7-9A5B-2281-F947DB88F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E848C-7DCE-42DE-F169-31C38018A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8077D-3C20-81F1-F1EF-6282F6EC3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17EB0-7C8E-17FC-0979-AD78495AF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8E253D-EA18-4BFB-42AC-1A3597119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254323-9EC6-64A3-98B1-20ACC43D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39976-A34C-F937-0937-45BFD0E8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67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1376-4540-1B62-6452-AA404CDD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3D6D3-CFB8-7A7C-49B1-AB871FD2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12443-D778-CEE5-507F-BF39BA1B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48344-3D56-4098-29DB-6F3A7D9E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2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644D7-C3CF-D371-A54B-76D7BE70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580DF-8EF5-5961-45DB-FC13105E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4C874-C212-ED81-8205-CD9E61BA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71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4FFFB-B700-F845-0832-17C5FDDB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F1C7-CE09-FC8F-0E8B-341FF2B0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0E414-897D-800C-3C84-DF55F8447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C185C-DA29-12AF-DEEF-DE143502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3BE57-81A0-4C0C-0568-7E102342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B6313-BB22-ABCE-3A84-B27DE6A9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79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C8F7-2503-8487-FABE-EA801406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F36E89-022B-5681-8352-D4141014F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5E968-8E3E-1AA9-B487-F2DAE6FC0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7D2A4-B17F-B6DC-FA30-8149D528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C027E-F4C7-0F16-D5D8-174ACB8D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88B9E-85AE-64AD-D3D4-5130B893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89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D76D5-DCC0-EE31-70B0-5FA2A08F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78392-1A60-3546-069C-3EFB4CFDE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63C2F-3C3E-4D53-F77A-0AF3A06B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B6229-82A2-2810-7AF2-34D00A4F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17DA3-3F7B-7544-5CD3-DFC903EB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9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B0CF5-FDE7-1E20-AD61-79C88EBC3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32F28-27B5-2046-657A-C1CCC9043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0D01D-76B2-65CE-92B7-19A9731E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1D049-517D-4720-C815-D32C6D52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B54EC-7F09-8F5E-6E64-72C39898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063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F847-5AFA-1DCF-668D-866A4101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6465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97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32DF8-C51D-D43A-7778-488E54C6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11553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E556-E371-D2BE-6888-0490FB4C1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77" y="1825625"/>
            <a:ext cx="115536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95D56-4BEA-C9CA-2384-3F84D5995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0F094-B5BD-4A22-B72F-96705091EB9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0A56A-1A77-BF56-7304-7B06D40EC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854AE-DD20-10E1-FF28-99DFA6B67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FFD62-1451-470F-B9D8-A2D02E721E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64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hyperlink" Target="https://ollama.com/downloa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-scm.com/downloads" TargetMode="External"/><Relationship Id="rId5" Type="http://schemas.openxmlformats.org/officeDocument/2006/relationships/hyperlink" Target="https://www.docker.com/products/docker-desktop/" TargetMode="External"/><Relationship Id="rId4" Type="http://schemas.openxmlformats.org/officeDocument/2006/relationships/hyperlink" Target="https://code.visualstudio.com/downloa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ollama.com/download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Us41Yc_9x2IA4PZVDPumDsoQ-&amp;format=source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D3D13-C12D-9D8E-68C7-84CBEB286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87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36F087-2E29-FE6F-9148-0766DF722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1994053"/>
            <a:ext cx="9582912" cy="2721164"/>
          </a:xfrm>
        </p:spPr>
        <p:txBody>
          <a:bodyPr>
            <a:normAutofit/>
          </a:bodyPr>
          <a:lstStyle/>
          <a:p>
            <a:pPr algn="l"/>
            <a:r>
              <a:rPr lang="en-ID" b="1" dirty="0">
                <a:solidFill>
                  <a:schemeClr val="bg1"/>
                </a:solidFill>
              </a:rPr>
              <a:t>Building Enterprise AI Chatbot with </a:t>
            </a:r>
            <a:br>
              <a:rPr lang="en-ID" b="1" dirty="0">
                <a:solidFill>
                  <a:schemeClr val="bg1"/>
                </a:solidFill>
              </a:rPr>
            </a:br>
            <a:r>
              <a:rPr lang="en-ID" b="1" dirty="0">
                <a:solidFill>
                  <a:schemeClr val="bg1"/>
                </a:solidFill>
              </a:rPr>
              <a:t>Private LLM &amp; RAG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1B705-A62F-CA5F-96CC-A5EAFC26D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67" y="4726232"/>
            <a:ext cx="9582912" cy="542581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2DF00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Moch. Ilham Anugrah</a:t>
            </a:r>
            <a:endParaRPr lang="en-ID" dirty="0">
              <a:solidFill>
                <a:srgbClr val="2DF00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4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3DEFB-08E5-880E-A325-A24053AE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5CB77-3ABD-F12B-8FBC-33A76D434803}"/>
              </a:ext>
            </a:extLst>
          </p:cNvPr>
          <p:cNvSpPr txBox="1"/>
          <p:nvPr/>
        </p:nvSpPr>
        <p:spPr>
          <a:xfrm>
            <a:off x="457200" y="714375"/>
            <a:ext cx="7955280" cy="55578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500" b="1" dirty="0">
                <a:latin typeface="+mj-lt"/>
                <a:ea typeface="+mj-ea"/>
                <a:cs typeface="+mj-cs"/>
              </a:rPr>
              <a:t>Moch. Ilham Anugrah S.T.,</a:t>
            </a:r>
            <a:r>
              <a:rPr lang="en-US" sz="3500" b="1" dirty="0" err="1">
                <a:latin typeface="+mj-lt"/>
                <a:ea typeface="+mj-ea"/>
                <a:cs typeface="+mj-cs"/>
              </a:rPr>
              <a:t>M.Sc.Eng</a:t>
            </a:r>
            <a:endParaRPr lang="en-US" sz="3500" b="1" dirty="0">
              <a:latin typeface="+mj-lt"/>
              <a:ea typeface="+mj-ea"/>
              <a:cs typeface="+mj-cs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600" b="1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Pendidikan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1600" dirty="0"/>
              <a:t>S1 Teknik </a:t>
            </a:r>
            <a:r>
              <a:rPr lang="en-US" sz="1600" dirty="0" err="1"/>
              <a:t>Informatika</a:t>
            </a:r>
            <a:r>
              <a:rPr lang="en-US" sz="1600" dirty="0"/>
              <a:t> – Universitas </a:t>
            </a:r>
            <a:r>
              <a:rPr lang="en-US" sz="1600" dirty="0" err="1"/>
              <a:t>Pasundan</a:t>
            </a:r>
            <a:endParaRPr lang="en-US" sz="16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1600" dirty="0"/>
              <a:t>S2 Information and Communication Engineering - CWNU </a:t>
            </a:r>
          </a:p>
          <a:p>
            <a:pPr marL="14288" lvl="1"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/>
              <a:t>Pekerjaan</a:t>
            </a:r>
            <a:endParaRPr lang="en-US" sz="1600" b="1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sz="1600" b="1" dirty="0"/>
              <a:t>Dosen – </a:t>
            </a:r>
            <a:r>
              <a:rPr lang="en-US" sz="1600" dirty="0"/>
              <a:t>Teknik </a:t>
            </a:r>
            <a:r>
              <a:rPr lang="en-US" sz="1600" dirty="0" err="1"/>
              <a:t>Informatika</a:t>
            </a:r>
            <a:r>
              <a:rPr lang="en-US" sz="1600" dirty="0"/>
              <a:t> Universitas </a:t>
            </a:r>
            <a:r>
              <a:rPr lang="en-US" sz="1600" dirty="0" err="1"/>
              <a:t>Pasundan</a:t>
            </a:r>
            <a:endParaRPr lang="en-US" sz="16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Kontak :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35153-1CC1-6235-0391-582F9084F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62373" y="1611361"/>
            <a:ext cx="4068666" cy="4068666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  <p:pic>
        <p:nvPicPr>
          <p:cNvPr id="4" name="Picture 3" descr="Whatsapp Social Media Icon Design Template Vector Whatsapp ...">
            <a:extLst>
              <a:ext uri="{FF2B5EF4-FFF2-40B4-BE49-F238E27FC236}">
                <a16:creationId xmlns:a16="http://schemas.microsoft.com/office/drawing/2014/main" id="{E9D9C149-2626-7ACC-50FF-66ED7A3F2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25" y="4061111"/>
            <a:ext cx="744184" cy="744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B99E30-7867-87DD-3900-BE15AB0411F7}"/>
              </a:ext>
            </a:extLst>
          </p:cNvPr>
          <p:cNvSpPr txBox="1"/>
          <p:nvPr/>
        </p:nvSpPr>
        <p:spPr>
          <a:xfrm>
            <a:off x="1479209" y="4270571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+62 812 8573 6115</a:t>
            </a:r>
          </a:p>
        </p:txBody>
      </p:sp>
      <p:pic>
        <p:nvPicPr>
          <p:cNvPr id="6" name="Picture 5" descr="Website logo Images - Free Download on Magnific (formerly Freepik)">
            <a:extLst>
              <a:ext uri="{FF2B5EF4-FFF2-40B4-BE49-F238E27FC236}">
                <a16:creationId xmlns:a16="http://schemas.microsoft.com/office/drawing/2014/main" id="{81494F03-60E5-7832-E9A9-377B17C17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871553" y="4876498"/>
            <a:ext cx="451453" cy="451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24AC9-2199-8827-595C-FD28AF507275}"/>
              </a:ext>
            </a:extLst>
          </p:cNvPr>
          <p:cNvSpPr txBox="1"/>
          <p:nvPr/>
        </p:nvSpPr>
        <p:spPr>
          <a:xfrm>
            <a:off x="1479209" y="4881740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penastudio.io</a:t>
            </a:r>
            <a:endParaRPr lang="en-US" dirty="0"/>
          </a:p>
        </p:txBody>
      </p:sp>
      <p:pic>
        <p:nvPicPr>
          <p:cNvPr id="7" name="Grafik 6" descr="Berkas:Instagram logo 2022.svg - Wikipedia bahasa Indonesia, ensiklopedia  bebas">
            <a:extLst>
              <a:ext uri="{FF2B5EF4-FFF2-40B4-BE49-F238E27FC236}">
                <a16:creationId xmlns:a16="http://schemas.microsoft.com/office/drawing/2014/main" id="{476F57EF-6AB2-DB36-D308-851BF9557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820" y="5583319"/>
            <a:ext cx="361044" cy="361044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29BCE690-F2E2-113A-413B-1CF62BD4E7EE}"/>
              </a:ext>
            </a:extLst>
          </p:cNvPr>
          <p:cNvSpPr txBox="1"/>
          <p:nvPr/>
        </p:nvSpPr>
        <p:spPr>
          <a:xfrm>
            <a:off x="1479209" y="5575031"/>
            <a:ext cx="3058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Instagram.com</a:t>
            </a:r>
            <a:r>
              <a:rPr lang="en-US" dirty="0"/>
              <a:t>/</a:t>
            </a:r>
            <a:r>
              <a:rPr lang="en-US" dirty="0" err="1"/>
              <a:t>penaorange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35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CE21-0771-B9A7-5C22-9BF29B22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4A1425-CE14-91F9-288A-0E2600D35055}"/>
              </a:ext>
            </a:extLst>
          </p:cNvPr>
          <p:cNvSpPr txBox="1"/>
          <p:nvPr/>
        </p:nvSpPr>
        <p:spPr>
          <a:xfrm>
            <a:off x="178160" y="714375"/>
            <a:ext cx="11297798" cy="5557838"/>
          </a:xfrm>
          <a:prstGeom prst="rect">
            <a:avLst/>
          </a:prstGeom>
        </p:spPr>
        <p:txBody>
          <a:bodyPr vert="horz" lIns="91440" tIns="45720" rIns="91440" bIns="45720" numCol="2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/>
              <a:t>Beberapa</a:t>
            </a:r>
            <a:r>
              <a:rPr lang="en-US" sz="1600" b="1" dirty="0"/>
              <a:t> </a:t>
            </a:r>
            <a:r>
              <a:rPr lang="en-US" sz="1600" b="1" dirty="0" err="1"/>
              <a:t>Pelatihan</a:t>
            </a:r>
            <a:r>
              <a:rPr lang="en-US" sz="1600" b="1" dirty="0"/>
              <a:t> </a:t>
            </a:r>
            <a:r>
              <a:rPr lang="en-US" sz="1600" b="1" dirty="0" err="1"/>
              <a:t>Terkait</a:t>
            </a:r>
            <a:r>
              <a:rPr lang="en-US" sz="1600" b="1" dirty="0"/>
              <a:t> </a:t>
            </a:r>
            <a:endParaRPr lang="en-US" sz="16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Fundamental Prompting Engineering -  </a:t>
            </a:r>
            <a:r>
              <a:rPr lang="en-ID" sz="1600" dirty="0" err="1"/>
              <a:t>XLSmart</a:t>
            </a:r>
            <a:endParaRPr lang="en-ID" sz="16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Prompt Engineering with AI Claude – BSI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Cursor, AI Powered Coding &amp; Developer Productivity – PT. JALIN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Prompt Engineering and AI Development with Copilot– PT. JALIN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Google Apps Script for Business Automation – BPJS </a:t>
            </a:r>
            <a:r>
              <a:rPr lang="en-ID" sz="1600" dirty="0" err="1"/>
              <a:t>Ketenagakerjaan</a:t>
            </a:r>
            <a:endParaRPr lang="en-ID" sz="16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IT Development Stream – ODP BSI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ID" sz="1600" dirty="0"/>
              <a:t>IT Dev Frontend Engineering React JS – Kimia Farma</a:t>
            </a:r>
          </a:p>
          <a:p>
            <a:pPr>
              <a:lnSpc>
                <a:spcPct val="110000"/>
              </a:lnSpc>
            </a:pPr>
            <a:endParaRPr lang="en-US" sz="1600" dirty="0"/>
          </a:p>
          <a:p>
            <a:endParaRPr lang="en-US" sz="1600" b="1" dirty="0"/>
          </a:p>
          <a:p>
            <a:endParaRPr lang="en-US" sz="1600" dirty="0"/>
          </a:p>
        </p:txBody>
      </p:sp>
      <p:sp>
        <p:nvSpPr>
          <p:cNvPr id="4" name="Kotak Teks 3">
            <a:extLst>
              <a:ext uri="{FF2B5EF4-FFF2-40B4-BE49-F238E27FC236}">
                <a16:creationId xmlns:a16="http://schemas.microsoft.com/office/drawing/2014/main" id="{A3F3D0A8-1B38-046C-E421-7EBE35452BF7}"/>
              </a:ext>
            </a:extLst>
          </p:cNvPr>
          <p:cNvSpPr txBox="1"/>
          <p:nvPr/>
        </p:nvSpPr>
        <p:spPr>
          <a:xfrm>
            <a:off x="6033247" y="714375"/>
            <a:ext cx="6096000" cy="4541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Software Engineer</a:t>
            </a:r>
          </a:p>
          <a:p>
            <a:pPr marL="755650" lvl="1" indent="-3175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 err="1"/>
              <a:t>Sistem</a:t>
            </a:r>
            <a:r>
              <a:rPr lang="en-ID" sz="1600" dirty="0"/>
              <a:t> Audit Mutu Internal – Universitas YARSI (2026)</a:t>
            </a:r>
          </a:p>
          <a:p>
            <a:pPr marL="755650" lvl="1" indent="-3175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 err="1"/>
              <a:t>Sistem</a:t>
            </a:r>
            <a:r>
              <a:rPr lang="en-ID" sz="1600" dirty="0"/>
              <a:t> MSWT - PT. KAI (2025-2026)</a:t>
            </a:r>
          </a:p>
          <a:p>
            <a:pPr marL="755650" lvl="1" indent="-3175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/>
              <a:t>SPAN di Kementerian </a:t>
            </a:r>
            <a:r>
              <a:rPr lang="en-ID" sz="1600" dirty="0" err="1"/>
              <a:t>Keuangan</a:t>
            </a:r>
            <a:r>
              <a:rPr lang="en-ID" sz="1600" dirty="0"/>
              <a:t> (2024)</a:t>
            </a:r>
          </a:p>
          <a:p>
            <a:pPr marL="755650" lvl="1" indent="-3175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Penyaluran</a:t>
            </a:r>
            <a:r>
              <a:rPr lang="en-ID" sz="1600" dirty="0"/>
              <a:t> </a:t>
            </a:r>
            <a:r>
              <a:rPr lang="en-ID" sz="1600" dirty="0" err="1"/>
              <a:t>Bantuan</a:t>
            </a:r>
            <a:r>
              <a:rPr lang="en-ID" sz="1600" dirty="0"/>
              <a:t> Sosial – BULOG (2024)</a:t>
            </a:r>
          </a:p>
          <a:p>
            <a:pPr marL="755650" lvl="1" indent="-3175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D" sz="1600" dirty="0" err="1"/>
              <a:t>Sistem</a:t>
            </a:r>
            <a:r>
              <a:rPr lang="en-ID" sz="1600" dirty="0"/>
              <a:t> Tanda Tangan Elektronik </a:t>
            </a:r>
            <a:r>
              <a:rPr lang="en-ID" sz="1600" dirty="0" err="1"/>
              <a:t>Polri</a:t>
            </a:r>
            <a:r>
              <a:rPr lang="en-ID" sz="1600" dirty="0"/>
              <a:t> - POLRI (2023)</a:t>
            </a:r>
          </a:p>
          <a:p>
            <a:pPr>
              <a:lnSpc>
                <a:spcPct val="110000"/>
              </a:lnSpc>
            </a:pPr>
            <a:endParaRPr lang="en-US" sz="1600" b="1" dirty="0"/>
          </a:p>
          <a:p>
            <a:pPr>
              <a:lnSpc>
                <a:spcPct val="110000"/>
              </a:lnSpc>
            </a:pPr>
            <a:r>
              <a:rPr lang="en-US" sz="1600" b="1" dirty="0" err="1"/>
              <a:t>Sertifikasi</a:t>
            </a:r>
            <a:endParaRPr lang="en-US" sz="1600" b="1" dirty="0"/>
          </a:p>
          <a:p>
            <a:pPr marL="755650" indent="-317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dirty="0"/>
              <a:t>Prompt Engineering Foundation</a:t>
            </a:r>
          </a:p>
          <a:p>
            <a:pPr marL="755650" indent="-317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sz="1600" dirty="0"/>
              <a:t>Data Science Fundamental</a:t>
            </a:r>
          </a:p>
          <a:p>
            <a:pPr marL="755650" indent="-317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dirty="0"/>
              <a:t>Machine Learning Fundamental</a:t>
            </a:r>
          </a:p>
          <a:p>
            <a:pPr marL="755650" indent="-317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dirty="0"/>
              <a:t>Artificial </a:t>
            </a:r>
            <a:r>
              <a:rPr lang="en-ID" sz="1600" dirty="0" err="1"/>
              <a:t>Intelegence</a:t>
            </a:r>
            <a:r>
              <a:rPr lang="en-ID" sz="1600" dirty="0"/>
              <a:t> Fundamental</a:t>
            </a:r>
          </a:p>
        </p:txBody>
      </p:sp>
    </p:spTree>
    <p:extLst>
      <p:ext uri="{BB962C8B-B14F-4D97-AF65-F5344CB8AC3E}">
        <p14:creationId xmlns:p14="http://schemas.microsoft.com/office/powerpoint/2010/main" val="4283032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3A1F-F8D2-6D7D-64B1-E6EC886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17AAD9-83AB-4EC8-ADCC-6A949FA8BF71}"/>
              </a:ext>
            </a:extLst>
          </p:cNvPr>
          <p:cNvSpPr txBox="1"/>
          <p:nvPr/>
        </p:nvSpPr>
        <p:spPr>
          <a:xfrm>
            <a:off x="806774" y="1646103"/>
            <a:ext cx="68831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Prerequisite &amp; </a:t>
            </a:r>
            <a:r>
              <a:rPr lang="en-US" sz="5400" b="1" dirty="0" err="1">
                <a:solidFill>
                  <a:srgbClr val="085A76"/>
                </a:solidFill>
              </a:rPr>
              <a:t>Persiapan</a:t>
            </a:r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83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16669-6601-8A28-CB13-526C9DB2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2212-8B19-B902-E92C-51F086CE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Prerequisite </a:t>
            </a:r>
            <a:r>
              <a:rPr lang="en-ID" b="1" dirty="0" err="1"/>
              <a:t>Pengetahuan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70D1E-0ACC-5A0F-9948-D341333E9138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DCDD5C-7648-152E-6435-0566622DCB96}"/>
              </a:ext>
            </a:extLst>
          </p:cNvPr>
          <p:cNvSpPr txBox="1">
            <a:spLocks/>
          </p:cNvSpPr>
          <p:nvPr/>
        </p:nvSpPr>
        <p:spPr>
          <a:xfrm>
            <a:off x="285217" y="3146247"/>
            <a:ext cx="11553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D0BDB0-C613-4EE8-1B59-3E1D957EF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740129"/>
              </p:ext>
            </p:extLst>
          </p:nvPr>
        </p:nvGraphicFramePr>
        <p:xfrm>
          <a:off x="353137" y="1690688"/>
          <a:ext cx="11553825" cy="3632454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197689">
                  <a:extLst>
                    <a:ext uri="{9D8B030D-6E8A-4147-A177-3AD203B41FA5}">
                      <a16:colId xmlns:a16="http://schemas.microsoft.com/office/drawing/2014/main" val="3735677117"/>
                    </a:ext>
                  </a:extLst>
                </a:gridCol>
                <a:gridCol w="3118454">
                  <a:extLst>
                    <a:ext uri="{9D8B030D-6E8A-4147-A177-3AD203B41FA5}">
                      <a16:colId xmlns:a16="http://schemas.microsoft.com/office/drawing/2014/main" val="2711552357"/>
                    </a:ext>
                  </a:extLst>
                </a:gridCol>
                <a:gridCol w="6237682">
                  <a:extLst>
                    <a:ext uri="{9D8B030D-6E8A-4147-A177-3AD203B41FA5}">
                      <a16:colId xmlns:a16="http://schemas.microsoft.com/office/drawing/2014/main" val="2738847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b="1" dirty="0">
                          <a:effectLst/>
                        </a:rPr>
                        <a:t>Area</a:t>
                      </a:r>
                      <a:endParaRPr lang="en-ID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b="1" dirty="0">
                          <a:effectLst/>
                        </a:rPr>
                        <a:t>Tingkat</a:t>
                      </a:r>
                      <a:endParaRPr lang="en-ID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b="1" dirty="0" err="1">
                          <a:effectLst/>
                        </a:rPr>
                        <a:t>Indikator</a:t>
                      </a:r>
                      <a:endParaRPr lang="en-ID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422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 err="1">
                          <a:effectLst/>
                        </a:rPr>
                        <a:t>Pemrograman</a:t>
                      </a:r>
                      <a:r>
                        <a:rPr lang="en-ID" sz="1600" dirty="0">
                          <a:effectLst/>
                        </a:rPr>
                        <a:t> Python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>
                          <a:effectLst/>
                        </a:rPr>
                        <a:t>Dasar (Basic)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>
                          <a:effectLst/>
                        </a:rPr>
                        <a:t>Familiar </a:t>
                      </a:r>
                      <a:r>
                        <a:rPr lang="en-ID" sz="1600" dirty="0" err="1">
                          <a:effectLst/>
                        </a:rPr>
                        <a:t>sintaks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dasar</a:t>
                      </a:r>
                      <a:r>
                        <a:rPr lang="en-ID" sz="1600" dirty="0">
                          <a:effectLst/>
                        </a:rPr>
                        <a:t> (variable, function, loop), </a:t>
                      </a:r>
                      <a:r>
                        <a:rPr lang="en-ID" sz="1600" dirty="0" err="1">
                          <a:effectLst/>
                        </a:rPr>
                        <a:t>pernah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pakai</a:t>
                      </a:r>
                      <a:r>
                        <a:rPr lang="en-ID" sz="1600" dirty="0">
                          <a:effectLst/>
                        </a:rPr>
                        <a:t> pip install, </a:t>
                      </a:r>
                      <a:r>
                        <a:rPr lang="en-ID" sz="1600" dirty="0" err="1">
                          <a:effectLst/>
                        </a:rPr>
                        <a:t>siap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kerja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dengan</a:t>
                      </a:r>
                      <a:r>
                        <a:rPr lang="en-ID" sz="1600" dirty="0">
                          <a:effectLst/>
                        </a:rPr>
                        <a:t> virtual environment (</a:t>
                      </a:r>
                      <a:r>
                        <a:rPr lang="en-ID" sz="1600" dirty="0" err="1">
                          <a:effectLst/>
                        </a:rPr>
                        <a:t>venv</a:t>
                      </a:r>
                      <a:r>
                        <a:rPr lang="en-ID" sz="1600" dirty="0">
                          <a:effectLst/>
                        </a:rPr>
                        <a:t>)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69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REST API</a:t>
                      </a:r>
                      <a:endParaRPr lang="en-ID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 err="1">
                          <a:effectLst/>
                        </a:rPr>
                        <a:t>Pemahaman</a:t>
                      </a:r>
                      <a:r>
                        <a:rPr lang="en-ID" sz="1600" dirty="0">
                          <a:effectLst/>
                        </a:rPr>
                        <a:t> (Working knowledge)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 err="1">
                          <a:effectLst/>
                        </a:rPr>
                        <a:t>Paham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konsep</a:t>
                      </a:r>
                      <a:r>
                        <a:rPr lang="en-ID" sz="1600" dirty="0">
                          <a:effectLst/>
                        </a:rPr>
                        <a:t> request/response, method HTTP (GET/POST), format JSON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6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Konsep AI / LLM</a:t>
                      </a:r>
                      <a:endParaRPr lang="en-ID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>
                          <a:effectLst/>
                        </a:rPr>
                        <a:t>Awareness–Working knowledge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 err="1">
                          <a:effectLst/>
                        </a:rPr>
                        <a:t>Pernah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pakai</a:t>
                      </a:r>
                      <a:r>
                        <a:rPr lang="en-ID" sz="1600" dirty="0">
                          <a:effectLst/>
                        </a:rPr>
                        <a:t> ChatGPT/Copilot/chatbot AI, familiar </a:t>
                      </a:r>
                      <a:r>
                        <a:rPr lang="en-ID" sz="1600" dirty="0" err="1">
                          <a:effectLst/>
                        </a:rPr>
                        <a:t>istilah</a:t>
                      </a:r>
                      <a:r>
                        <a:rPr lang="en-ID" sz="1600" dirty="0">
                          <a:effectLst/>
                        </a:rPr>
                        <a:t> prompt, token, model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27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Database</a:t>
                      </a:r>
                      <a:endParaRPr lang="en-ID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Familiar</a:t>
                      </a:r>
                      <a:endParaRPr lang="en-ID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 err="1">
                          <a:effectLst/>
                        </a:rPr>
                        <a:t>Paham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konsep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dasar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penyimpanan</a:t>
                      </a:r>
                      <a:r>
                        <a:rPr lang="en-ID" sz="1600" dirty="0">
                          <a:effectLst/>
                        </a:rPr>
                        <a:t> &amp; query data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51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Cloud / Container</a:t>
                      </a:r>
                      <a:endParaRPr lang="en-ID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Awareness</a:t>
                      </a:r>
                      <a:endParaRPr lang="en-ID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dirty="0" err="1">
                          <a:effectLst/>
                        </a:rPr>
                        <a:t>Pernah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dengar</a:t>
                      </a:r>
                      <a:r>
                        <a:rPr lang="en-ID" sz="1600" dirty="0">
                          <a:effectLst/>
                        </a:rPr>
                        <a:t>/</a:t>
                      </a:r>
                      <a:r>
                        <a:rPr lang="en-ID" sz="1600" dirty="0" err="1">
                          <a:effectLst/>
                        </a:rPr>
                        <a:t>pakai</a:t>
                      </a:r>
                      <a:r>
                        <a:rPr lang="en-ID" sz="1600" dirty="0">
                          <a:effectLst/>
                        </a:rPr>
                        <a:t> Docker </a:t>
                      </a:r>
                      <a:r>
                        <a:rPr lang="en-ID" sz="1600" dirty="0" err="1">
                          <a:effectLst/>
                        </a:rPr>
                        <a:t>atau</a:t>
                      </a:r>
                      <a:r>
                        <a:rPr lang="en-ID" sz="1600" dirty="0">
                          <a:effectLst/>
                        </a:rPr>
                        <a:t> </a:t>
                      </a:r>
                      <a:r>
                        <a:rPr lang="en-ID" sz="1600" dirty="0" err="1">
                          <a:effectLst/>
                        </a:rPr>
                        <a:t>layanan</a:t>
                      </a:r>
                      <a:r>
                        <a:rPr lang="en-ID" sz="1600" dirty="0">
                          <a:effectLst/>
                        </a:rPr>
                        <a:t> cloud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910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260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7CBA-4FED-8B84-721B-1B203AAB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6122-B97F-D341-56FE-B4B1E242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Prerequisite Software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1A865-E48E-BF97-AAC9-E1D4696A7E2A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B764CA-94E8-37D0-1B83-6039A087EB73}"/>
              </a:ext>
            </a:extLst>
          </p:cNvPr>
          <p:cNvSpPr txBox="1">
            <a:spLocks/>
          </p:cNvSpPr>
          <p:nvPr/>
        </p:nvSpPr>
        <p:spPr>
          <a:xfrm>
            <a:off x="285217" y="3146247"/>
            <a:ext cx="11553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A75458-45FA-71C1-BA9F-EB5A3C0C0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650833"/>
              </p:ext>
            </p:extLst>
          </p:nvPr>
        </p:nvGraphicFramePr>
        <p:xfrm>
          <a:off x="353137" y="1690688"/>
          <a:ext cx="10532577" cy="275717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822450">
                  <a:extLst>
                    <a:ext uri="{9D8B030D-6E8A-4147-A177-3AD203B41FA5}">
                      <a16:colId xmlns:a16="http://schemas.microsoft.com/office/drawing/2014/main" val="3735677117"/>
                    </a:ext>
                  </a:extLst>
                </a:gridCol>
                <a:gridCol w="3466011">
                  <a:extLst>
                    <a:ext uri="{9D8B030D-6E8A-4147-A177-3AD203B41FA5}">
                      <a16:colId xmlns:a16="http://schemas.microsoft.com/office/drawing/2014/main" val="2711552357"/>
                    </a:ext>
                  </a:extLst>
                </a:gridCol>
                <a:gridCol w="5244116">
                  <a:extLst>
                    <a:ext uri="{9D8B030D-6E8A-4147-A177-3AD203B41FA5}">
                      <a16:colId xmlns:a16="http://schemas.microsoft.com/office/drawing/2014/main" val="419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D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  <a:endParaRPr lang="en-ID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 b="1">
                          <a:effectLst/>
                        </a:rPr>
                        <a:t>Versi Minimum</a:t>
                      </a:r>
                      <a:endParaRPr lang="en-ID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en-ID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422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Ollama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Terbaru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D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https://ollama.com/download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69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Python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>
                          <a:effectLst/>
                        </a:rPr>
                        <a:t>3.11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D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https://www.python.org/downloads/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6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VS Code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>
                          <a:effectLst/>
                        </a:rPr>
                        <a:t>Terbaru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D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https://code.visualstudio.com/download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027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Docker Dekstop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>
                          <a:effectLst/>
                        </a:rPr>
                        <a:t>Terbaru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D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https://www.docker.com/products/docker-desktop/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51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D" sz="1600">
                          <a:effectLst/>
                        </a:rPr>
                        <a:t>Git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>
                          <a:effectLst/>
                        </a:rPr>
                        <a:t>Terbaru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D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https://git-scm.com/downloads</a:t>
                      </a:r>
                      <a:endParaRPr lang="en-ID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910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91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B988-B7B3-DF21-51BD-270DF4F4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D835-136D-41C7-F767-33DAFB3A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Prerequisite Hardware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EE52-0BAE-B4BF-6976-8484E8DEC715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164CE0-EF14-DEAE-3311-7E19A6D82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664647"/>
              </p:ext>
            </p:extLst>
          </p:nvPr>
        </p:nvGraphicFramePr>
        <p:xfrm>
          <a:off x="319177" y="1690688"/>
          <a:ext cx="11553825" cy="3657600"/>
        </p:xfrm>
        <a:graphic>
          <a:graphicData uri="http://schemas.openxmlformats.org/drawingml/2006/table">
            <a:tbl>
              <a:tblPr/>
              <a:tblGrid>
                <a:gridCol w="2362119">
                  <a:extLst>
                    <a:ext uri="{9D8B030D-6E8A-4147-A177-3AD203B41FA5}">
                      <a16:colId xmlns:a16="http://schemas.microsoft.com/office/drawing/2014/main" val="763196675"/>
                    </a:ext>
                  </a:extLst>
                </a:gridCol>
                <a:gridCol w="4881966">
                  <a:extLst>
                    <a:ext uri="{9D8B030D-6E8A-4147-A177-3AD203B41FA5}">
                      <a16:colId xmlns:a16="http://schemas.microsoft.com/office/drawing/2014/main" val="2039021253"/>
                    </a:ext>
                  </a:extLst>
                </a:gridCol>
                <a:gridCol w="4309740">
                  <a:extLst>
                    <a:ext uri="{9D8B030D-6E8A-4147-A177-3AD203B41FA5}">
                      <a16:colId xmlns:a16="http://schemas.microsoft.com/office/drawing/2014/main" val="1786754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>
                          <a:effectLst/>
                        </a:rPr>
                        <a:t>Komponen</a:t>
                      </a:r>
                      <a:endParaRPr lang="en-ID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Minimum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>
                          <a:effectLst/>
                        </a:rPr>
                        <a:t>Direkomendasikan</a:t>
                      </a:r>
                      <a:endParaRPr lang="en-ID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5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CPU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Intel i5 gen 8 / </a:t>
                      </a:r>
                      <a:r>
                        <a:rPr lang="en-ID" dirty="0" err="1">
                          <a:effectLst/>
                        </a:rPr>
                        <a:t>Ryzen</a:t>
                      </a:r>
                      <a:r>
                        <a:rPr lang="en-ID" dirty="0">
                          <a:effectLst/>
                        </a:rPr>
                        <a:t> 5 / Apple M1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Core i7 gen 11+ / AMD </a:t>
                      </a:r>
                      <a:r>
                        <a:rPr lang="en-ID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Ryzen</a:t>
                      </a:r>
                      <a:r>
                        <a:rPr lang="en-ID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 / Apple M2/M3/M4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354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RAM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16 GB (Wajib)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32 GB</a:t>
                      </a:r>
                      <a:r>
                        <a:rPr lang="en-ID" dirty="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368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GPU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Tidak Wajib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NVIDIA RTX 3060 (≥8 GB VRAM)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0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Storage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50 GB free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100 GB free SSD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09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OS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Windows 10/11, macOS 12+, Ubuntu 22.04+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Windows 11, macOS 14+, Ubuntu 24.04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697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Internet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WiFi stabil minimal 10 Mbps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WiFi</a:t>
                      </a:r>
                      <a:r>
                        <a:rPr lang="en-ID" dirty="0">
                          <a:effectLst/>
                        </a:rPr>
                        <a:t> 6 + ethernet backup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1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Battery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Minimal 4 jam (atau pastikan colokan tersedia)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012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68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961C-6B69-7120-71F1-C3797377F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1CCBDF-F5A0-2394-4DC3-4BD3EE4EE6F8}"/>
              </a:ext>
            </a:extLst>
          </p:cNvPr>
          <p:cNvSpPr txBox="1"/>
          <p:nvPr/>
        </p:nvSpPr>
        <p:spPr>
          <a:xfrm>
            <a:off x="806774" y="1646103"/>
            <a:ext cx="6883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Introduction to AI &amp; Generative AI</a:t>
            </a: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7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7F5F-A5FB-636C-CA00-ADAFACB4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8195-627B-8DC4-81BF-522519A9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Evolusi</a:t>
            </a:r>
            <a:r>
              <a:rPr lang="en-ID" b="1" dirty="0"/>
              <a:t> Artificial Intelligence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E0B2-6B3C-13AF-73D8-97204BEF3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652499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2000" dirty="0"/>
              <a:t>AI </a:t>
            </a:r>
            <a:r>
              <a:rPr lang="en-ID" sz="2000" dirty="0" err="1"/>
              <a:t>bukan</a:t>
            </a:r>
            <a:r>
              <a:rPr lang="en-ID" sz="2000" dirty="0"/>
              <a:t> </a:t>
            </a:r>
            <a:r>
              <a:rPr lang="en-ID" sz="2000" dirty="0" err="1"/>
              <a:t>fenomena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. </a:t>
            </a:r>
            <a:r>
              <a:rPr lang="en-ID" sz="2000" dirty="0" err="1"/>
              <a:t>Perjalanannya</a:t>
            </a:r>
            <a:r>
              <a:rPr lang="en-ID" sz="2000" dirty="0"/>
              <a:t> </a:t>
            </a:r>
            <a:r>
              <a:rPr lang="en-ID" sz="2000" dirty="0" err="1"/>
              <a:t>dimulai</a:t>
            </a:r>
            <a:r>
              <a:rPr lang="en-ID" sz="2000" dirty="0"/>
              <a:t> 70 </a:t>
            </a:r>
            <a:r>
              <a:rPr lang="en-ID" sz="2000" dirty="0" err="1"/>
              <a:t>tahun</a:t>
            </a:r>
            <a:r>
              <a:rPr lang="en-ID" sz="2000" dirty="0"/>
              <a:t> </a:t>
            </a:r>
            <a:r>
              <a:rPr lang="en-ID" sz="2000" dirty="0" err="1"/>
              <a:t>lalu</a:t>
            </a:r>
            <a:r>
              <a:rPr lang="en-ID" sz="2000" dirty="0"/>
              <a:t> — dan </a:t>
            </a:r>
            <a:r>
              <a:rPr lang="en-ID" sz="2000" dirty="0" err="1"/>
              <a:t>setiap</a:t>
            </a:r>
            <a:r>
              <a:rPr lang="en-ID" sz="2000" dirty="0"/>
              <a:t> era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karakteristik</a:t>
            </a:r>
            <a:r>
              <a:rPr lang="en-ID" sz="2000" dirty="0"/>
              <a:t> yang </a:t>
            </a:r>
            <a:r>
              <a:rPr lang="en-ID" sz="2000" dirty="0" err="1"/>
              <a:t>berbeda</a:t>
            </a:r>
            <a:r>
              <a:rPr lang="en-ID" sz="2000" dirty="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2000" b="1" dirty="0" err="1"/>
              <a:t>Pergeseran</a:t>
            </a:r>
            <a:r>
              <a:rPr lang="en-ID" sz="2000" b="1" dirty="0"/>
              <a:t> paling </a:t>
            </a:r>
            <a:r>
              <a:rPr lang="en-ID" sz="2000" b="1" dirty="0" err="1"/>
              <a:t>penting</a:t>
            </a:r>
            <a:r>
              <a:rPr lang="en-ID" sz="2000" dirty="0"/>
              <a:t> </a:t>
            </a:r>
            <a:r>
              <a:rPr lang="en-ID" sz="2000" dirty="0" err="1"/>
              <a:t>bukan</a:t>
            </a:r>
            <a:r>
              <a:rPr lang="en-ID" sz="2000" dirty="0"/>
              <a:t> di </a:t>
            </a:r>
            <a:r>
              <a:rPr lang="en-ID" sz="2000" dirty="0" err="1"/>
              <a:t>kecepatan</a:t>
            </a:r>
            <a:r>
              <a:rPr lang="en-ID" sz="2000" dirty="0"/>
              <a:t> </a:t>
            </a:r>
            <a:r>
              <a:rPr lang="en-ID" sz="2000" dirty="0" err="1"/>
              <a:t>komputer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jumlah</a:t>
            </a:r>
            <a:r>
              <a:rPr lang="en-ID" sz="2000" dirty="0"/>
              <a:t> data — </a:t>
            </a:r>
            <a:r>
              <a:rPr lang="en-ID" sz="2000" dirty="0" err="1"/>
              <a:t>tapi</a:t>
            </a:r>
            <a:r>
              <a:rPr lang="en-ID" sz="2000" dirty="0"/>
              <a:t> di </a:t>
            </a:r>
            <a:r>
              <a:rPr lang="en-ID" sz="2000" b="1" dirty="0" err="1"/>
              <a:t>paradigma</a:t>
            </a:r>
            <a:r>
              <a:rPr lang="en-ID" sz="2000" dirty="0"/>
              <a:t>: </a:t>
            </a:r>
            <a:r>
              <a:rPr lang="en-ID" sz="2000" dirty="0" err="1"/>
              <a:t>dari</a:t>
            </a:r>
            <a:r>
              <a:rPr lang="en-ID" sz="2000" dirty="0"/>
              <a:t> AI yang </a:t>
            </a:r>
            <a:r>
              <a:rPr lang="en-ID" sz="2000" i="1" dirty="0" err="1"/>
              <a:t>mengikuti</a:t>
            </a:r>
            <a:r>
              <a:rPr lang="en-ID" sz="2000" i="1" dirty="0"/>
              <a:t> </a:t>
            </a:r>
            <a:r>
              <a:rPr lang="en-ID" sz="2000" i="1" dirty="0" err="1"/>
              <a:t>aturan</a:t>
            </a:r>
            <a:r>
              <a:rPr lang="en-ID" sz="2000" dirty="0"/>
              <a:t> </a:t>
            </a:r>
            <a:r>
              <a:rPr lang="en-ID" sz="2000" dirty="0" err="1"/>
              <a:t>menjadi</a:t>
            </a:r>
            <a:r>
              <a:rPr lang="en-ID" sz="2000" dirty="0"/>
              <a:t> AI yang </a:t>
            </a:r>
            <a:r>
              <a:rPr lang="en-ID" sz="2000" i="1" dirty="0" err="1"/>
              <a:t>belajar</a:t>
            </a:r>
            <a:r>
              <a:rPr lang="en-ID" sz="2000" i="1" dirty="0"/>
              <a:t> </a:t>
            </a:r>
            <a:r>
              <a:rPr lang="en-ID" sz="2000" i="1" dirty="0" err="1"/>
              <a:t>dari</a:t>
            </a:r>
            <a:r>
              <a:rPr lang="en-ID" sz="2000" i="1" dirty="0"/>
              <a:t> </a:t>
            </a:r>
            <a:r>
              <a:rPr lang="en-ID" sz="2000" i="1" dirty="0" err="1"/>
              <a:t>contoh</a:t>
            </a:r>
            <a:r>
              <a:rPr lang="en-ID" sz="2000" dirty="0"/>
              <a:t> dan </a:t>
            </a:r>
            <a:r>
              <a:rPr lang="en-ID" sz="2000" dirty="0" err="1"/>
              <a:t>akhirnya</a:t>
            </a:r>
            <a:r>
              <a:rPr lang="en-ID" sz="2000" dirty="0"/>
              <a:t> AI yang </a:t>
            </a:r>
            <a:r>
              <a:rPr lang="en-ID" sz="2000" i="1" dirty="0" err="1"/>
              <a:t>menciptakan</a:t>
            </a:r>
            <a:r>
              <a:rPr lang="en-ID" sz="2000" i="1" dirty="0"/>
              <a:t> </a:t>
            </a:r>
            <a:r>
              <a:rPr lang="en-ID" sz="2000" i="1" dirty="0" err="1"/>
              <a:t>hal</a:t>
            </a:r>
            <a:r>
              <a:rPr lang="en-ID" sz="2000" i="1" dirty="0"/>
              <a:t> </a:t>
            </a:r>
            <a:r>
              <a:rPr lang="en-ID" sz="2000" i="1" dirty="0" err="1"/>
              <a:t>baru</a:t>
            </a:r>
            <a:r>
              <a:rPr lang="en-ID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BF3114-FA0B-8678-D626-CE2E5050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47" y="2417993"/>
            <a:ext cx="11884306" cy="14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5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6B1D-087A-1963-FBFF-2740F31A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151A-25A7-C60F-38A0-21335294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Machine Learning VS Deep Learning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4A4D6-DF8C-71E2-6750-BD5C6C9E0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825625"/>
            <a:ext cx="2661767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AI, Machine Learning, dan Deep Learning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hal</a:t>
            </a:r>
            <a:r>
              <a:rPr lang="en-ID" sz="1800" dirty="0"/>
              <a:t> yang </a:t>
            </a:r>
            <a:r>
              <a:rPr lang="en-ID" sz="1800" dirty="0" err="1"/>
              <a:t>terpisah</a:t>
            </a:r>
            <a:r>
              <a:rPr lang="en-ID" sz="1800" dirty="0"/>
              <a:t>, </a:t>
            </a:r>
            <a:r>
              <a:rPr lang="en-ID" sz="1800" dirty="0" err="1"/>
              <a:t>melainkan</a:t>
            </a:r>
            <a:r>
              <a:rPr lang="en-ID" sz="1800" dirty="0"/>
              <a:t> </a:t>
            </a:r>
            <a:r>
              <a:rPr lang="en-ID" sz="1800" b="1" dirty="0"/>
              <a:t>nested</a:t>
            </a:r>
            <a:r>
              <a:rPr lang="en-ID" sz="1800" dirty="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Deep Learning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bagian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ML, dan ML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bagian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AI.</a:t>
            </a:r>
            <a:endParaRPr lang="en-US" sz="1800" dirty="0"/>
          </a:p>
        </p:txBody>
      </p:sp>
      <p:pic>
        <p:nvPicPr>
          <p:cNvPr id="7" name="Picture 6" descr="4 Perbedaan AI, Machine Learning, dan Deep Learning + Contoh">
            <a:extLst>
              <a:ext uri="{FF2B5EF4-FFF2-40B4-BE49-F238E27FC236}">
                <a16:creationId xmlns:a16="http://schemas.microsoft.com/office/drawing/2014/main" id="{38D46825-19AF-855E-462A-FC45F3BB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06" y="1486578"/>
            <a:ext cx="8636591" cy="420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6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1BC5-C25D-45FB-C715-BBF1CCB2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C472-FF8B-EF15-4E6E-123FBFEB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Machine Learning VS Deep Learning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E4685-915B-A729-0BDA-9FF83447B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600" dirty="0"/>
              <a:t>Dua </a:t>
            </a:r>
            <a:r>
              <a:rPr lang="en-ID" sz="1600" dirty="0" err="1"/>
              <a:t>istilah</a:t>
            </a:r>
            <a:r>
              <a:rPr lang="en-ID" sz="1600" dirty="0"/>
              <a:t> ML dan DL </a:t>
            </a:r>
            <a:r>
              <a:rPr lang="en-ID" sz="1600" dirty="0" err="1"/>
              <a:t>sering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bergantian</a:t>
            </a:r>
            <a:r>
              <a:rPr lang="en-ID" sz="1600" dirty="0"/>
              <a:t>, </a:t>
            </a:r>
            <a:r>
              <a:rPr lang="en-ID" sz="1600" dirty="0" err="1"/>
              <a:t>padahal</a:t>
            </a:r>
            <a:r>
              <a:rPr lang="en-ID" sz="1600" dirty="0"/>
              <a:t> </a:t>
            </a:r>
            <a:r>
              <a:rPr lang="en-ID" sz="1600" dirty="0" err="1"/>
              <a:t>berbeda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fundamental: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buNone/>
            </a:pPr>
            <a:r>
              <a:rPr lang="en-ID" sz="1600" b="1" dirty="0" err="1"/>
              <a:t>Analogi</a:t>
            </a:r>
            <a:r>
              <a:rPr lang="en-ID" sz="1600" b="1" dirty="0"/>
              <a:t> </a:t>
            </a:r>
            <a:r>
              <a:rPr lang="en-ID" sz="1600" b="1" dirty="0" err="1"/>
              <a:t>sederhana</a:t>
            </a:r>
            <a:r>
              <a:rPr lang="en-ID" sz="1600" b="1" dirty="0"/>
              <a:t>:</a:t>
            </a:r>
            <a:endParaRPr lang="en-ID" sz="1600" dirty="0"/>
          </a:p>
          <a:p>
            <a:r>
              <a:rPr lang="en-ID" sz="1600" dirty="0"/>
              <a:t>ML = </a:t>
            </a:r>
            <a:r>
              <a:rPr lang="en-ID" sz="1600" dirty="0" err="1"/>
              <a:t>mengajari</a:t>
            </a:r>
            <a:r>
              <a:rPr lang="en-ID" sz="1600" dirty="0"/>
              <a:t> </a:t>
            </a:r>
            <a:r>
              <a:rPr lang="en-ID" sz="1600" dirty="0" err="1"/>
              <a:t>anak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</a:t>
            </a:r>
            <a:r>
              <a:rPr lang="en-ID" sz="1600" dirty="0" err="1"/>
              <a:t>eksplisit</a:t>
            </a:r>
            <a:r>
              <a:rPr lang="en-ID" sz="1600" dirty="0"/>
              <a:t>: "</a:t>
            </a:r>
            <a:r>
              <a:rPr lang="en-ID" sz="1600" dirty="0" err="1"/>
              <a:t>Kucing</a:t>
            </a:r>
            <a:r>
              <a:rPr lang="en-ID" sz="1600" dirty="0"/>
              <a:t> punya 4 kaki, </a:t>
            </a:r>
            <a:r>
              <a:rPr lang="en-ID" sz="1600" dirty="0" err="1"/>
              <a:t>bulu</a:t>
            </a:r>
            <a:r>
              <a:rPr lang="en-ID" sz="1600" dirty="0"/>
              <a:t>, dan </a:t>
            </a:r>
            <a:r>
              <a:rPr lang="en-ID" sz="1600" dirty="0" err="1"/>
              <a:t>bersuara</a:t>
            </a:r>
            <a:r>
              <a:rPr lang="en-ID" sz="1600" dirty="0"/>
              <a:t> </a:t>
            </a:r>
            <a:r>
              <a:rPr lang="en-ID" sz="1600" dirty="0" err="1"/>
              <a:t>meong</a:t>
            </a:r>
            <a:r>
              <a:rPr lang="en-ID" sz="1600" dirty="0"/>
              <a:t>"</a:t>
            </a:r>
          </a:p>
          <a:p>
            <a:r>
              <a:rPr lang="en-ID" sz="1600" dirty="0"/>
              <a:t>DL = </a:t>
            </a:r>
            <a:r>
              <a:rPr lang="en-ID" sz="1600" dirty="0" err="1"/>
              <a:t>biarkan</a:t>
            </a:r>
            <a:r>
              <a:rPr lang="en-ID" sz="1600" dirty="0"/>
              <a:t> </a:t>
            </a:r>
            <a:r>
              <a:rPr lang="en-ID" sz="1600" dirty="0" err="1"/>
              <a:t>anak</a:t>
            </a:r>
            <a:r>
              <a:rPr lang="en-ID" sz="1600" dirty="0"/>
              <a:t> </a:t>
            </a:r>
            <a:r>
              <a:rPr lang="en-ID" sz="1600" dirty="0" err="1"/>
              <a:t>melihat</a:t>
            </a:r>
            <a:r>
              <a:rPr lang="en-ID" sz="1600" dirty="0"/>
              <a:t> </a:t>
            </a:r>
            <a:r>
              <a:rPr lang="en-ID" sz="1600" dirty="0" err="1"/>
              <a:t>ribuan</a:t>
            </a:r>
            <a:r>
              <a:rPr lang="en-ID" sz="1600" dirty="0"/>
              <a:t> </a:t>
            </a:r>
            <a:r>
              <a:rPr lang="en-ID" sz="1600" dirty="0" err="1"/>
              <a:t>foto</a:t>
            </a:r>
            <a:r>
              <a:rPr lang="en-ID" sz="1600" dirty="0"/>
              <a:t> </a:t>
            </a:r>
            <a:r>
              <a:rPr lang="en-ID" sz="1600" dirty="0" err="1"/>
              <a:t>kucing</a:t>
            </a:r>
            <a:r>
              <a:rPr lang="en-ID" sz="1600" dirty="0"/>
              <a:t> </a:t>
            </a:r>
            <a:r>
              <a:rPr lang="en-ID" sz="1600" dirty="0" err="1"/>
              <a:t>sampai</a:t>
            </a:r>
            <a:r>
              <a:rPr lang="en-ID" sz="1600" dirty="0"/>
              <a:t> </a:t>
            </a:r>
            <a:r>
              <a:rPr lang="en-ID" sz="1600" dirty="0" err="1"/>
              <a:t>dia</a:t>
            </a:r>
            <a:r>
              <a:rPr lang="en-ID" sz="1600" dirty="0"/>
              <a:t> </a:t>
            </a:r>
            <a:r>
              <a:rPr lang="en-ID" sz="1600" dirty="0" err="1"/>
              <a:t>sendiri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mengenali</a:t>
            </a:r>
            <a:r>
              <a:rPr lang="en-ID" sz="1600" dirty="0"/>
              <a:t> </a:t>
            </a:r>
            <a:r>
              <a:rPr lang="en-ID" sz="1600" dirty="0" err="1"/>
              <a:t>kucing</a:t>
            </a:r>
            <a:r>
              <a:rPr lang="en-ID" sz="1600" dirty="0"/>
              <a:t>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penjelasan</a:t>
            </a:r>
            <a:r>
              <a:rPr lang="en-ID" sz="1600" dirty="0"/>
              <a:t> verbal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92A7C-804F-F3BC-AE48-2B553B865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1690688"/>
            <a:ext cx="10483502" cy="294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BC97-3A63-94AE-175B-E2B74641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65A9-0864-3AFB-1EB3-F792D329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Generative AI Overview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22502-86A9-D7A4-B3C6-341037D3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495" y="1825625"/>
            <a:ext cx="447532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600" dirty="0"/>
              <a:t>AI yang </a:t>
            </a:r>
            <a:r>
              <a:rPr lang="en-ID" sz="1600" dirty="0" err="1"/>
              <a:t>dapat</a:t>
            </a:r>
            <a:r>
              <a:rPr lang="en-ID" sz="1600" dirty="0"/>
              <a:t> </a:t>
            </a:r>
            <a:r>
              <a:rPr lang="en-ID" sz="1600" dirty="0" err="1"/>
              <a:t>menghasilkan</a:t>
            </a:r>
            <a:r>
              <a:rPr lang="en-ID" sz="1600" dirty="0"/>
              <a:t> </a:t>
            </a:r>
            <a:r>
              <a:rPr lang="en-ID" sz="1600" dirty="0" err="1"/>
              <a:t>konten</a:t>
            </a:r>
            <a:r>
              <a:rPr lang="en-ID" sz="1600" dirty="0"/>
              <a:t> </a:t>
            </a:r>
            <a:r>
              <a:rPr lang="en-ID" sz="1600" dirty="0" err="1"/>
              <a:t>baru</a:t>
            </a:r>
            <a:r>
              <a:rPr lang="en-ID" sz="1600" dirty="0"/>
              <a:t>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mengklasifikasi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memprediksi</a:t>
            </a:r>
            <a:r>
              <a:rPr lang="en-ID" sz="1600" dirty="0"/>
              <a:t> data yang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33C983-47E4-137A-F982-3FB967F7B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1973897"/>
            <a:ext cx="6783372" cy="17061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4D08CC-EFAD-45E8-CF34-B4D517F68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77" y="3759169"/>
            <a:ext cx="6528190" cy="208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1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C2A4-7185-9E7F-3C3E-D5C93A66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ownload Claude Ai Logo Vector Free | Logowik">
            <a:extLst>
              <a:ext uri="{FF2B5EF4-FFF2-40B4-BE49-F238E27FC236}">
                <a16:creationId xmlns:a16="http://schemas.microsoft.com/office/drawing/2014/main" id="{7B1F474F-32E8-D327-7C85-CFB507FF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7" y="2212801"/>
            <a:ext cx="2800543" cy="21020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6B6EBE-4AD7-C657-B83C-25769540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Platform Generative AI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AB1AC-2FC7-9E93-5B3F-7E54BB424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b="1" dirty="0" err="1"/>
              <a:t>Contoh</a:t>
            </a:r>
            <a:r>
              <a:rPr lang="en-ID" b="1" dirty="0"/>
              <a:t> Platform Generative AI:</a:t>
            </a:r>
            <a:endParaRPr lang="en-ID" sz="1600" dirty="0"/>
          </a:p>
        </p:txBody>
      </p:sp>
      <p:pic>
        <p:nvPicPr>
          <p:cNvPr id="8" name="Picture 7" descr="Chatgpt logo Transparent HQ PNG Download | FreePNGimg">
            <a:extLst>
              <a:ext uri="{FF2B5EF4-FFF2-40B4-BE49-F238E27FC236}">
                <a16:creationId xmlns:a16="http://schemas.microsoft.com/office/drawing/2014/main" id="{65A3D9A3-05D9-E1A0-4A6F-89B29C766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863" y="2844719"/>
            <a:ext cx="2797095" cy="823993"/>
          </a:xfrm>
          <a:prstGeom prst="rect">
            <a:avLst/>
          </a:prstGeom>
        </p:spPr>
      </p:pic>
      <p:pic>
        <p:nvPicPr>
          <p:cNvPr id="9" name="Picture 8" descr="Gemini New 2025 Logo Vector Free Download | Logowik">
            <a:extLst>
              <a:ext uri="{FF2B5EF4-FFF2-40B4-BE49-F238E27FC236}">
                <a16:creationId xmlns:a16="http://schemas.microsoft.com/office/drawing/2014/main" id="{7B85BBCB-C899-483A-CD0A-B6A208168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839" y="2382551"/>
            <a:ext cx="2363787" cy="1774205"/>
          </a:xfrm>
          <a:prstGeom prst="rect">
            <a:avLst/>
          </a:prstGeom>
        </p:spPr>
      </p:pic>
      <p:pic>
        <p:nvPicPr>
          <p:cNvPr id="10" name="Picture 9" descr="Microsoft Copilot Logo (chatbot | 01) - PNG Logo Vector Brand Downloads  (SVG, EPS)">
            <a:extLst>
              <a:ext uri="{FF2B5EF4-FFF2-40B4-BE49-F238E27FC236}">
                <a16:creationId xmlns:a16="http://schemas.microsoft.com/office/drawing/2014/main" id="{40ADED53-B5A4-CF43-5D20-9FE0AB0BE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5591" y="3803649"/>
            <a:ext cx="2363787" cy="1477367"/>
          </a:xfrm>
          <a:prstGeom prst="rect">
            <a:avLst/>
          </a:prstGeom>
        </p:spPr>
      </p:pic>
      <p:pic>
        <p:nvPicPr>
          <p:cNvPr id="11" name="Picture 10" descr="Perplexity Logo Vector Download | Logowik">
            <a:extLst>
              <a:ext uri="{FF2B5EF4-FFF2-40B4-BE49-F238E27FC236}">
                <a16:creationId xmlns:a16="http://schemas.microsoft.com/office/drawing/2014/main" id="{B48E11AF-B8DB-8F15-822F-72DE55DA0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283" y="3492614"/>
            <a:ext cx="2797095" cy="20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42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E369-FD59-2259-6A45-501CBA3E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A7A4B-AA06-773A-AFB7-E72255EC2186}"/>
              </a:ext>
            </a:extLst>
          </p:cNvPr>
          <p:cNvSpPr txBox="1"/>
          <p:nvPr/>
        </p:nvSpPr>
        <p:spPr>
          <a:xfrm>
            <a:off x="806773" y="1646103"/>
            <a:ext cx="80076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rgbClr val="085A76"/>
                </a:solidFill>
              </a:rPr>
              <a:t>Mengenal</a:t>
            </a:r>
            <a:r>
              <a:rPr lang="en-US" sz="5400" b="1" dirty="0">
                <a:solidFill>
                  <a:srgbClr val="085A76"/>
                </a:solidFill>
              </a:rPr>
              <a:t> Large Language Model (LLM)</a:t>
            </a: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53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03C8-2295-F887-5D4E-0EA7DBF9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BBA0-E3B7-FBAB-4E1B-B0C932B4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LLM?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A5628-9FBC-44BF-90CA-D9D1A9EF4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89891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/>
              <a:t>LLM (Large Language Model)</a:t>
            </a:r>
            <a:r>
              <a:rPr lang="en-ID" sz="1800" dirty="0"/>
              <a:t> </a:t>
            </a:r>
            <a:r>
              <a:rPr lang="en-ID" sz="1800" dirty="0" err="1"/>
              <a:t>adalah</a:t>
            </a:r>
            <a:r>
              <a:rPr lang="en-ID" sz="1800" dirty="0"/>
              <a:t> Model yang </a:t>
            </a:r>
            <a:r>
              <a:rPr lang="en-ID" sz="1800" dirty="0" err="1"/>
              <a:t>dilatih</a:t>
            </a:r>
            <a:r>
              <a:rPr lang="en-ID" sz="1800" dirty="0"/>
              <a:t> pada </a:t>
            </a:r>
            <a:r>
              <a:rPr lang="en-ID" sz="1800" dirty="0" err="1"/>
              <a:t>teks</a:t>
            </a:r>
            <a:r>
              <a:rPr lang="en-ID" sz="1800" dirty="0"/>
              <a:t> </a:t>
            </a:r>
            <a:r>
              <a:rPr lang="en-ID" sz="1800" dirty="0" err="1"/>
              <a:t>berjumlah</a:t>
            </a:r>
            <a:r>
              <a:rPr lang="en-ID" sz="1800" dirty="0"/>
              <a:t> sangat </a:t>
            </a:r>
            <a:r>
              <a:rPr lang="en-ID" sz="1800" dirty="0" err="1"/>
              <a:t>besar</a:t>
            </a:r>
            <a:r>
              <a:rPr lang="en-ID" sz="1800" dirty="0"/>
              <a:t>, </a:t>
            </a:r>
            <a:r>
              <a:rPr lang="en-ID" sz="1800" dirty="0" err="1"/>
              <a:t>miliaran</a:t>
            </a:r>
            <a:r>
              <a:rPr lang="en-ID" sz="1800" dirty="0"/>
              <a:t> </a:t>
            </a:r>
            <a:r>
              <a:rPr lang="en-ID" sz="1800" dirty="0" err="1"/>
              <a:t>halaman</a:t>
            </a:r>
            <a:r>
              <a:rPr lang="en-ID" sz="1800" dirty="0"/>
              <a:t> web, </a:t>
            </a:r>
            <a:r>
              <a:rPr lang="en-ID" sz="1800" dirty="0" err="1"/>
              <a:t>buku</a:t>
            </a:r>
            <a:r>
              <a:rPr lang="en-ID" sz="1800" dirty="0"/>
              <a:t>, </a:t>
            </a:r>
            <a:r>
              <a:rPr lang="en-ID" sz="1800" dirty="0" err="1"/>
              <a:t>artikel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</a:t>
            </a:r>
            <a:r>
              <a:rPr lang="en-ID" sz="1800" dirty="0" err="1"/>
              <a:t>arsitektur</a:t>
            </a:r>
            <a:r>
              <a:rPr lang="en-ID" sz="1800" dirty="0"/>
              <a:t> Transformer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memahami</a:t>
            </a:r>
            <a:r>
              <a:rPr lang="en-ID" sz="1800" dirty="0"/>
              <a:t> dan </a:t>
            </a:r>
            <a:r>
              <a:rPr lang="en-ID" sz="1800" dirty="0" err="1"/>
              <a:t>menghasilkan</a:t>
            </a:r>
            <a:r>
              <a:rPr lang="en-ID" sz="1800" dirty="0"/>
              <a:t> </a:t>
            </a:r>
            <a:r>
              <a:rPr lang="en-ID" sz="1800" dirty="0" err="1"/>
              <a:t>bahasa</a:t>
            </a:r>
            <a:r>
              <a:rPr lang="en-ID" sz="1800" dirty="0"/>
              <a:t> </a:t>
            </a:r>
            <a:r>
              <a:rPr lang="en-ID" sz="1800" dirty="0" err="1"/>
              <a:t>alami</a:t>
            </a:r>
            <a:r>
              <a:rPr lang="en-ID" sz="18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Karakteristik</a:t>
            </a:r>
            <a:r>
              <a:rPr lang="en-ID" sz="1600" dirty="0"/>
              <a:t> Unik LLM :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B93DC-3F12-3499-EB6C-EEB337136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95" y="3079137"/>
            <a:ext cx="9480239" cy="22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3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FDEA-F3C0-3100-1C3E-F868D9B7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F062-4817-38C6-31BF-14E8C62A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Alur </a:t>
            </a:r>
            <a:r>
              <a:rPr lang="en-ID" b="1" dirty="0" err="1"/>
              <a:t>Kerja</a:t>
            </a:r>
            <a:r>
              <a:rPr lang="en-ID" b="1" dirty="0"/>
              <a:t> </a:t>
            </a:r>
            <a:r>
              <a:rPr lang="en-ID" b="1" dirty="0" err="1"/>
              <a:t>Sederhana</a:t>
            </a:r>
            <a:r>
              <a:rPr lang="en-ID" b="1" dirty="0"/>
              <a:t> LLM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CD2B4-8CC3-FA3A-33AE-D8FFEC4BB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9535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8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Ciri Khas :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ID" sz="1600" b="1" dirty="0"/>
              <a:t>Tokenizer : </a:t>
            </a:r>
            <a:r>
              <a:rPr lang="en-ID" sz="1600" b="1" dirty="0" err="1"/>
              <a:t>Memecah</a:t>
            </a:r>
            <a:r>
              <a:rPr lang="en-ID" sz="1600" b="1" dirty="0"/>
              <a:t> Teks </a:t>
            </a:r>
            <a:r>
              <a:rPr lang="en-ID" sz="1600" b="1" dirty="0" err="1"/>
              <a:t>menjadi</a:t>
            </a:r>
            <a:r>
              <a:rPr lang="en-ID" sz="1600" b="1" dirty="0"/>
              <a:t> </a:t>
            </a:r>
            <a:r>
              <a:rPr lang="en-ID" sz="1600" b="1" dirty="0" err="1"/>
              <a:t>Potongan</a:t>
            </a:r>
            <a:r>
              <a:rPr lang="en-ID" sz="1600" b="1" dirty="0"/>
              <a:t> Kecil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b="1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ID" sz="1600" b="1" dirty="0"/>
              <a:t>Token IDs: Ubah </a:t>
            </a:r>
            <a:r>
              <a:rPr lang="en-ID" sz="1600" b="1" dirty="0" err="1"/>
              <a:t>Setiap</a:t>
            </a:r>
            <a:r>
              <a:rPr lang="en-ID" sz="1600" b="1" dirty="0"/>
              <a:t> </a:t>
            </a:r>
            <a:r>
              <a:rPr lang="en-ID" sz="1600" b="1" dirty="0" err="1"/>
              <a:t>Potongan</a:t>
            </a:r>
            <a:r>
              <a:rPr lang="en-ID" sz="1600" b="1" dirty="0"/>
              <a:t> </a:t>
            </a:r>
            <a:r>
              <a:rPr lang="en-ID" sz="1600" b="1" dirty="0" err="1"/>
              <a:t>menjadi</a:t>
            </a:r>
            <a:r>
              <a:rPr lang="en-ID" sz="1600" b="1" dirty="0"/>
              <a:t> Angka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FC2EA-77F3-DFE6-D897-6D4769778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47" y="1401504"/>
            <a:ext cx="11553647" cy="847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0326D-CA90-02D7-0E70-3DC6DF33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" y="3016251"/>
            <a:ext cx="5016500" cy="121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66E8F3-C1FD-7FE7-889F-558AE387C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96" y="4609152"/>
            <a:ext cx="2603500" cy="16383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E2332C-2C77-29A6-C248-E1435CF1A4EA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3.  Embedding: Ubah Angka </a:t>
            </a:r>
            <a:r>
              <a:rPr lang="en-ID" sz="1600" b="1" dirty="0" err="1"/>
              <a:t>menjadi</a:t>
            </a:r>
            <a:r>
              <a:rPr lang="en-ID" sz="1600" b="1" dirty="0"/>
              <a:t> </a:t>
            </a:r>
            <a:r>
              <a:rPr lang="en-ID" sz="1600" b="1" dirty="0" err="1"/>
              <a:t>Koordinat</a:t>
            </a: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4. Transformer: </a:t>
            </a:r>
            <a:r>
              <a:rPr lang="en-ID" sz="1600" b="1" dirty="0" err="1"/>
              <a:t>Memahami</a:t>
            </a:r>
            <a:r>
              <a:rPr lang="en-ID" sz="1600" b="1" dirty="0"/>
              <a:t> </a:t>
            </a:r>
            <a:r>
              <a:rPr lang="en-ID" sz="1600" b="1" dirty="0" err="1"/>
              <a:t>Konteks</a:t>
            </a:r>
            <a:r>
              <a:rPr lang="en-ID" sz="1600" b="1" dirty="0"/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Inilah</a:t>
            </a:r>
            <a:r>
              <a:rPr lang="en-ID" sz="1600" dirty="0"/>
              <a:t> "</a:t>
            </a:r>
            <a:r>
              <a:rPr lang="en-ID" sz="1600" dirty="0" err="1"/>
              <a:t>otak</a:t>
            </a:r>
            <a:r>
              <a:rPr lang="en-ID" sz="1600" dirty="0"/>
              <a:t>" </a:t>
            </a:r>
            <a:r>
              <a:rPr lang="en-ID" sz="1600" dirty="0" err="1"/>
              <a:t>sesungguhnya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LLM. </a:t>
            </a:r>
            <a:r>
              <a:rPr lang="en-ID" sz="1600" dirty="0" err="1"/>
              <a:t>Lapisan</a:t>
            </a:r>
            <a:r>
              <a:rPr lang="en-ID" sz="1600" dirty="0"/>
              <a:t> Transformer </a:t>
            </a:r>
            <a:r>
              <a:rPr lang="en-ID" sz="1600" dirty="0" err="1"/>
              <a:t>memproses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embedding </a:t>
            </a:r>
            <a:r>
              <a:rPr lang="en-ID" sz="1600" dirty="0" err="1"/>
              <a:t>bersama-sama</a:t>
            </a:r>
            <a:r>
              <a:rPr lang="en-ID" sz="1600" dirty="0"/>
              <a:t> dan </a:t>
            </a:r>
            <a:r>
              <a:rPr lang="en-ID" sz="1600" dirty="0" err="1"/>
              <a:t>memahami</a:t>
            </a:r>
            <a:r>
              <a:rPr lang="en-ID" sz="1600" dirty="0"/>
              <a:t> </a:t>
            </a:r>
            <a:r>
              <a:rPr lang="en-ID" sz="1600" dirty="0" err="1"/>
              <a:t>hubungan</a:t>
            </a:r>
            <a:r>
              <a:rPr lang="en-ID" sz="1600" dirty="0"/>
              <a:t> </a:t>
            </a:r>
            <a:r>
              <a:rPr lang="en-ID" sz="1600" dirty="0" err="1"/>
              <a:t>antar</a:t>
            </a:r>
            <a:r>
              <a:rPr lang="en-ID" sz="1600" dirty="0"/>
              <a:t> kata 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kalimat</a:t>
            </a:r>
            <a:r>
              <a:rPr lang="en-ID" sz="1600" dirty="0"/>
              <a:t> Anda.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469939-F5D6-CCDE-EB7A-060F251B5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3129893"/>
            <a:ext cx="6045200" cy="80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37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1BD4-5575-E5F2-E371-FEE29DDDF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6953-8B56-ACBB-B4B5-269845C8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Alur </a:t>
            </a:r>
            <a:r>
              <a:rPr lang="en-ID" b="1" dirty="0" err="1"/>
              <a:t>Kerja</a:t>
            </a:r>
            <a:r>
              <a:rPr lang="en-ID" b="1" dirty="0"/>
              <a:t> </a:t>
            </a:r>
            <a:r>
              <a:rPr lang="en-ID" b="1" dirty="0" err="1"/>
              <a:t>Sederhana</a:t>
            </a:r>
            <a:r>
              <a:rPr lang="en-ID" b="1" dirty="0"/>
              <a:t> LLM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DC595-326B-518E-F240-04B48883A595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8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Ciri Khas 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5. </a:t>
            </a:r>
            <a:r>
              <a:rPr lang="en-ID" sz="1600" b="1" dirty="0" err="1"/>
              <a:t>Hitung</a:t>
            </a:r>
            <a:r>
              <a:rPr lang="en-ID" sz="1600" b="1" dirty="0"/>
              <a:t> </a:t>
            </a:r>
            <a:r>
              <a:rPr lang="en-ID" sz="1600" b="1" dirty="0" err="1"/>
              <a:t>Probabilitas</a:t>
            </a:r>
            <a:r>
              <a:rPr lang="en-ID" sz="1600" b="1" dirty="0"/>
              <a:t> Kata </a:t>
            </a:r>
            <a:r>
              <a:rPr lang="en-ID" sz="1600" b="1" dirty="0" err="1"/>
              <a:t>Berikutnya</a:t>
            </a: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708D8-2D25-4472-1FF8-F2BF4C112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6" y="1473695"/>
            <a:ext cx="11553647" cy="84734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B80B021-0EE2-42B8-AC9E-EA57C691ECE1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6.  </a:t>
            </a:r>
            <a:r>
              <a:rPr lang="en-ID" sz="1600" b="1" dirty="0" err="1"/>
              <a:t>Pilih</a:t>
            </a:r>
            <a:r>
              <a:rPr lang="en-ID" sz="1600" b="1" dirty="0"/>
              <a:t> </a:t>
            </a:r>
            <a:r>
              <a:rPr lang="en-ID" sz="1600" b="1" dirty="0" err="1"/>
              <a:t>satu</a:t>
            </a:r>
            <a:r>
              <a:rPr lang="en-ID" sz="1600" b="1" dirty="0"/>
              <a:t> kata (Sampling)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Dari daftar </a:t>
            </a:r>
            <a:r>
              <a:rPr lang="en-ID" sz="1600" dirty="0" err="1"/>
              <a:t>probabilitas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, model </a:t>
            </a:r>
            <a:r>
              <a:rPr lang="en-ID" sz="1600" dirty="0" err="1"/>
              <a:t>memilih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kata. </a:t>
            </a:r>
            <a:r>
              <a:rPr lang="en-ID" sz="1600" dirty="0" err="1"/>
              <a:t>Pemilihan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diatur</a:t>
            </a:r>
            <a:r>
              <a:rPr lang="en-ID" sz="1600" dirty="0"/>
              <a:t> oleh </a:t>
            </a:r>
            <a:r>
              <a:rPr lang="en-ID" sz="1600" b="1" dirty="0"/>
              <a:t>parameter temperature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0.0 : </a:t>
            </a:r>
            <a:r>
              <a:rPr lang="en-ID" sz="1600" dirty="0" err="1"/>
              <a:t>Deterministik</a:t>
            </a:r>
            <a:r>
              <a:rPr lang="en-ID" sz="1600" dirty="0"/>
              <a:t> </a:t>
            </a:r>
            <a:r>
              <a:rPr lang="en-ID" sz="1600" dirty="0" err="1"/>
              <a:t>Penuh</a:t>
            </a: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0.2 – 0.4 : </a:t>
            </a:r>
            <a:r>
              <a:rPr lang="en-ID" sz="1600" dirty="0" err="1"/>
              <a:t>Sedikit</a:t>
            </a:r>
            <a:r>
              <a:rPr lang="en-ID" sz="1600" dirty="0"/>
              <a:t> </a:t>
            </a:r>
            <a:r>
              <a:rPr lang="en-ID" sz="1600" dirty="0" err="1"/>
              <a:t>Variasi</a:t>
            </a: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0.5 – 0.7 : </a:t>
            </a:r>
            <a:r>
              <a:rPr lang="en-ID" sz="1600" dirty="0" err="1"/>
              <a:t>Seimbang</a:t>
            </a:r>
            <a:r>
              <a:rPr lang="en-ID" sz="1600" dirty="0"/>
              <a:t> </a:t>
            </a:r>
            <a:r>
              <a:rPr lang="en-ID" sz="1600" dirty="0" err="1"/>
              <a:t>antara</a:t>
            </a:r>
            <a:r>
              <a:rPr lang="en-ID" sz="1600" dirty="0"/>
              <a:t> </a:t>
            </a:r>
            <a:r>
              <a:rPr lang="en-ID" sz="1600" dirty="0" err="1"/>
              <a:t>konsisten</a:t>
            </a:r>
            <a:r>
              <a:rPr lang="en-ID" sz="1600" dirty="0"/>
              <a:t> dan </a:t>
            </a:r>
            <a:r>
              <a:rPr lang="en-ID" sz="1600" dirty="0" err="1"/>
              <a:t>variatif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0.8 – 1.0 : </a:t>
            </a:r>
            <a:r>
              <a:rPr lang="en-ID" sz="1600" dirty="0" err="1"/>
              <a:t>Kreatif</a:t>
            </a:r>
            <a:r>
              <a:rPr lang="en-ID" sz="1600" dirty="0"/>
              <a:t>, </a:t>
            </a:r>
            <a:r>
              <a:rPr lang="en-ID" sz="1600" dirty="0" err="1"/>
              <a:t>bervariasi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7. Loop </a:t>
            </a:r>
            <a:r>
              <a:rPr lang="en-ID" sz="1600" b="1" dirty="0" err="1"/>
              <a:t>sampai</a:t>
            </a:r>
            <a:r>
              <a:rPr lang="en-ID" sz="1600" b="1" dirty="0"/>
              <a:t> </a:t>
            </a:r>
            <a:r>
              <a:rPr lang="en-ID" sz="1600" b="1" dirty="0" err="1"/>
              <a:t>Selesai</a:t>
            </a: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E6ED1-7F05-C790-990B-9580E0A9F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76" y="3129893"/>
            <a:ext cx="5152463" cy="22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73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0EEF-21E4-20F5-9134-FFB24E45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68E5-3AB2-CD63-DB8D-A2F369F9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0734-5338-A7FB-2787-9C4D4A816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43968"/>
            <a:ext cx="11553646" cy="4865975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400" dirty="0"/>
              <a:t>LLM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membaca</a:t>
            </a:r>
            <a:r>
              <a:rPr lang="en-ID" sz="1400" dirty="0"/>
              <a:t> </a:t>
            </a:r>
            <a:r>
              <a:rPr lang="en-ID" sz="1400" dirty="0" err="1"/>
              <a:t>kalimat</a:t>
            </a:r>
            <a:r>
              <a:rPr lang="en-ID" sz="1400" dirty="0"/>
              <a:t> per </a:t>
            </a:r>
            <a:r>
              <a:rPr lang="en-ID" sz="1400" dirty="0" err="1"/>
              <a:t>kalimat</a:t>
            </a:r>
            <a:r>
              <a:rPr lang="en-ID" sz="1400" dirty="0"/>
              <a:t> </a:t>
            </a:r>
            <a:r>
              <a:rPr lang="en-ID" sz="1400" dirty="0" err="1"/>
              <a:t>atau</a:t>
            </a:r>
            <a:r>
              <a:rPr lang="en-ID" sz="1400" dirty="0"/>
              <a:t> kata per kata. Ia </a:t>
            </a:r>
            <a:r>
              <a:rPr lang="en-ID" sz="1400" dirty="0" err="1"/>
              <a:t>membaca</a:t>
            </a:r>
            <a:r>
              <a:rPr lang="en-ID" sz="1400" dirty="0"/>
              <a:t> token — </a:t>
            </a:r>
            <a:r>
              <a:rPr lang="en-ID" sz="1400" dirty="0" err="1"/>
              <a:t>potongan-potongan</a:t>
            </a:r>
            <a:r>
              <a:rPr lang="en-ID" sz="1400" dirty="0"/>
              <a:t> </a:t>
            </a:r>
            <a:r>
              <a:rPr lang="en-ID" sz="1400" dirty="0" err="1"/>
              <a:t>teks</a:t>
            </a:r>
            <a:r>
              <a:rPr lang="en-ID" sz="1400" dirty="0"/>
              <a:t> yang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berupa</a:t>
            </a:r>
            <a:r>
              <a:rPr lang="en-ID" sz="1400" dirty="0"/>
              <a:t> kata </a:t>
            </a:r>
            <a:r>
              <a:rPr lang="en-ID" sz="1400" dirty="0" err="1"/>
              <a:t>utuh</a:t>
            </a:r>
            <a:r>
              <a:rPr lang="en-ID" sz="1400" dirty="0"/>
              <a:t>, </a:t>
            </a:r>
            <a:r>
              <a:rPr lang="en-ID" sz="1400" dirty="0" err="1"/>
              <a:t>suku</a:t>
            </a:r>
            <a:r>
              <a:rPr lang="en-ID" sz="1400" dirty="0"/>
              <a:t> kata,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bahkan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huruf</a:t>
            </a:r>
            <a:r>
              <a:rPr lang="en-ID" sz="1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ID" sz="1400" dirty="0" err="1"/>
              <a:t>Rumus</a:t>
            </a:r>
            <a:r>
              <a:rPr lang="en-ID" sz="1400" dirty="0"/>
              <a:t> </a:t>
            </a:r>
            <a:r>
              <a:rPr lang="en-ID" sz="1400" dirty="0" err="1"/>
              <a:t>Praktis</a:t>
            </a:r>
            <a:r>
              <a:rPr lang="en-ID" sz="1400" dirty="0"/>
              <a:t> : </a:t>
            </a:r>
          </a:p>
          <a:p>
            <a:pPr algn="just">
              <a:lnSpc>
                <a:spcPct val="100000"/>
              </a:lnSpc>
            </a:pPr>
            <a:r>
              <a:rPr lang="en-ID" sz="1400" dirty="0"/>
              <a:t>1 token ≈ 4 </a:t>
            </a:r>
            <a:r>
              <a:rPr lang="en-ID" sz="1400" dirty="0" err="1"/>
              <a:t>huruf</a:t>
            </a:r>
            <a:r>
              <a:rPr lang="en-ID" sz="1400" dirty="0"/>
              <a:t> </a:t>
            </a:r>
            <a:r>
              <a:rPr lang="en-ID" sz="1400" dirty="0" err="1"/>
              <a:t>bahasa</a:t>
            </a:r>
            <a:r>
              <a:rPr lang="en-ID" sz="1400" dirty="0"/>
              <a:t> </a:t>
            </a:r>
            <a:r>
              <a:rPr lang="en-ID" sz="1400" dirty="0" err="1"/>
              <a:t>Inggris</a:t>
            </a:r>
            <a:r>
              <a:rPr lang="en-ID" sz="1400" dirty="0"/>
              <a:t> ≈ 3/4 kata</a:t>
            </a:r>
          </a:p>
          <a:p>
            <a:pPr algn="just">
              <a:lnSpc>
                <a:spcPct val="100000"/>
              </a:lnSpc>
            </a:pPr>
            <a:r>
              <a:rPr lang="en-ID" sz="1400" dirty="0"/>
              <a:t>Bahasa Indonesia </a:t>
            </a:r>
            <a:r>
              <a:rPr lang="en-ID" sz="1400" dirty="0" err="1"/>
              <a:t>umumnya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20–30%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token </a:t>
            </a:r>
            <a:r>
              <a:rPr lang="en-ID" sz="1400" dirty="0" err="1"/>
              <a:t>dibanding</a:t>
            </a:r>
            <a:r>
              <a:rPr lang="en-ID" sz="1400" dirty="0"/>
              <a:t> </a:t>
            </a:r>
            <a:r>
              <a:rPr lang="en-ID" sz="1400" dirty="0" err="1"/>
              <a:t>bahasa</a:t>
            </a:r>
            <a:r>
              <a:rPr lang="en-ID" sz="1400" dirty="0"/>
              <a:t> </a:t>
            </a:r>
            <a:r>
              <a:rPr lang="en-ID" sz="1400" dirty="0" err="1"/>
              <a:t>Inggris</a:t>
            </a:r>
            <a:r>
              <a:rPr lang="en-ID" sz="14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ID" sz="1400" dirty="0"/>
              <a:t>Uji Coba di </a:t>
            </a:r>
            <a:r>
              <a:rPr lang="en-ID" sz="1400" dirty="0">
                <a:hlinkClick r:id="rId3"/>
              </a:rPr>
              <a:t>https://platform.openai.com/tokenizer</a:t>
            </a: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5CD723-065C-6BD4-1B43-52A29E284F8E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069985-ECF2-508A-2B9B-A87E9832F3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453072"/>
              </p:ext>
            </p:extLst>
          </p:nvPr>
        </p:nvGraphicFramePr>
        <p:xfrm>
          <a:off x="458788" y="2545551"/>
          <a:ext cx="11553824" cy="1943100"/>
        </p:xfrm>
        <a:graphic>
          <a:graphicData uri="http://schemas.openxmlformats.org/drawingml/2006/table">
            <a:tbl>
              <a:tblPr/>
              <a:tblGrid>
                <a:gridCol w="4303712">
                  <a:extLst>
                    <a:ext uri="{9D8B030D-6E8A-4147-A177-3AD203B41FA5}">
                      <a16:colId xmlns:a16="http://schemas.microsoft.com/office/drawing/2014/main" val="124137100"/>
                    </a:ext>
                  </a:extLst>
                </a:gridCol>
                <a:gridCol w="7250112">
                  <a:extLst>
                    <a:ext uri="{9D8B030D-6E8A-4147-A177-3AD203B41FA5}">
                      <a16:colId xmlns:a16="http://schemas.microsoft.com/office/drawing/2014/main" val="25436821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>
                          <a:effectLst/>
                        </a:rPr>
                        <a:t>Teks yang Anda </a:t>
                      </a:r>
                      <a:r>
                        <a:rPr lang="en-ID" sz="1800" b="1" dirty="0" err="1">
                          <a:effectLst/>
                        </a:rPr>
                        <a:t>tulis</a:t>
                      </a:r>
                      <a:endParaRPr lang="en-ID" sz="1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b="1" dirty="0" err="1">
                          <a:effectLst/>
                        </a:rPr>
                        <a:t>Perkiraan</a:t>
                      </a:r>
                      <a:r>
                        <a:rPr lang="en-ID" sz="1800" b="1" dirty="0">
                          <a:effectLst/>
                        </a:rPr>
                        <a:t> </a:t>
                      </a:r>
                      <a:r>
                        <a:rPr lang="en-ID" sz="1800" b="1" dirty="0" err="1">
                          <a:effectLst/>
                        </a:rPr>
                        <a:t>jumlah</a:t>
                      </a:r>
                      <a:r>
                        <a:rPr lang="en-ID" sz="1800" b="1" dirty="0">
                          <a:effectLst/>
                        </a:rPr>
                        <a:t> token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21827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effectLst/>
                          <a:latin typeface="var(--fontStack-monospace,ui-monospace, SFMono-Regular, SF Mono, Menlo, Consolas, Liberation Mono, monospace)"/>
                        </a:rPr>
                        <a:t>Hello</a:t>
                      </a:r>
                      <a:endParaRPr lang="en-ID" sz="180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effectLst/>
                        </a:rPr>
                        <a:t>1 token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36259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effectLst/>
                          <a:latin typeface="var(--fontStack-monospace,ui-monospace, SFMono-Regular, SF Mono, Menlo, Consolas, Liberation Mono, monospace)"/>
                        </a:rPr>
                        <a:t>Halo</a:t>
                      </a:r>
                      <a:endParaRPr lang="en-ID" sz="18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effectLst/>
                        </a:rPr>
                        <a:t>1 token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0743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effectLst/>
                          <a:latin typeface="var(--fontStack-monospace,ui-monospace, SFMono-Regular, SF Mono, Menlo, Consolas, Liberation Mono, monospace)"/>
                        </a:rPr>
                        <a:t>Multimatics</a:t>
                      </a:r>
                      <a:endParaRPr lang="en-ID" sz="180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>
                          <a:effectLst/>
                        </a:rPr>
                        <a:t>3–4 token (dipecah menjadi </a:t>
                      </a:r>
                      <a:r>
                        <a:rPr lang="en-ID" sz="1800">
                          <a:effectLst/>
                          <a:latin typeface="var(--fontStack-monospace,ui-monospace, SFMono-Regular, SF Mono, Menlo, Consolas, Liberation Mono, monospace)"/>
                        </a:rPr>
                        <a:t>Multi</a:t>
                      </a:r>
                      <a:r>
                        <a:rPr lang="en-ID" sz="1800">
                          <a:effectLst/>
                        </a:rPr>
                        <a:t> + </a:t>
                      </a:r>
                      <a:r>
                        <a:rPr lang="en-ID" sz="1800">
                          <a:effectLst/>
                          <a:latin typeface="var(--fontStack-monospace,ui-monospace, SFMono-Regular, SF Mono, Menlo, Consolas, Liberation Mono, monospace)"/>
                        </a:rPr>
                        <a:t>matics</a:t>
                      </a:r>
                      <a:r>
                        <a:rPr lang="en-ID" sz="180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99823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effectLst/>
                        </a:rPr>
                        <a:t>1 </a:t>
                      </a:r>
                      <a:r>
                        <a:rPr lang="en-ID" sz="1800" dirty="0" err="1">
                          <a:effectLst/>
                        </a:rPr>
                        <a:t>kalimat</a:t>
                      </a:r>
                      <a:r>
                        <a:rPr lang="en-ID" sz="1800" dirty="0">
                          <a:effectLst/>
                        </a:rPr>
                        <a:t> Bahasa Indonesia (10 kata)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>
                          <a:effectLst/>
                        </a:rPr>
                        <a:t>15–25 token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16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850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5126-A3CE-2FE6-E790-E482EDA5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2356-2666-A7A4-D2D4-24BEAEE7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Context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3643B-3D52-D781-1F9E-D293EE9E1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3873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Context window </a:t>
            </a:r>
            <a:r>
              <a:rPr lang="en-ID" sz="1800" dirty="0" err="1"/>
              <a:t>adalah</a:t>
            </a:r>
            <a:r>
              <a:rPr lang="en-ID" sz="1800" dirty="0"/>
              <a:t> "</a:t>
            </a:r>
            <a:r>
              <a:rPr lang="en-ID" sz="1800" dirty="0" err="1"/>
              <a:t>kapasitas</a:t>
            </a:r>
            <a:r>
              <a:rPr lang="en-ID" sz="1800" dirty="0"/>
              <a:t> </a:t>
            </a:r>
            <a:r>
              <a:rPr lang="en-ID" sz="1800" dirty="0" err="1"/>
              <a:t>memori</a:t>
            </a:r>
            <a:r>
              <a:rPr lang="en-ID" sz="1800" dirty="0"/>
              <a:t> </a:t>
            </a:r>
            <a:r>
              <a:rPr lang="en-ID" sz="1800" dirty="0" err="1"/>
              <a:t>jangka</a:t>
            </a:r>
            <a:r>
              <a:rPr lang="en-ID" sz="1800" dirty="0"/>
              <a:t> </a:t>
            </a:r>
            <a:r>
              <a:rPr lang="en-ID" sz="1800" dirty="0" err="1"/>
              <a:t>pendek</a:t>
            </a:r>
            <a:r>
              <a:rPr lang="en-ID" sz="1800" dirty="0"/>
              <a:t>" model, </a:t>
            </a:r>
            <a:r>
              <a:rPr lang="en-ID" sz="1800" dirty="0" err="1"/>
              <a:t>yaitu</a:t>
            </a:r>
            <a:r>
              <a:rPr lang="en-ID" sz="1800" dirty="0"/>
              <a:t> total token (input + output) yang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diproses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 </a:t>
            </a:r>
            <a:r>
              <a:rPr lang="en-ID" sz="1800" dirty="0" err="1"/>
              <a:t>satu</a:t>
            </a:r>
            <a:r>
              <a:rPr lang="en-ID" sz="1800" dirty="0"/>
              <a:t> kali </a:t>
            </a:r>
            <a:r>
              <a:rPr lang="en-ID" sz="1800" dirty="0" err="1"/>
              <a:t>pengiriman</a:t>
            </a:r>
            <a:r>
              <a:rPr lang="en-ID" sz="1800" dirty="0"/>
              <a:t> </a:t>
            </a:r>
            <a:r>
              <a:rPr lang="en-ID" sz="1800" dirty="0" err="1"/>
              <a:t>pesan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 err="1"/>
              <a:t>Analogi</a:t>
            </a:r>
            <a:r>
              <a:rPr lang="en-ID" sz="1800" dirty="0"/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 err="1"/>
              <a:t>Bayangkan</a:t>
            </a:r>
            <a:r>
              <a:rPr lang="en-ID" sz="1800" dirty="0"/>
              <a:t> context window </a:t>
            </a:r>
            <a:r>
              <a:rPr lang="en-ID" sz="1800" dirty="0" err="1"/>
              <a:t>sebagai</a:t>
            </a:r>
            <a:r>
              <a:rPr lang="en-ID" sz="1800" dirty="0"/>
              <a:t> </a:t>
            </a:r>
            <a:r>
              <a:rPr lang="en-ID" sz="1800" dirty="0" err="1"/>
              <a:t>meja</a:t>
            </a:r>
            <a:r>
              <a:rPr lang="en-ID" sz="1800" dirty="0"/>
              <a:t> </a:t>
            </a:r>
            <a:r>
              <a:rPr lang="en-ID" sz="1800" dirty="0" err="1"/>
              <a:t>kerja</a:t>
            </a:r>
            <a:r>
              <a:rPr lang="en-ID" sz="1800" dirty="0"/>
              <a:t> model. 200.000 token </a:t>
            </a:r>
            <a:r>
              <a:rPr lang="en-ID" sz="1800" dirty="0" err="1"/>
              <a:t>berarti</a:t>
            </a:r>
            <a:r>
              <a:rPr lang="en-ID" sz="1800" dirty="0"/>
              <a:t> </a:t>
            </a:r>
            <a:r>
              <a:rPr lang="en-ID" sz="1800" dirty="0" err="1"/>
              <a:t>meja</a:t>
            </a:r>
            <a:r>
              <a:rPr lang="en-ID" sz="1800" dirty="0"/>
              <a:t> yang sangat </a:t>
            </a:r>
            <a:r>
              <a:rPr lang="en-ID" sz="1800" dirty="0" err="1"/>
              <a:t>luas</a:t>
            </a:r>
            <a:r>
              <a:rPr lang="en-ID" sz="1800" dirty="0"/>
              <a:t>, </a:t>
            </a:r>
            <a:r>
              <a:rPr lang="en-ID" sz="1800" dirty="0" err="1"/>
              <a:t>mampu</a:t>
            </a:r>
            <a:r>
              <a:rPr lang="en-ID" sz="1800" dirty="0"/>
              <a:t> </a:t>
            </a:r>
            <a:r>
              <a:rPr lang="en-ID" sz="1800" dirty="0" err="1"/>
              <a:t>menampung</a:t>
            </a:r>
            <a:r>
              <a:rPr lang="en-ID" sz="1800" dirty="0"/>
              <a:t> </a:t>
            </a:r>
            <a:r>
              <a:rPr lang="en-ID" sz="1800" dirty="0" err="1"/>
              <a:t>buku-buku</a:t>
            </a:r>
            <a:r>
              <a:rPr lang="en-ID" sz="1800" dirty="0"/>
              <a:t> </a:t>
            </a:r>
            <a:r>
              <a:rPr lang="en-ID" sz="1800" dirty="0" err="1"/>
              <a:t>tebal</a:t>
            </a:r>
            <a:r>
              <a:rPr lang="en-ID" sz="1800" dirty="0"/>
              <a:t> </a:t>
            </a:r>
            <a:r>
              <a:rPr lang="en-ID" sz="1800" dirty="0" err="1"/>
              <a:t>sekaligus</a:t>
            </a:r>
            <a:r>
              <a:rPr lang="en-ID" sz="1800" dirty="0"/>
              <a:t>. </a:t>
            </a:r>
            <a:r>
              <a:rPr lang="en-ID" sz="1800" dirty="0" err="1"/>
              <a:t>Namun</a:t>
            </a:r>
            <a:r>
              <a:rPr lang="en-ID" sz="1800" dirty="0"/>
              <a:t> </a:t>
            </a:r>
            <a:r>
              <a:rPr lang="en-ID" sz="1800" dirty="0" err="1"/>
              <a:t>jika</a:t>
            </a:r>
            <a:r>
              <a:rPr lang="en-ID" sz="1800" dirty="0"/>
              <a:t> Anda </a:t>
            </a:r>
            <a:r>
              <a:rPr lang="en-ID" sz="1800" dirty="0" err="1"/>
              <a:t>meletakkan</a:t>
            </a:r>
            <a:r>
              <a:rPr lang="en-ID" sz="1800" dirty="0"/>
              <a:t> </a:t>
            </a:r>
            <a:r>
              <a:rPr lang="en-ID" sz="1800" dirty="0" err="1"/>
              <a:t>terlalu</a:t>
            </a:r>
            <a:r>
              <a:rPr lang="en-ID" sz="1800" dirty="0"/>
              <a:t>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dirty="0" err="1"/>
              <a:t>buku</a:t>
            </a:r>
            <a:r>
              <a:rPr lang="en-ID" sz="1800" dirty="0"/>
              <a:t>, </a:t>
            </a:r>
            <a:r>
              <a:rPr lang="en-ID" sz="1800" dirty="0" err="1"/>
              <a:t>meja</a:t>
            </a:r>
            <a:r>
              <a:rPr lang="en-ID" sz="1800" dirty="0"/>
              <a:t> </a:t>
            </a:r>
            <a:r>
              <a:rPr lang="en-ID" sz="1800" dirty="0" err="1"/>
              <a:t>akan</a:t>
            </a:r>
            <a:r>
              <a:rPr lang="en-ID" sz="1800" dirty="0"/>
              <a:t> </a:t>
            </a:r>
            <a:r>
              <a:rPr lang="en-ID" sz="1800" dirty="0" err="1"/>
              <a:t>penuh</a:t>
            </a:r>
            <a:r>
              <a:rPr lang="en-ID" sz="1800" dirty="0"/>
              <a:t> dan model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mulai</a:t>
            </a:r>
            <a:r>
              <a:rPr lang="en-ID" sz="1800" dirty="0"/>
              <a:t> </a:t>
            </a:r>
            <a:r>
              <a:rPr lang="en-ID" sz="1800" dirty="0" err="1"/>
              <a:t>mengabaikan</a:t>
            </a:r>
            <a:r>
              <a:rPr lang="en-ID" sz="1800" dirty="0"/>
              <a:t> yang </a:t>
            </a:r>
            <a:r>
              <a:rPr lang="en-ID" sz="1800" dirty="0" err="1"/>
              <a:t>lebih</a:t>
            </a:r>
            <a:r>
              <a:rPr lang="en-ID" sz="1800" dirty="0"/>
              <a:t> lama.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E14020-5914-C8F3-297E-47BF249F4B9C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0B3246-7038-C1C6-A19D-341870D97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317667"/>
              </p:ext>
            </p:extLst>
          </p:nvPr>
        </p:nvGraphicFramePr>
        <p:xfrm>
          <a:off x="433388" y="2651760"/>
          <a:ext cx="11553825" cy="1554480"/>
        </p:xfrm>
        <a:graphic>
          <a:graphicData uri="http://schemas.openxmlformats.org/drawingml/2006/table">
            <a:tbl>
              <a:tblPr/>
              <a:tblGrid>
                <a:gridCol w="2208212">
                  <a:extLst>
                    <a:ext uri="{9D8B030D-6E8A-4147-A177-3AD203B41FA5}">
                      <a16:colId xmlns:a16="http://schemas.microsoft.com/office/drawing/2014/main" val="990154674"/>
                    </a:ext>
                  </a:extLst>
                </a:gridCol>
                <a:gridCol w="5494338">
                  <a:extLst>
                    <a:ext uri="{9D8B030D-6E8A-4147-A177-3AD203B41FA5}">
                      <a16:colId xmlns:a16="http://schemas.microsoft.com/office/drawing/2014/main" val="183362999"/>
                    </a:ext>
                  </a:extLst>
                </a:gridCol>
                <a:gridCol w="3851275">
                  <a:extLst>
                    <a:ext uri="{9D8B030D-6E8A-4147-A177-3AD203B41FA5}">
                      <a16:colId xmlns:a16="http://schemas.microsoft.com/office/drawing/2014/main" val="2553721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Model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Context Window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>
                          <a:effectLst/>
                        </a:rPr>
                        <a:t>Catatan</a:t>
                      </a:r>
                      <a:endParaRPr lang="en-ID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3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Haiku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200.000 token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Cepat &amp; ekonomis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22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Sonnet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200.000 (</a:t>
                      </a:r>
                      <a:r>
                        <a:rPr lang="en-ID" dirty="0" err="1">
                          <a:effectLst/>
                        </a:rPr>
                        <a:t>hingga</a:t>
                      </a:r>
                      <a:r>
                        <a:rPr lang="en-ID" dirty="0">
                          <a:effectLst/>
                        </a:rPr>
                        <a:t> 1 </a:t>
                      </a:r>
                      <a:r>
                        <a:rPr lang="en-ID" dirty="0" err="1">
                          <a:effectLst/>
                        </a:rPr>
                        <a:t>juta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untuk</a:t>
                      </a:r>
                      <a:r>
                        <a:rPr lang="en-ID" dirty="0">
                          <a:effectLst/>
                        </a:rPr>
                        <a:t> tier </a:t>
                      </a:r>
                      <a:r>
                        <a:rPr lang="en-ID" dirty="0" err="1">
                          <a:effectLst/>
                        </a:rPr>
                        <a:t>khusus</a:t>
                      </a:r>
                      <a:r>
                        <a:rPr lang="en-ID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Pilihan serbaguna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Opus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200.000 (hingga 1 juta untuk tier khusus)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Reasoning </a:t>
                      </a:r>
                      <a:r>
                        <a:rPr lang="en-ID" dirty="0" err="1">
                          <a:effectLst/>
                        </a:rPr>
                        <a:t>terbaik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38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101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B025-0831-A043-A15A-577C4EFA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F6FF-E50A-7E9B-409E-AB12ED7A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AI </a:t>
            </a:r>
            <a:r>
              <a:rPr lang="en-ID" b="1" dirty="0" err="1"/>
              <a:t>Ecosistem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33C8F-61E3-9B98-5EA2-7CB6186A9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614458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 err="1"/>
              <a:t>Ekosistem</a:t>
            </a:r>
            <a:r>
              <a:rPr lang="en-ID" sz="1800" dirty="0"/>
              <a:t> AI </a:t>
            </a:r>
            <a:r>
              <a:rPr lang="en-ID" sz="1800" dirty="0" err="1"/>
              <a:t>terdiri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beberapa</a:t>
            </a:r>
            <a:r>
              <a:rPr lang="en-ID" sz="1800" dirty="0"/>
              <a:t> </a:t>
            </a:r>
            <a:r>
              <a:rPr lang="en-ID" sz="1800" dirty="0" err="1"/>
              <a:t>lapisan</a:t>
            </a:r>
            <a:r>
              <a:rPr lang="en-ID" sz="18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pengguna</a:t>
            </a:r>
            <a:r>
              <a:rPr lang="en-ID" sz="1800" dirty="0"/>
              <a:t> </a:t>
            </a:r>
            <a:r>
              <a:rPr lang="en-ID" sz="1800" dirty="0" err="1"/>
              <a:t>bisnis</a:t>
            </a:r>
            <a:r>
              <a:rPr lang="en-ID" sz="1800" dirty="0"/>
              <a:t>, Anda </a:t>
            </a:r>
            <a:r>
              <a:rPr lang="en-ID" sz="1800" dirty="0" err="1"/>
              <a:t>beroperasi</a:t>
            </a:r>
            <a:r>
              <a:rPr lang="en-ID" sz="1800" dirty="0"/>
              <a:t> di </a:t>
            </a:r>
            <a:r>
              <a:rPr lang="en-ID" sz="1800" dirty="0" err="1"/>
              <a:t>lapisan</a:t>
            </a:r>
            <a:r>
              <a:rPr lang="en-ID" sz="1800" dirty="0"/>
              <a:t> </a:t>
            </a:r>
            <a:r>
              <a:rPr lang="en-ID" sz="1800" b="1" dirty="0"/>
              <a:t>Applications &amp; Interfaces</a:t>
            </a:r>
            <a:r>
              <a:rPr lang="en-ID" sz="1800" dirty="0"/>
              <a:t> — </a:t>
            </a:r>
            <a:r>
              <a:rPr lang="en-ID" sz="1800" dirty="0" err="1"/>
              <a:t>namun</a:t>
            </a:r>
            <a:r>
              <a:rPr lang="en-ID" sz="1800" dirty="0"/>
              <a:t> </a:t>
            </a:r>
            <a:r>
              <a:rPr lang="en-ID" sz="1800" dirty="0" err="1"/>
              <a:t>memahami</a:t>
            </a:r>
            <a:r>
              <a:rPr lang="en-ID" sz="1800" dirty="0"/>
              <a:t> </a:t>
            </a:r>
            <a:r>
              <a:rPr lang="en-ID" sz="1800" dirty="0" err="1"/>
              <a:t>lapisan</a:t>
            </a:r>
            <a:r>
              <a:rPr lang="en-ID" sz="1800" dirty="0"/>
              <a:t> di </a:t>
            </a:r>
            <a:r>
              <a:rPr lang="en-ID" sz="1800" dirty="0" err="1"/>
              <a:t>bawahnya</a:t>
            </a:r>
            <a:r>
              <a:rPr lang="en-ID" sz="1800" dirty="0"/>
              <a:t> </a:t>
            </a:r>
            <a:r>
              <a:rPr lang="en-ID" sz="1800" dirty="0" err="1"/>
              <a:t>akan</a:t>
            </a:r>
            <a:r>
              <a:rPr lang="en-ID" sz="1800" dirty="0"/>
              <a:t> </a:t>
            </a:r>
            <a:r>
              <a:rPr lang="en-ID" sz="1800" dirty="0" err="1"/>
              <a:t>membuat</a:t>
            </a:r>
            <a:r>
              <a:rPr lang="en-ID" sz="1800" dirty="0"/>
              <a:t> Anda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efektif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merancang</a:t>
            </a:r>
            <a:r>
              <a:rPr lang="en-ID" sz="1800" dirty="0"/>
              <a:t> prompt.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F466EB-5013-2882-AF83-21629348F87E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06735-72D7-C326-A7DC-61244CEB7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8" y="2340817"/>
            <a:ext cx="10310723" cy="290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33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E296-DD29-DF37-25C6-6F966360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FF103-1070-A428-98CF-F9CA84A3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Keterbatasan</a:t>
            </a:r>
            <a:r>
              <a:rPr lang="en-ID" b="1" dirty="0"/>
              <a:t> yang Wajib </a:t>
            </a:r>
            <a:r>
              <a:rPr lang="en-ID" b="1" dirty="0" err="1"/>
              <a:t>Dipahami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EBC46-DCA7-6844-7460-48C88F5B4194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Bagian </a:t>
            </a:r>
            <a:r>
              <a:rPr lang="en-ID" sz="1800" dirty="0" err="1"/>
              <a:t>ini</a:t>
            </a:r>
            <a:r>
              <a:rPr lang="en-ID" sz="1800" dirty="0"/>
              <a:t> sangat </a:t>
            </a:r>
            <a:r>
              <a:rPr lang="en-ID" sz="1800" dirty="0" err="1"/>
              <a:t>penting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Anda </a:t>
            </a:r>
            <a:r>
              <a:rPr lang="en-ID" sz="1800" dirty="0" err="1"/>
              <a:t>pahami</a:t>
            </a:r>
            <a:r>
              <a:rPr lang="en-ID" sz="1800" dirty="0"/>
              <a:t> </a:t>
            </a:r>
            <a:r>
              <a:rPr lang="en-ID" sz="1800" dirty="0" err="1"/>
              <a:t>sebelum</a:t>
            </a:r>
            <a:r>
              <a:rPr lang="en-ID" sz="1800" dirty="0"/>
              <a:t> </a:t>
            </a:r>
            <a:r>
              <a:rPr lang="en-ID" sz="1800" dirty="0" err="1"/>
              <a:t>menggunakan</a:t>
            </a:r>
            <a:r>
              <a:rPr lang="en-ID" sz="1800" dirty="0"/>
              <a:t> Copilot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pekerjaan</a:t>
            </a:r>
            <a:r>
              <a:rPr lang="en-ID" sz="1800" dirty="0"/>
              <a:t> </a:t>
            </a:r>
            <a:r>
              <a:rPr lang="en-ID" sz="1800" dirty="0" err="1"/>
              <a:t>produksi</a:t>
            </a:r>
            <a:r>
              <a:rPr lang="en-ID" sz="1800" dirty="0"/>
              <a:t>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F6E4CD-190B-DB48-F510-07CA763456AB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18DD9-BF74-E9BE-C307-CD2061E35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614458"/>
            <a:ext cx="10502900" cy="406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87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AF510-68C6-9BBE-95E8-A1C220324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F1F07-4452-E8A0-E47B-F3B95A5975AB}"/>
              </a:ext>
            </a:extLst>
          </p:cNvPr>
          <p:cNvSpPr txBox="1"/>
          <p:nvPr/>
        </p:nvSpPr>
        <p:spPr>
          <a:xfrm>
            <a:off x="806774" y="1646103"/>
            <a:ext cx="6883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Prompt Engineering Fundamental</a:t>
            </a: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871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84652-447A-3F72-D3E9-00C2CC5B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B038-8BF4-ADFE-927B-B18F0489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Prompt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EC44D-16D0-04F5-609D-44612BA84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57992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Seni dan </a:t>
            </a:r>
            <a:r>
              <a:rPr lang="en-ID" sz="1600" dirty="0" err="1"/>
              <a:t>ilmu</a:t>
            </a:r>
            <a:r>
              <a:rPr lang="en-ID" sz="1600" dirty="0"/>
              <a:t> </a:t>
            </a:r>
            <a:r>
              <a:rPr lang="en-ID" sz="1600" dirty="0" err="1"/>
              <a:t>merancang</a:t>
            </a:r>
            <a:r>
              <a:rPr lang="en-ID" sz="1600" dirty="0"/>
              <a:t> input (prompt) yang </a:t>
            </a:r>
            <a:r>
              <a:rPr lang="en-ID" sz="1600" dirty="0" err="1"/>
              <a:t>efektif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menghasilkan</a:t>
            </a:r>
            <a:r>
              <a:rPr lang="en-ID" sz="1600" dirty="0"/>
              <a:t> output optimal </a:t>
            </a:r>
            <a:r>
              <a:rPr lang="en-ID" sz="1600" dirty="0" err="1"/>
              <a:t>dari</a:t>
            </a:r>
            <a:r>
              <a:rPr lang="en-ID" sz="1600" dirty="0"/>
              <a:t> model AI.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Mengapa</a:t>
            </a:r>
            <a:r>
              <a:rPr lang="en-ID" sz="1600" b="1" dirty="0"/>
              <a:t> </a:t>
            </a:r>
            <a:r>
              <a:rPr lang="en-ID" sz="1600" b="1" dirty="0" err="1"/>
              <a:t>ini</a:t>
            </a:r>
            <a:r>
              <a:rPr lang="en-ID" sz="1600" b="1" dirty="0"/>
              <a:t> </a:t>
            </a:r>
            <a:r>
              <a:rPr lang="en-ID" sz="1600" b="1" dirty="0" err="1"/>
              <a:t>Penting</a:t>
            </a:r>
            <a:r>
              <a:rPr lang="en-ID" sz="1600" b="1" dirty="0"/>
              <a:t> : Model yang </a:t>
            </a:r>
            <a:r>
              <a:rPr lang="en-ID" sz="1600" b="1" dirty="0" err="1"/>
              <a:t>sama</a:t>
            </a:r>
            <a:r>
              <a:rPr lang="en-ID" sz="1600" b="1" dirty="0"/>
              <a:t> </a:t>
            </a:r>
            <a:r>
              <a:rPr lang="en-ID" sz="1600" b="1" dirty="0" err="1"/>
              <a:t>bisa</a:t>
            </a:r>
            <a:r>
              <a:rPr lang="en-ID" sz="1600" b="1" dirty="0"/>
              <a:t> </a:t>
            </a:r>
            <a:r>
              <a:rPr lang="en-ID" sz="1600" b="1" dirty="0" err="1"/>
              <a:t>menghasilkan</a:t>
            </a:r>
            <a:r>
              <a:rPr lang="en-ID" sz="1600" b="1" dirty="0"/>
              <a:t> output yang sangat </a:t>
            </a:r>
            <a:r>
              <a:rPr lang="en-ID" sz="1600" b="1" dirty="0" err="1"/>
              <a:t>berbeda</a:t>
            </a:r>
            <a:r>
              <a:rPr lang="en-ID" sz="1600" b="1" dirty="0"/>
              <a:t> </a:t>
            </a:r>
            <a:r>
              <a:rPr lang="en-ID" sz="1600" b="1" dirty="0" err="1"/>
              <a:t>tergantung</a:t>
            </a:r>
            <a:r>
              <a:rPr lang="en-ID" sz="1600" b="1" dirty="0"/>
              <a:t> </a:t>
            </a:r>
            <a:r>
              <a:rPr lang="en-ID" sz="1600" b="1" dirty="0" err="1"/>
              <a:t>cara</a:t>
            </a:r>
            <a:r>
              <a:rPr lang="en-ID" sz="1600" b="1" dirty="0"/>
              <a:t> Anda </a:t>
            </a:r>
            <a:r>
              <a:rPr lang="en-ID" sz="1600" b="1" dirty="0" err="1"/>
              <a:t>menulis</a:t>
            </a:r>
            <a:r>
              <a:rPr lang="en-ID" sz="1600" b="1" dirty="0"/>
              <a:t> prompt: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Analogi</a:t>
            </a:r>
            <a:r>
              <a:rPr lang="en-ID" sz="1600" dirty="0"/>
              <a:t>: Prompt engineering = </a:t>
            </a:r>
            <a:r>
              <a:rPr lang="en-ID" sz="1600" dirty="0" err="1"/>
              <a:t>menulis</a:t>
            </a:r>
            <a:r>
              <a:rPr lang="en-ID" sz="1600" dirty="0"/>
              <a:t> brief yang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desainer</a:t>
            </a:r>
            <a:r>
              <a:rPr lang="en-ID" sz="1600" dirty="0"/>
              <a:t> </a:t>
            </a:r>
            <a:r>
              <a:rPr lang="en-ID" sz="1600" dirty="0" err="1"/>
              <a:t>grafis</a:t>
            </a:r>
            <a:r>
              <a:rPr lang="en-ID" sz="1600" dirty="0"/>
              <a:t>. </a:t>
            </a:r>
            <a:r>
              <a:rPr lang="en-ID" sz="1600" dirty="0" err="1"/>
              <a:t>Semakin</a:t>
            </a:r>
            <a:r>
              <a:rPr lang="en-ID" sz="1600" dirty="0"/>
              <a:t> </a:t>
            </a:r>
            <a:r>
              <a:rPr lang="en-ID" sz="1600" dirty="0" err="1"/>
              <a:t>jelas</a:t>
            </a:r>
            <a:r>
              <a:rPr lang="en-ID" sz="1600" dirty="0"/>
              <a:t> brief, </a:t>
            </a:r>
            <a:r>
              <a:rPr lang="en-ID" sz="1600" dirty="0" err="1"/>
              <a:t>semakin</a:t>
            </a:r>
            <a:r>
              <a:rPr lang="en-ID" sz="1600" dirty="0"/>
              <a:t> </a:t>
            </a:r>
            <a:r>
              <a:rPr lang="en-ID" sz="1600" dirty="0" err="1"/>
              <a:t>dekat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ekspektasi</a:t>
            </a:r>
            <a:r>
              <a:rPr lang="en-ID" sz="1600" dirty="0"/>
              <a:t> — dan </a:t>
            </a:r>
            <a:r>
              <a:rPr lang="en-ID" sz="1600" dirty="0" err="1"/>
              <a:t>semakin</a:t>
            </a:r>
            <a:r>
              <a:rPr lang="en-ID" sz="1600" dirty="0"/>
              <a:t> </a:t>
            </a:r>
            <a:r>
              <a:rPr lang="en-ID" sz="1600" dirty="0" err="1"/>
              <a:t>sedikit</a:t>
            </a:r>
            <a:r>
              <a:rPr lang="en-ID" sz="1600" dirty="0"/>
              <a:t> </a:t>
            </a:r>
            <a:r>
              <a:rPr lang="en-ID" sz="1600" dirty="0" err="1"/>
              <a:t>revisi</a:t>
            </a:r>
            <a:r>
              <a:rPr lang="en-ID" sz="1600" dirty="0"/>
              <a:t> yang </a:t>
            </a:r>
            <a:r>
              <a:rPr lang="en-ID" sz="1600" dirty="0" err="1"/>
              <a:t>dibutuhkan</a:t>
            </a:r>
            <a:r>
              <a:rPr lang="en-ID" sz="1600" dirty="0"/>
              <a:t>.</a:t>
            </a:r>
            <a:endParaRPr lang="en-ID" sz="16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97C5DE-BAF7-9F97-8017-1A87C304A2A2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C2190-4CF8-1350-8D3A-653489824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97" y="2917593"/>
            <a:ext cx="6533264" cy="248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12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B34B1-A2C5-E6F6-6CD6-AA1224133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5AFB-7298-28B7-427C-CA6049D9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Komponen</a:t>
            </a:r>
            <a:r>
              <a:rPr lang="en-ID" b="1" dirty="0"/>
              <a:t>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7123-259A-27C8-C880-696A80ED8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14145"/>
            <a:ext cx="11553646" cy="4351338"/>
          </a:xfrm>
          <a:ln w="28575">
            <a:noFill/>
            <a:prstDash val="dash"/>
          </a:ln>
        </p:spPr>
        <p:txBody>
          <a:bodyPr lIns="180000" tIns="180000" rIns="180000" numCol="1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Prompt yang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umumnya</a:t>
            </a:r>
            <a:r>
              <a:rPr lang="en-ID" sz="1600" dirty="0"/>
              <a:t> </a:t>
            </a:r>
            <a:r>
              <a:rPr lang="en-ID" sz="1600" dirty="0" err="1"/>
              <a:t>terdiri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5 </a:t>
            </a:r>
            <a:r>
              <a:rPr lang="en-ID" sz="1600" dirty="0" err="1"/>
              <a:t>komponen</a:t>
            </a:r>
            <a:r>
              <a:rPr lang="en-ID" sz="1600" dirty="0"/>
              <a:t>. Tidak </a:t>
            </a:r>
            <a:r>
              <a:rPr lang="en-ID" sz="1600" dirty="0" err="1"/>
              <a:t>semuanya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di </a:t>
            </a:r>
            <a:r>
              <a:rPr lang="en-ID" sz="1600" dirty="0" err="1"/>
              <a:t>setiap</a:t>
            </a:r>
            <a:r>
              <a:rPr lang="en-ID" sz="1600" dirty="0"/>
              <a:t> prompt — </a:t>
            </a:r>
            <a:r>
              <a:rPr lang="en-ID" sz="1600" dirty="0" err="1"/>
              <a:t>tapi</a:t>
            </a:r>
            <a:r>
              <a:rPr lang="en-ID" sz="1600" dirty="0"/>
              <a:t> </a:t>
            </a:r>
            <a:r>
              <a:rPr lang="en-ID" sz="1600" dirty="0" err="1"/>
              <a:t>semakin</a:t>
            </a:r>
            <a:r>
              <a:rPr lang="en-ID" sz="1600" dirty="0"/>
              <a:t> </a:t>
            </a:r>
            <a:r>
              <a:rPr lang="en-ID" sz="1600" dirty="0" err="1"/>
              <a:t>kompleks</a:t>
            </a:r>
            <a:r>
              <a:rPr lang="en-ID" sz="1600" dirty="0"/>
              <a:t> task, </a:t>
            </a:r>
            <a:r>
              <a:rPr lang="en-ID" sz="1600" dirty="0" err="1"/>
              <a:t>semakin</a:t>
            </a:r>
            <a:r>
              <a:rPr lang="en-ID" sz="1600" dirty="0"/>
              <a:t> </a:t>
            </a:r>
            <a:r>
              <a:rPr lang="en-ID" sz="1600" dirty="0" err="1"/>
              <a:t>banyak</a:t>
            </a:r>
            <a:r>
              <a:rPr lang="en-ID" sz="1600" dirty="0"/>
              <a:t> </a:t>
            </a:r>
            <a:r>
              <a:rPr lang="en-ID" sz="1600" dirty="0" err="1"/>
              <a:t>komponen</a:t>
            </a:r>
            <a:r>
              <a:rPr lang="en-ID" sz="1600" dirty="0"/>
              <a:t> yang </a:t>
            </a:r>
            <a:r>
              <a:rPr lang="en-ID" sz="1600" dirty="0" err="1"/>
              <a:t>dibutuhkan</a:t>
            </a:r>
            <a:r>
              <a:rPr lang="en-ID" sz="1600" dirty="0"/>
              <a:t>: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06E297-96F1-2EC0-D1FA-061EA9FA6A9F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02619-8C76-E2F6-99A9-7CEB31FDC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33" y="2421486"/>
            <a:ext cx="10459579" cy="348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72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94F11-DF66-54A3-E7E2-69CD4AFC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1299-64F6-B526-DD01-3A4DA4C2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Komponen</a:t>
            </a:r>
            <a:r>
              <a:rPr lang="en-ID" b="1" dirty="0"/>
              <a:t> Prompt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EB1D-2D39-E2BD-5C2E-E5BAED3D719A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numCol="1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Contoh</a:t>
            </a:r>
            <a:r>
              <a:rPr lang="en-ID" sz="1600" dirty="0"/>
              <a:t> :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ADB926-F98C-9133-7319-3BB01DEA4126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1ABA9-08C0-CE90-D7D3-5B2524964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83" y="1561647"/>
            <a:ext cx="10244453" cy="2439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C01144-DC25-0C69-6D4C-3328B5BDA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04" y="4225678"/>
            <a:ext cx="5102205" cy="172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70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78D6-E74F-ED1B-69E2-71A5C738D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516A-9E21-9632-E5DD-27ED7B70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Prompt Quality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DD42-2C58-9A9F-93BB-047197644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340993"/>
            <a:ext cx="11553646" cy="4351338"/>
          </a:xfrm>
          <a:ln w="28575">
            <a:noFill/>
            <a:prstDash val="dash"/>
          </a:ln>
        </p:spPr>
        <p:txBody>
          <a:bodyPr lIns="180000" tIns="180000" rIns="180000" numCol="1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Lima </a:t>
            </a:r>
            <a:r>
              <a:rPr lang="en-ID" sz="1600" dirty="0" err="1"/>
              <a:t>karakteristik</a:t>
            </a:r>
            <a:r>
              <a:rPr lang="en-ID" sz="1600" dirty="0"/>
              <a:t> prompt </a:t>
            </a:r>
            <a:r>
              <a:rPr lang="en-ID" sz="1600" dirty="0" err="1"/>
              <a:t>berkualitas</a:t>
            </a:r>
            <a:endParaRPr lang="en-ID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ID" sz="1600" dirty="0"/>
              <a:t>Clear –  </a:t>
            </a:r>
            <a:r>
              <a:rPr lang="en-ID" sz="1600" dirty="0" err="1"/>
              <a:t>Instruksi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ambigu</a:t>
            </a:r>
            <a:endParaRPr lang="en-ID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ID" sz="1600" dirty="0"/>
              <a:t>Specific — Detail yang </a:t>
            </a:r>
            <a:r>
              <a:rPr lang="en-ID" sz="1600" dirty="0" err="1"/>
              <a:t>cukup</a:t>
            </a: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ID" sz="1600" dirty="0"/>
              <a:t>Contextual - Ada </a:t>
            </a:r>
            <a:r>
              <a:rPr lang="en-ID" sz="1600" dirty="0" err="1"/>
              <a:t>latar</a:t>
            </a:r>
            <a:r>
              <a:rPr lang="en-ID" sz="1600" dirty="0"/>
              <a:t> </a:t>
            </a:r>
            <a:r>
              <a:rPr lang="en-ID" sz="1600" dirty="0" err="1"/>
              <a:t>belakang</a:t>
            </a: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6BB84F3-78B3-7765-8D6B-705F1FA85EFA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9997B-1635-A353-C39C-82829AD02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77" y="2467668"/>
            <a:ext cx="7772400" cy="9131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B6D4DA-A948-3272-71AB-227A8888B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77" y="3985175"/>
            <a:ext cx="7772400" cy="795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D26A22-19A4-8AEB-8615-3C6E8EB9A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877" y="5519437"/>
            <a:ext cx="7772400" cy="8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23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9B4B-26F8-7D06-D2D3-92FD26E6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B831-0B4E-4281-A17D-A97B4334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Prompt Quality Characteristics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F88C-F4F4-EEEB-7D7A-C5D7B96F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350137"/>
            <a:ext cx="11553646" cy="4351338"/>
          </a:xfrm>
          <a:ln w="28575">
            <a:noFill/>
            <a:prstDash val="dash"/>
          </a:ln>
        </p:spPr>
        <p:txBody>
          <a:bodyPr lIns="180000" tIns="180000" rIns="180000" numCol="1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Lima </a:t>
            </a:r>
            <a:r>
              <a:rPr lang="en-ID" sz="1600" dirty="0" err="1"/>
              <a:t>karakteristik</a:t>
            </a:r>
            <a:r>
              <a:rPr lang="en-ID" sz="1600" dirty="0"/>
              <a:t> prompt </a:t>
            </a:r>
            <a:r>
              <a:rPr lang="en-ID" sz="1600" dirty="0" err="1"/>
              <a:t>berkualitas</a:t>
            </a: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4. Structured – Format yang </a:t>
            </a:r>
            <a:r>
              <a:rPr lang="en-ID" sz="1600" dirty="0" err="1"/>
              <a:t>rapi</a:t>
            </a: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5. Actionable — </a:t>
            </a:r>
            <a:r>
              <a:rPr lang="en-ID" sz="1600" dirty="0" err="1"/>
              <a:t>Meminta</a:t>
            </a:r>
            <a:r>
              <a:rPr lang="en-ID" sz="1600" dirty="0"/>
              <a:t> </a:t>
            </a:r>
            <a:r>
              <a:rPr lang="en-ID" sz="1600" dirty="0" err="1"/>
              <a:t>tindakan</a:t>
            </a:r>
            <a:r>
              <a:rPr lang="en-ID" sz="1600" dirty="0"/>
              <a:t> </a:t>
            </a:r>
            <a:r>
              <a:rPr lang="en-ID" sz="1600" dirty="0" err="1"/>
              <a:t>konkret</a:t>
            </a:r>
            <a:endParaRPr lang="en-ID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73FEF1-EF74-CA28-2C33-A5B95F893FC2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6B3E3-AD7B-1A6D-1A59-3758521F4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79" y="2377390"/>
            <a:ext cx="7772400" cy="1443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49CA5B-9E9C-CE79-FEA3-50FDC4469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77" y="4413271"/>
            <a:ext cx="777240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26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1BFC-B046-D7EE-4302-8CBF125A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17E8-0189-2E76-1E40-9C670D11E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Prompt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9EB1B-A5F1-CB56-30F7-951CFA18F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614458"/>
            <a:ext cx="5935319" cy="4351338"/>
          </a:xfrm>
          <a:ln w="28575">
            <a:noFill/>
            <a:prstDash val="dash"/>
          </a:ln>
        </p:spPr>
        <p:txBody>
          <a:bodyPr lIns="180000" tIns="180000" rIns="180000" numCol="1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Prompt yang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lahir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sekali</a:t>
            </a:r>
            <a:r>
              <a:rPr lang="en-ID" sz="1600" dirty="0"/>
              <a:t> </a:t>
            </a:r>
            <a:r>
              <a:rPr lang="en-ID" sz="1600" dirty="0" err="1"/>
              <a:t>tulis</a:t>
            </a:r>
            <a:r>
              <a:rPr lang="en-ID" sz="1600" dirty="0"/>
              <a:t>. Ada </a:t>
            </a:r>
            <a:r>
              <a:rPr lang="en-ID" sz="1600" dirty="0" err="1"/>
              <a:t>siklus</a:t>
            </a:r>
            <a:r>
              <a:rPr lang="en-ID" sz="1600" dirty="0"/>
              <a:t> yang </a:t>
            </a:r>
            <a:r>
              <a:rPr lang="en-ID" sz="1600" dirty="0" err="1"/>
              <a:t>perlu</a:t>
            </a:r>
            <a:r>
              <a:rPr lang="en-ID" sz="1600" dirty="0"/>
              <a:t> </a:t>
            </a:r>
            <a:r>
              <a:rPr lang="en-ID" sz="1600" dirty="0" err="1"/>
              <a:t>diikuti</a:t>
            </a:r>
            <a:r>
              <a:rPr lang="en-ID" sz="1600" dirty="0"/>
              <a:t>:</a:t>
            </a:r>
          </a:p>
          <a:p>
            <a:pPr>
              <a:lnSpc>
                <a:spcPct val="150000"/>
              </a:lnSpc>
            </a:pPr>
            <a:r>
              <a:rPr lang="en-ID" sz="1600" b="1" dirty="0"/>
              <a:t>DEFINE</a:t>
            </a:r>
            <a:r>
              <a:rPr lang="en-ID" sz="1600" dirty="0"/>
              <a:t> → </a:t>
            </a:r>
            <a:r>
              <a:rPr lang="en-ID" sz="1600" b="1" dirty="0"/>
              <a:t>DRAFT</a:t>
            </a:r>
            <a:r>
              <a:rPr lang="en-ID" sz="1600" dirty="0"/>
              <a:t> → </a:t>
            </a:r>
            <a:r>
              <a:rPr lang="en-ID" sz="1600" b="1" dirty="0"/>
              <a:t>TEST</a:t>
            </a:r>
            <a:r>
              <a:rPr lang="en-ID" sz="1600" dirty="0"/>
              <a:t>: </a:t>
            </a:r>
            <a:r>
              <a:rPr lang="en-ID" sz="1600" dirty="0" err="1"/>
              <a:t>Tahap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—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konsep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eksekusi</a:t>
            </a:r>
            <a:r>
              <a:rPr lang="en-ID" sz="1600" dirty="0"/>
              <a:t> </a:t>
            </a:r>
            <a:r>
              <a:rPr lang="en-ID" sz="1600" dirty="0" err="1"/>
              <a:t>pertama</a:t>
            </a:r>
            <a:endParaRPr lang="en-ID" sz="1600" dirty="0"/>
          </a:p>
          <a:p>
            <a:pPr>
              <a:lnSpc>
                <a:spcPct val="150000"/>
              </a:lnSpc>
            </a:pPr>
            <a:r>
              <a:rPr lang="en-ID" sz="1600" b="1" dirty="0"/>
              <a:t>ITERATE (loop)</a:t>
            </a:r>
            <a:r>
              <a:rPr lang="en-ID" sz="1600" dirty="0"/>
              <a:t>: </a:t>
            </a:r>
            <a:r>
              <a:rPr lang="en-ID" sz="1600" b="1" dirty="0"/>
              <a:t>TEST</a:t>
            </a:r>
            <a:r>
              <a:rPr lang="en-ID" sz="1600" dirty="0"/>
              <a:t> → </a:t>
            </a:r>
            <a:r>
              <a:rPr lang="en-ID" sz="1600" b="1" dirty="0"/>
              <a:t>EVALUATE</a:t>
            </a:r>
            <a:r>
              <a:rPr lang="en-ID" sz="1600" dirty="0"/>
              <a:t> → </a:t>
            </a:r>
            <a:r>
              <a:rPr lang="en-ID" sz="1600" b="1" dirty="0"/>
              <a:t>REFINE</a:t>
            </a:r>
            <a:r>
              <a:rPr lang="en-ID" sz="1600" dirty="0"/>
              <a:t> → </a:t>
            </a:r>
            <a:r>
              <a:rPr lang="en-ID" sz="1600" dirty="0" err="1"/>
              <a:t>kembali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 </a:t>
            </a:r>
            <a:r>
              <a:rPr lang="en-ID" sz="1600" b="1" dirty="0"/>
              <a:t>TEST</a:t>
            </a:r>
            <a:r>
              <a:rPr lang="en-ID" sz="1600" dirty="0"/>
              <a:t> </a:t>
            </a:r>
            <a:r>
              <a:rPr lang="en-ID" sz="1600" dirty="0" err="1"/>
              <a:t>hingga</a:t>
            </a:r>
            <a:r>
              <a:rPr lang="en-ID" sz="1600" dirty="0"/>
              <a:t> output </a:t>
            </a:r>
            <a:r>
              <a:rPr lang="en-ID" sz="1600" dirty="0" err="1"/>
              <a:t>memuaskan</a:t>
            </a:r>
            <a:endParaRPr lang="en-ID" sz="1600" dirty="0"/>
          </a:p>
          <a:p>
            <a:pPr>
              <a:lnSpc>
                <a:spcPct val="150000"/>
              </a:lnSpc>
            </a:pPr>
            <a:r>
              <a:rPr lang="en-ID" sz="1600" b="1" dirty="0"/>
              <a:t>DOCUMENT</a:t>
            </a:r>
            <a:r>
              <a:rPr lang="en-ID" sz="1600" dirty="0"/>
              <a:t>: </a:t>
            </a:r>
            <a:r>
              <a:rPr lang="en-ID" sz="1600" dirty="0" err="1"/>
              <a:t>Simpan</a:t>
            </a:r>
            <a:r>
              <a:rPr lang="en-ID" sz="1600" dirty="0"/>
              <a:t> prompt yang </a:t>
            </a:r>
            <a:r>
              <a:rPr lang="en-ID" sz="1600" dirty="0" err="1"/>
              <a:t>berhasil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reuse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Insight </a:t>
            </a:r>
            <a:r>
              <a:rPr lang="en-ID" sz="1600" b="1" dirty="0" err="1"/>
              <a:t>penting</a:t>
            </a:r>
            <a:r>
              <a:rPr lang="en-ID" sz="1600" dirty="0"/>
              <a:t>: Prompt </a:t>
            </a:r>
            <a:r>
              <a:rPr lang="en-ID" sz="1600" dirty="0" err="1"/>
              <a:t>pertama</a:t>
            </a:r>
            <a:r>
              <a:rPr lang="en-ID" sz="1600" dirty="0"/>
              <a:t> </a:t>
            </a:r>
            <a:r>
              <a:rPr lang="en-ID" sz="1600" dirty="0" err="1"/>
              <a:t>jarang</a:t>
            </a:r>
            <a:r>
              <a:rPr lang="en-ID" sz="1600" dirty="0"/>
              <a:t> </a:t>
            </a:r>
            <a:r>
              <a:rPr lang="en-ID" sz="1600" dirty="0" err="1"/>
              <a:t>langsung</a:t>
            </a:r>
            <a:r>
              <a:rPr lang="en-ID" sz="1600" dirty="0"/>
              <a:t> </a:t>
            </a:r>
            <a:r>
              <a:rPr lang="en-ID" sz="1600" dirty="0" err="1"/>
              <a:t>sempurna</a:t>
            </a:r>
            <a:r>
              <a:rPr lang="en-ID" sz="1600" dirty="0"/>
              <a:t>. Rata-rata </a:t>
            </a:r>
            <a:r>
              <a:rPr lang="en-ID" sz="1600" dirty="0" err="1"/>
              <a:t>butuh</a:t>
            </a:r>
            <a:r>
              <a:rPr lang="en-ID" sz="1600" dirty="0"/>
              <a:t> 2-4 </a:t>
            </a:r>
            <a:r>
              <a:rPr lang="en-ID" sz="1600" dirty="0" err="1"/>
              <a:t>iterasi</a:t>
            </a:r>
            <a:r>
              <a:rPr lang="en-ID" sz="1600" dirty="0"/>
              <a:t> </a:t>
            </a:r>
            <a:r>
              <a:rPr lang="en-ID" sz="1600" dirty="0" err="1"/>
              <a:t>sebelum</a:t>
            </a:r>
            <a:r>
              <a:rPr lang="en-ID" sz="1600" dirty="0"/>
              <a:t> prompt </a:t>
            </a:r>
            <a:r>
              <a:rPr lang="en-ID" sz="1600" dirty="0" err="1"/>
              <a:t>mencapai</a:t>
            </a:r>
            <a:r>
              <a:rPr lang="en-ID" sz="1600" dirty="0"/>
              <a:t> </a:t>
            </a:r>
            <a:r>
              <a:rPr lang="en-ID" sz="1600" dirty="0" err="1"/>
              <a:t>kualitas</a:t>
            </a:r>
            <a:r>
              <a:rPr lang="en-ID" sz="1600" dirty="0"/>
              <a:t> yang </a:t>
            </a:r>
            <a:r>
              <a:rPr lang="en-ID" sz="1600" dirty="0" err="1"/>
              <a:t>konsisten</a:t>
            </a:r>
            <a:r>
              <a:rPr lang="en-ID" sz="1600" dirty="0"/>
              <a:t>. Ini normal,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berarti</a:t>
            </a:r>
            <a:r>
              <a:rPr lang="en-ID" sz="1600" dirty="0"/>
              <a:t> Anda </a:t>
            </a:r>
            <a:r>
              <a:rPr lang="en-ID" sz="1600" dirty="0" err="1"/>
              <a:t>belum</a:t>
            </a:r>
            <a:r>
              <a:rPr lang="en-ID" sz="1600" dirty="0"/>
              <a:t> </a:t>
            </a:r>
            <a:r>
              <a:rPr lang="en-ID" sz="1600" dirty="0" err="1"/>
              <a:t>mahir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endParaRPr lang="en-ID" sz="16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ID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A160AA4-2D8E-A6F9-195A-9CBDAA2F01B7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A0178-9D3E-C912-415C-37B176780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470" y="212490"/>
            <a:ext cx="3633713" cy="62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36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D3C2B-03F1-7EF7-FB78-7F5AE5D3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E07FA6-79CC-F6DF-45A6-6BE637E37E88}"/>
              </a:ext>
            </a:extLst>
          </p:cNvPr>
          <p:cNvSpPr txBox="1"/>
          <p:nvPr/>
        </p:nvSpPr>
        <p:spPr>
          <a:xfrm>
            <a:off x="806774" y="1646103"/>
            <a:ext cx="489552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Basic Prompting Techniques</a:t>
            </a: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183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B9BE-29AF-580C-ECDF-A5E96AD8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E2520-76BC-B47C-2803-D10D5885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Zero-Shot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58732-7497-27F4-F395-E95B8BAA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96441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Zero-shot = </a:t>
            </a:r>
            <a:r>
              <a:rPr lang="en-ID" sz="1600" b="1" dirty="0" err="1"/>
              <a:t>Meminta</a:t>
            </a:r>
            <a:r>
              <a:rPr lang="en-ID" sz="1600" b="1" dirty="0"/>
              <a:t> AI </a:t>
            </a:r>
            <a:r>
              <a:rPr lang="en-ID" sz="1600" b="1" dirty="0" err="1"/>
              <a:t>menjawab</a:t>
            </a:r>
            <a:r>
              <a:rPr lang="en-ID" sz="1600" b="1" dirty="0"/>
              <a:t> </a:t>
            </a:r>
            <a:r>
              <a:rPr lang="en-ID" sz="1600" b="1" dirty="0" err="1"/>
              <a:t>atau</a:t>
            </a:r>
            <a:r>
              <a:rPr lang="en-ID" sz="1600" b="1" dirty="0"/>
              <a:t> </a:t>
            </a:r>
            <a:r>
              <a:rPr lang="en-ID" sz="1600" b="1" dirty="0" err="1"/>
              <a:t>menyelesaikan</a:t>
            </a:r>
            <a:r>
              <a:rPr lang="en-ID" sz="1600" b="1" dirty="0"/>
              <a:t> task </a:t>
            </a:r>
            <a:r>
              <a:rPr lang="en-ID" sz="1600" b="1" dirty="0" err="1"/>
              <a:t>tanpa</a:t>
            </a:r>
            <a:r>
              <a:rPr lang="en-ID" sz="1600" b="1" dirty="0"/>
              <a:t> </a:t>
            </a:r>
            <a:r>
              <a:rPr lang="en-ID" sz="1600" b="1" dirty="0" err="1"/>
              <a:t>memberikan</a:t>
            </a:r>
            <a:r>
              <a:rPr lang="en-ID" sz="1600" b="1" dirty="0"/>
              <a:t> </a:t>
            </a:r>
            <a:r>
              <a:rPr lang="en-ID" sz="1600" b="1" dirty="0" err="1"/>
              <a:t>contoh</a:t>
            </a:r>
            <a:r>
              <a:rPr lang="en-ID" sz="1600" b="1" dirty="0"/>
              <a:t> </a:t>
            </a:r>
            <a:r>
              <a:rPr lang="en-ID" sz="1600" b="1" dirty="0" err="1"/>
              <a:t>apapun</a:t>
            </a:r>
            <a:r>
              <a:rPr lang="en-ID" sz="1600" b="1" dirty="0"/>
              <a:t> di prompt. AI </a:t>
            </a:r>
            <a:r>
              <a:rPr lang="en-ID" sz="1600" b="1" dirty="0" err="1"/>
              <a:t>menjawab</a:t>
            </a:r>
            <a:r>
              <a:rPr lang="en-ID" sz="1600" b="1" dirty="0"/>
              <a:t> </a:t>
            </a:r>
            <a:r>
              <a:rPr lang="en-ID" sz="1600" b="1" dirty="0" err="1"/>
              <a:t>berdasarkan</a:t>
            </a:r>
            <a:r>
              <a:rPr lang="en-ID" sz="1600" b="1" dirty="0"/>
              <a:t> </a:t>
            </a:r>
            <a:r>
              <a:rPr lang="en-ID" sz="1600" b="1" dirty="0" err="1"/>
              <a:t>pengetahuan</a:t>
            </a:r>
            <a:r>
              <a:rPr lang="en-ID" sz="1600" b="1" dirty="0"/>
              <a:t> </a:t>
            </a:r>
            <a:r>
              <a:rPr lang="en-ID" sz="1600" b="1" dirty="0" err="1"/>
              <a:t>dari</a:t>
            </a:r>
            <a:r>
              <a:rPr lang="en-ID" sz="1600" b="1" dirty="0"/>
              <a:t> training data </a:t>
            </a:r>
            <a:r>
              <a:rPr lang="en-ID" sz="1600" b="1" dirty="0" err="1"/>
              <a:t>saja</a:t>
            </a:r>
            <a:r>
              <a:rPr lang="en-ID" sz="1600" b="1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550A88-E716-9490-81CF-163389CE8226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1A49D-BDBB-FF75-E809-3DD7F002A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56" y="2503464"/>
            <a:ext cx="7772400" cy="1851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54139-63C0-7864-CC7D-BCCF538190C3}"/>
              </a:ext>
            </a:extLst>
          </p:cNvPr>
          <p:cNvSpPr txBox="1"/>
          <p:nvPr/>
        </p:nvSpPr>
        <p:spPr>
          <a:xfrm>
            <a:off x="415556" y="4549676"/>
            <a:ext cx="10781413" cy="286232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500" b="1" dirty="0"/>
              <a:t>Kapan Zero-shot </a:t>
            </a:r>
            <a:r>
              <a:rPr lang="en-ID" sz="1500" b="1" dirty="0" err="1"/>
              <a:t>bekerja</a:t>
            </a:r>
            <a:r>
              <a:rPr lang="en-ID" sz="1500" b="1" dirty="0"/>
              <a:t> </a:t>
            </a:r>
            <a:r>
              <a:rPr lang="en-ID" sz="1500" b="1" dirty="0" err="1"/>
              <a:t>dengan</a:t>
            </a:r>
            <a:r>
              <a:rPr lang="en-ID" sz="1500" b="1" dirty="0"/>
              <a:t> </a:t>
            </a:r>
            <a:r>
              <a:rPr lang="en-ID" sz="1500" b="1" dirty="0" err="1"/>
              <a:t>baik</a:t>
            </a:r>
            <a:r>
              <a:rPr lang="en-ID" sz="1500" b="1" dirty="0"/>
              <a:t>:</a:t>
            </a:r>
            <a:endParaRPr lang="en-ID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500" dirty="0"/>
              <a:t>Task yang </a:t>
            </a:r>
            <a:r>
              <a:rPr lang="en-ID" sz="1500" dirty="0" err="1"/>
              <a:t>sederhana</a:t>
            </a:r>
            <a:r>
              <a:rPr lang="en-ID" sz="1500" dirty="0"/>
              <a:t> dan </a:t>
            </a:r>
            <a:r>
              <a:rPr lang="en-ID" sz="1500" dirty="0" err="1"/>
              <a:t>umum</a:t>
            </a:r>
            <a:r>
              <a:rPr lang="en-ID" sz="1500" dirty="0"/>
              <a:t> (</a:t>
            </a:r>
            <a:r>
              <a:rPr lang="en-ID" sz="1500" dirty="0" err="1"/>
              <a:t>terjemahan</a:t>
            </a:r>
            <a:r>
              <a:rPr lang="en-ID" sz="1500" dirty="0"/>
              <a:t>, </a:t>
            </a:r>
            <a:r>
              <a:rPr lang="en-ID" sz="1500" dirty="0" err="1"/>
              <a:t>ringkasan</a:t>
            </a:r>
            <a:r>
              <a:rPr lang="en-ID" sz="1500" dirty="0"/>
              <a:t> </a:t>
            </a:r>
            <a:r>
              <a:rPr lang="en-ID" sz="1500" dirty="0" err="1"/>
              <a:t>singkat</a:t>
            </a:r>
            <a:r>
              <a:rPr lang="en-ID" sz="1500" dirty="0"/>
              <a:t>, Q&amp;A </a:t>
            </a:r>
            <a:r>
              <a:rPr lang="en-ID" sz="1500" dirty="0" err="1"/>
              <a:t>faktual</a:t>
            </a:r>
            <a:r>
              <a:rPr lang="en-ID" sz="15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500" dirty="0"/>
              <a:t>Task yang AI </a:t>
            </a:r>
            <a:r>
              <a:rPr lang="en-ID" sz="1500" dirty="0" err="1"/>
              <a:t>sudah</a:t>
            </a:r>
            <a:r>
              <a:rPr lang="en-ID" sz="1500" dirty="0"/>
              <a:t> sangat familiar </a:t>
            </a:r>
            <a:r>
              <a:rPr lang="en-ID" sz="1500" dirty="0" err="1"/>
              <a:t>dari</a:t>
            </a:r>
            <a:r>
              <a:rPr lang="en-ID" sz="1500" dirty="0"/>
              <a:t>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500" dirty="0"/>
              <a:t>Saat Anda </a:t>
            </a:r>
            <a:r>
              <a:rPr lang="en-ID" sz="1500" dirty="0" err="1"/>
              <a:t>butuh</a:t>
            </a:r>
            <a:r>
              <a:rPr lang="en-ID" sz="1500" dirty="0"/>
              <a:t> </a:t>
            </a:r>
            <a:r>
              <a:rPr lang="en-ID" sz="1500" dirty="0" err="1"/>
              <a:t>jawaban</a:t>
            </a:r>
            <a:r>
              <a:rPr lang="en-ID" sz="1500" dirty="0"/>
              <a:t> </a:t>
            </a:r>
            <a:r>
              <a:rPr lang="en-ID" sz="1500" dirty="0" err="1"/>
              <a:t>cepat</a:t>
            </a:r>
            <a:r>
              <a:rPr lang="en-ID" sz="1500" dirty="0"/>
              <a:t> </a:t>
            </a:r>
            <a:r>
              <a:rPr lang="en-ID" sz="1500" dirty="0" err="1"/>
              <a:t>tanpa</a:t>
            </a:r>
            <a:r>
              <a:rPr lang="en-ID" sz="1500" dirty="0"/>
              <a:t> setup Panjang</a:t>
            </a:r>
            <a:endParaRPr lang="en-ID" sz="15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5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5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500" b="1" dirty="0"/>
          </a:p>
          <a:p>
            <a:pPr>
              <a:lnSpc>
                <a:spcPct val="150000"/>
              </a:lnSpc>
            </a:pPr>
            <a:r>
              <a:rPr lang="en-ID" sz="1500" b="1" dirty="0" err="1"/>
              <a:t>Keterbatasan</a:t>
            </a:r>
            <a:r>
              <a:rPr lang="en-ID" sz="1500" b="1" dirty="0"/>
              <a:t> Zero-shot:</a:t>
            </a:r>
            <a:endParaRPr lang="en-ID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500" dirty="0"/>
              <a:t>Kurang </a:t>
            </a:r>
            <a:r>
              <a:rPr lang="en-ID" sz="1500" dirty="0" err="1"/>
              <a:t>konsisten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task yang </a:t>
            </a:r>
            <a:r>
              <a:rPr lang="en-ID" sz="1500" dirty="0" err="1"/>
              <a:t>butuh</a:t>
            </a:r>
            <a:r>
              <a:rPr lang="en-ID" sz="1500" dirty="0"/>
              <a:t> format </a:t>
            </a:r>
            <a:r>
              <a:rPr lang="en-ID" sz="1500" dirty="0" err="1"/>
              <a:t>spesifik</a:t>
            </a:r>
            <a:endParaRPr lang="en-ID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500" dirty="0" err="1"/>
              <a:t>Lebih</a:t>
            </a:r>
            <a:r>
              <a:rPr lang="en-ID" sz="1500" dirty="0"/>
              <a:t> </a:t>
            </a:r>
            <a:r>
              <a:rPr lang="en-ID" sz="1500" dirty="0" err="1"/>
              <a:t>lemah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task yang </a:t>
            </a:r>
            <a:r>
              <a:rPr lang="en-ID" sz="1500" dirty="0" err="1"/>
              <a:t>butuh</a:t>
            </a:r>
            <a:r>
              <a:rPr lang="en-ID" sz="1500" dirty="0"/>
              <a:t> domain expertise </a:t>
            </a:r>
            <a:r>
              <a:rPr lang="en-ID" sz="1500" dirty="0" err="1"/>
              <a:t>tertentu</a:t>
            </a:r>
            <a:endParaRPr lang="en-ID" sz="15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500" dirty="0"/>
              <a:t>Output </a:t>
            </a:r>
            <a:r>
              <a:rPr lang="en-ID" sz="1500" dirty="0" err="1"/>
              <a:t>mungkin</a:t>
            </a:r>
            <a:r>
              <a:rPr lang="en-ID" sz="1500" dirty="0"/>
              <a:t> </a:t>
            </a:r>
            <a:r>
              <a:rPr lang="en-ID" sz="1500" dirty="0" err="1"/>
              <a:t>tidak</a:t>
            </a:r>
            <a:r>
              <a:rPr lang="en-ID" sz="1500" dirty="0"/>
              <a:t> </a:t>
            </a:r>
            <a:r>
              <a:rPr lang="en-ID" sz="1500" dirty="0" err="1"/>
              <a:t>mengikuti</a:t>
            </a:r>
            <a:r>
              <a:rPr lang="en-ID" sz="1500" dirty="0"/>
              <a:t> </a:t>
            </a:r>
            <a:r>
              <a:rPr lang="en-ID" sz="1500" dirty="0" err="1"/>
              <a:t>pola</a:t>
            </a:r>
            <a:r>
              <a:rPr lang="en-ID" sz="1500" dirty="0"/>
              <a:t> yang Anda </a:t>
            </a:r>
            <a:r>
              <a:rPr lang="en-ID" sz="1500" dirty="0" err="1"/>
              <a:t>inginkan</a:t>
            </a:r>
            <a:endParaRPr lang="en-ID" sz="1500" dirty="0"/>
          </a:p>
          <a:p>
            <a:pPr>
              <a:lnSpc>
                <a:spcPct val="150000"/>
              </a:lnSpc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24497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C2233-C289-6AA2-5A7E-737928F0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5CEC-E08C-8CD8-C98D-BE9B6E0B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Few-Shot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7F968-C222-D215-DCC2-113B952FA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697" y="1389888"/>
            <a:ext cx="5517743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Few-shot = </a:t>
            </a:r>
            <a:r>
              <a:rPr lang="en-ID" sz="1600" dirty="0" err="1"/>
              <a:t>Memberikan</a:t>
            </a:r>
            <a:r>
              <a:rPr lang="en-ID" sz="1600" dirty="0"/>
              <a:t> </a:t>
            </a:r>
            <a:r>
              <a:rPr lang="en-ID" sz="1600" dirty="0" err="1"/>
              <a:t>beberapa</a:t>
            </a:r>
            <a:r>
              <a:rPr lang="en-ID" sz="1600" dirty="0"/>
              <a:t> </a:t>
            </a:r>
            <a:r>
              <a:rPr lang="en-ID" sz="1600" dirty="0" err="1"/>
              <a:t>contoh</a:t>
            </a:r>
            <a:r>
              <a:rPr lang="en-ID" sz="1600" dirty="0"/>
              <a:t> (2-5 pasang Q&amp;A </a:t>
            </a:r>
            <a:r>
              <a:rPr lang="en-ID" sz="1600" dirty="0" err="1"/>
              <a:t>atau</a:t>
            </a:r>
            <a:r>
              <a:rPr lang="en-ID" sz="1600" dirty="0"/>
              <a:t> input-output) </a:t>
            </a:r>
            <a:r>
              <a:rPr lang="en-ID" sz="1600" dirty="0" err="1"/>
              <a:t>sebelum</a:t>
            </a:r>
            <a:r>
              <a:rPr lang="en-ID" sz="1600" dirty="0"/>
              <a:t> task </a:t>
            </a:r>
            <a:r>
              <a:rPr lang="en-ID" sz="1600" dirty="0" err="1"/>
              <a:t>utama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468D3F-E80A-10E0-BBEB-1815FB3A4AAB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0A084A-0B95-DC24-323F-0A182F496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4" y="1614458"/>
            <a:ext cx="5760206" cy="382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02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A50F-1553-A56C-29CF-924BDB687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8500-CE11-4CA5-1916-CBB4C139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Instruction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E8467-434C-D062-8ABF-191D3EFAF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05585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600" b="1" dirty="0" err="1"/>
              <a:t>Memberikan</a:t>
            </a:r>
            <a:r>
              <a:rPr lang="en-ID" sz="1600" b="1" dirty="0"/>
              <a:t> </a:t>
            </a:r>
            <a:r>
              <a:rPr lang="en-ID" sz="1600" b="1" dirty="0" err="1"/>
              <a:t>instruksi</a:t>
            </a:r>
            <a:r>
              <a:rPr lang="en-ID" sz="1600" b="1" dirty="0"/>
              <a:t> </a:t>
            </a:r>
            <a:r>
              <a:rPr lang="en-ID" sz="1600" b="1" dirty="0" err="1"/>
              <a:t>eksplisit</a:t>
            </a:r>
            <a:r>
              <a:rPr lang="en-ID" sz="1600" b="1" dirty="0"/>
              <a:t> dan detail </a:t>
            </a:r>
            <a:r>
              <a:rPr lang="en-ID" sz="1600" b="1" dirty="0" err="1"/>
              <a:t>tentang</a:t>
            </a:r>
            <a:r>
              <a:rPr lang="en-ID" sz="1600" b="1" dirty="0"/>
              <a:t> </a:t>
            </a:r>
            <a:r>
              <a:rPr lang="en-ID" sz="1600" b="1" i="1" dirty="0" err="1"/>
              <a:t>cara</a:t>
            </a:r>
            <a:r>
              <a:rPr lang="en-ID" sz="1600" b="1" dirty="0"/>
              <a:t> AI </a:t>
            </a:r>
            <a:r>
              <a:rPr lang="en-ID" sz="1600" b="1" dirty="0" err="1"/>
              <a:t>harus</a:t>
            </a:r>
            <a:r>
              <a:rPr lang="en-ID" sz="1600" b="1" dirty="0"/>
              <a:t> </a:t>
            </a:r>
            <a:r>
              <a:rPr lang="en-ID" sz="1600" b="1" dirty="0" err="1"/>
              <a:t>menjawab</a:t>
            </a:r>
            <a:r>
              <a:rPr lang="en-ID" sz="1600" b="1" dirty="0"/>
              <a:t>, </a:t>
            </a:r>
            <a:r>
              <a:rPr lang="en-ID" sz="1600" b="1" dirty="0" err="1"/>
              <a:t>bukan</a:t>
            </a:r>
            <a:r>
              <a:rPr lang="en-ID" sz="1600" b="1" dirty="0"/>
              <a:t> </a:t>
            </a:r>
            <a:r>
              <a:rPr lang="en-ID" sz="1600" b="1" dirty="0" err="1"/>
              <a:t>hanya</a:t>
            </a:r>
            <a:r>
              <a:rPr lang="en-ID" sz="1600" b="1" dirty="0"/>
              <a:t> </a:t>
            </a:r>
            <a:r>
              <a:rPr lang="en-ID" sz="1600" b="1" i="1" dirty="0" err="1"/>
              <a:t>apa</a:t>
            </a:r>
            <a:r>
              <a:rPr lang="en-ID" sz="1600" b="1" dirty="0"/>
              <a:t> yang </a:t>
            </a:r>
            <a:r>
              <a:rPr lang="en-ID" sz="1600" b="1" dirty="0" err="1"/>
              <a:t>ditanya</a:t>
            </a:r>
            <a:r>
              <a:rPr lang="en-ID" sz="1600" b="1" dirty="0"/>
              <a:t>. </a:t>
            </a:r>
            <a:r>
              <a:rPr lang="en-ID" sz="1600" dirty="0"/>
              <a:t>Ini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teknik</a:t>
            </a:r>
            <a:r>
              <a:rPr lang="en-ID" sz="1600" dirty="0"/>
              <a:t> yang paling </a:t>
            </a:r>
            <a:r>
              <a:rPr lang="en-ID" sz="1600" dirty="0" err="1"/>
              <a:t>sering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 err="1"/>
              <a:t>bisnis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memberi</a:t>
            </a:r>
            <a:r>
              <a:rPr lang="en-ID" sz="1600" dirty="0"/>
              <a:t> Kita </a:t>
            </a:r>
            <a:r>
              <a:rPr lang="en-ID" sz="1600" dirty="0" err="1"/>
              <a:t>kontrol</a:t>
            </a:r>
            <a:r>
              <a:rPr lang="en-ID" sz="1600" dirty="0"/>
              <a:t> </a:t>
            </a:r>
            <a:r>
              <a:rPr lang="en-ID" sz="1600" dirty="0" err="1"/>
              <a:t>penuh</a:t>
            </a:r>
            <a:r>
              <a:rPr lang="en-ID" sz="1600" dirty="0"/>
              <a:t> </a:t>
            </a:r>
            <a:r>
              <a:rPr lang="en-ID" sz="1600" dirty="0" err="1"/>
              <a:t>atas</a:t>
            </a:r>
            <a:r>
              <a:rPr lang="en-ID" sz="1600" dirty="0"/>
              <a:t> output.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2AA7590-B1D5-624C-9E4F-04A60D711EB2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E2AA0-C6FB-CE84-4D8F-609406E37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21" y="2581950"/>
            <a:ext cx="6154367" cy="29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55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9BB7-5098-3B04-CD2B-FE1230E1F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702B-4C33-1054-4E30-AED82CF9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Instruction Prompting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41E3-B552-26A2-B3D8-CB3C7C7ED569}"/>
              </a:ext>
            </a:extLst>
          </p:cNvPr>
          <p:cNvSpPr>
            <a:spLocks noGrp="1"/>
          </p:cNvSpPr>
          <p:nvPr>
            <p:ph idx="1"/>
          </p:nvPr>
        </p:nvSpPr>
        <p:spPr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2CEE22-187E-2D5B-3426-39589C075D9D}"/>
              </a:ext>
            </a:extLst>
          </p:cNvPr>
          <p:cNvSpPr txBox="1">
            <a:spLocks/>
          </p:cNvSpPr>
          <p:nvPr/>
        </p:nvSpPr>
        <p:spPr>
          <a:xfrm>
            <a:off x="5829300" y="1614458"/>
            <a:ext cx="5776823" cy="4632994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A9E04-E4B1-7444-B67B-B8B1E3182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1511910"/>
            <a:ext cx="6847167" cy="23235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7E4592-747D-F159-51FB-4C16598C9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77" y="3835423"/>
            <a:ext cx="6600799" cy="246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82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F5A49-3342-E302-F060-28412949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E5F7-608F-A0A6-7888-B63D844E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Output </a:t>
            </a:r>
            <a:r>
              <a:rPr lang="en-ID" b="1" dirty="0" err="1"/>
              <a:t>Formating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5E90-197B-FB05-32C1-8A1EF6787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825625"/>
            <a:ext cx="4719167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Format output yang </a:t>
            </a:r>
            <a:r>
              <a:rPr lang="en-ID" sz="1600" dirty="0" err="1"/>
              <a:t>tepat</a:t>
            </a:r>
            <a:r>
              <a:rPr lang="en-ID" sz="1600" dirty="0"/>
              <a:t> </a:t>
            </a:r>
            <a:r>
              <a:rPr lang="en-ID" sz="1600" dirty="0" err="1"/>
              <a:t>menentukan</a:t>
            </a:r>
            <a:r>
              <a:rPr lang="en-ID" sz="1600" dirty="0"/>
              <a:t> </a:t>
            </a:r>
            <a:r>
              <a:rPr lang="en-ID" sz="1600" dirty="0" err="1"/>
              <a:t>seberapa</a:t>
            </a:r>
            <a:r>
              <a:rPr lang="en-ID" sz="1600" dirty="0"/>
              <a:t> </a:t>
            </a:r>
            <a:r>
              <a:rPr lang="en-ID" sz="1600" dirty="0" err="1"/>
              <a:t>langsung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AI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digunakan</a:t>
            </a:r>
            <a:r>
              <a:rPr lang="en-ID" sz="1600" dirty="0"/>
              <a:t> di </a:t>
            </a:r>
            <a:r>
              <a:rPr lang="en-ID" sz="1600" dirty="0" err="1"/>
              <a:t>pekerjaan</a:t>
            </a:r>
            <a:r>
              <a:rPr lang="en-ID" sz="1600" dirty="0"/>
              <a:t> </a:t>
            </a:r>
            <a:r>
              <a:rPr lang="en-ID" sz="1600" dirty="0" err="1"/>
              <a:t>nyata</a:t>
            </a:r>
            <a:r>
              <a:rPr lang="en-ID" sz="1600" dirty="0"/>
              <a:t>. Prompt yang </a:t>
            </a:r>
            <a:r>
              <a:rPr lang="en-ID" sz="1600" dirty="0" err="1"/>
              <a:t>bagus</a:t>
            </a:r>
            <a:r>
              <a:rPr lang="en-ID" sz="1600" dirty="0"/>
              <a:t> </a:t>
            </a:r>
            <a:r>
              <a:rPr lang="en-ID" sz="1600" dirty="0" err="1"/>
              <a:t>tapi</a:t>
            </a:r>
            <a:r>
              <a:rPr lang="en-ID" sz="1600" dirty="0"/>
              <a:t> format output </a:t>
            </a:r>
            <a:r>
              <a:rPr lang="en-ID" sz="1600" dirty="0" err="1"/>
              <a:t>berantakan</a:t>
            </a:r>
            <a:r>
              <a:rPr lang="en-ID" sz="1600" dirty="0"/>
              <a:t> </a:t>
            </a:r>
            <a:r>
              <a:rPr lang="en-ID" sz="1600" dirty="0" err="1"/>
              <a:t>tetap</a:t>
            </a:r>
            <a:r>
              <a:rPr lang="en-ID" sz="1600" dirty="0"/>
              <a:t> </a:t>
            </a:r>
            <a:r>
              <a:rPr lang="en-ID" sz="1600" dirty="0" err="1"/>
              <a:t>membutuhkan</a:t>
            </a:r>
            <a:r>
              <a:rPr lang="en-ID" sz="1600" dirty="0"/>
              <a:t> editing </a:t>
            </a:r>
            <a:r>
              <a:rPr lang="en-ID" sz="1600" dirty="0" err="1"/>
              <a:t>tambahan</a:t>
            </a:r>
            <a:r>
              <a:rPr lang="en-ID" sz="16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95F23-8E54-B95A-7D46-2C6AA216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509" y="1690688"/>
            <a:ext cx="5085460" cy="435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27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9E1B2-265D-7AC9-E7AA-3836B362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48D8-0545-513A-BF30-171F8438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Output </a:t>
            </a:r>
            <a:r>
              <a:rPr lang="en-ID" b="1" dirty="0" err="1"/>
              <a:t>Formating</a:t>
            </a:r>
            <a:r>
              <a:rPr lang="en-ID" b="1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6025-B5FD-2203-BB84-A25A5CC26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42161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Contoh</a:t>
            </a:r>
            <a:r>
              <a:rPr lang="en-ID" sz="1600" dirty="0"/>
              <a:t> </a:t>
            </a:r>
            <a:r>
              <a:rPr lang="en-ID" sz="1600" dirty="0" err="1"/>
              <a:t>Kontrol</a:t>
            </a:r>
            <a:r>
              <a:rPr lang="en-ID" sz="1600" dirty="0"/>
              <a:t> Format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46AFCE-763A-1A4F-5930-10E63BB4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53" y="2162606"/>
            <a:ext cx="4656075" cy="11830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745428-4893-F0CD-BD80-5F24C9C72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162" y="2204093"/>
            <a:ext cx="6640821" cy="1224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C15AD5-8AD1-3E7D-9C35-E70F2ACB3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53" y="3413287"/>
            <a:ext cx="5789522" cy="293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037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A8FB1-B10A-8D0C-8287-0ED7D9E4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5109-E92D-0DCD-B4A2-1AA73D33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Output </a:t>
            </a:r>
            <a:r>
              <a:rPr lang="en-ID" b="1" dirty="0" err="1"/>
              <a:t>Formating</a:t>
            </a:r>
            <a:r>
              <a:rPr lang="en-ID" b="1" dirty="0"/>
              <a:t>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9911D-4FE6-FE09-9BDD-CFFD4009A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74514"/>
            <a:ext cx="11553646" cy="4351338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Selain </a:t>
            </a:r>
            <a:r>
              <a:rPr lang="en-ID" sz="1600" dirty="0" err="1"/>
              <a:t>teks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chat — output </a:t>
            </a:r>
            <a:r>
              <a:rPr lang="en-ID" sz="1600" dirty="0" err="1"/>
              <a:t>berupa</a:t>
            </a:r>
            <a:r>
              <a:rPr lang="en-ID" sz="1600" dirty="0"/>
              <a:t> file </a:t>
            </a:r>
            <a:r>
              <a:rPr lang="en-ID" sz="1600" dirty="0" err="1"/>
              <a:t>siap</a:t>
            </a:r>
            <a:r>
              <a:rPr lang="en-ID" sz="1600" dirty="0"/>
              <a:t> </a:t>
            </a:r>
            <a:r>
              <a:rPr lang="en-ID" sz="1600" dirty="0" err="1"/>
              <a:t>unduh</a:t>
            </a:r>
            <a:r>
              <a:rPr lang="en-ID" sz="1600" dirty="0"/>
              <a:t>: Format-format di </a:t>
            </a:r>
            <a:r>
              <a:rPr lang="en-ID" sz="1600" dirty="0" err="1"/>
              <a:t>atas</a:t>
            </a:r>
            <a:r>
              <a:rPr lang="en-ID" sz="1600" dirty="0"/>
              <a:t> </a:t>
            </a:r>
            <a:r>
              <a:rPr lang="en-ID" sz="1600" dirty="0" err="1"/>
              <a:t>dirender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chat.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bisnis</a:t>
            </a:r>
            <a:r>
              <a:rPr lang="en-ID" sz="1600" dirty="0"/>
              <a:t>, Anda juga </a:t>
            </a:r>
            <a:r>
              <a:rPr lang="en-ID" sz="1600" dirty="0" err="1"/>
              <a:t>bisa</a:t>
            </a:r>
            <a:r>
              <a:rPr lang="en-ID" sz="1600" dirty="0"/>
              <a:t> </a:t>
            </a:r>
            <a:r>
              <a:rPr lang="en-ID" sz="1600" dirty="0" err="1"/>
              <a:t>meminta</a:t>
            </a:r>
            <a:r>
              <a:rPr lang="en-ID" sz="1600" dirty="0"/>
              <a:t> Copilot </a:t>
            </a:r>
            <a:r>
              <a:rPr lang="en-ID" sz="1600" dirty="0" err="1"/>
              <a:t>langsung</a:t>
            </a:r>
            <a:r>
              <a:rPr lang="en-ID" sz="1600" dirty="0"/>
              <a:t> </a:t>
            </a:r>
            <a:r>
              <a:rPr lang="en-ID" sz="1600" dirty="0" err="1"/>
              <a:t>membuat</a:t>
            </a:r>
            <a:r>
              <a:rPr lang="en-ID" sz="1600" dirty="0"/>
              <a:t> file </a:t>
            </a:r>
            <a:r>
              <a:rPr lang="en-ID" sz="1600" dirty="0" err="1"/>
              <a:t>siap</a:t>
            </a:r>
            <a:r>
              <a:rPr lang="en-ID" sz="1600" dirty="0"/>
              <a:t> </a:t>
            </a:r>
            <a:r>
              <a:rPr lang="en-ID" sz="1600" dirty="0" err="1"/>
              <a:t>unduh</a:t>
            </a:r>
            <a:r>
              <a:rPr lang="en-ID" sz="1600" dirty="0"/>
              <a:t> —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 yang </a:t>
            </a:r>
            <a:r>
              <a:rPr lang="en-ID" sz="1600" dirty="0" err="1"/>
              <a:t>perlu</a:t>
            </a:r>
            <a:r>
              <a:rPr lang="en-ID" sz="1600" dirty="0"/>
              <a:t> di-copy-paste manual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lain.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ID" sz="1600" dirty="0" err="1"/>
              <a:t>instruksi</a:t>
            </a:r>
            <a:r>
              <a:rPr lang="en-ID" sz="1600" dirty="0"/>
              <a:t> format file di </a:t>
            </a:r>
            <a:r>
              <a:rPr lang="en-ID" sz="1600" dirty="0" err="1"/>
              <a:t>akhir</a:t>
            </a:r>
            <a:r>
              <a:rPr lang="en-ID" sz="1600" dirty="0"/>
              <a:t> prompt Anda, </a:t>
            </a:r>
            <a:r>
              <a:rPr lang="en-ID" sz="1600" dirty="0" err="1"/>
              <a:t>misalnya</a:t>
            </a:r>
            <a:r>
              <a:rPr lang="en-ID" sz="160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8239B5-2699-6DBE-9D72-609D44145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65" y="2815454"/>
            <a:ext cx="8061251" cy="21205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CC81C4-FB99-8C4E-DC4C-B7BE166A2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65" y="5278076"/>
            <a:ext cx="5747008" cy="109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52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6CB5-801F-202E-22E5-602B5C34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501CA-7FA5-F8B8-E252-8B7A613D355E}"/>
              </a:ext>
            </a:extLst>
          </p:cNvPr>
          <p:cNvSpPr txBox="1"/>
          <p:nvPr/>
        </p:nvSpPr>
        <p:spPr>
          <a:xfrm>
            <a:off x="806774" y="1646103"/>
            <a:ext cx="489552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rgbClr val="085A76"/>
                </a:solidFill>
              </a:rPr>
              <a:t>Ollama</a:t>
            </a:r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BA1AC2-E5AB-649B-7356-57D11BD9D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941" y="1990773"/>
            <a:ext cx="1461731" cy="206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47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0FC8-C505-A3C5-A0CB-82F024CC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0ED4-E611-5888-2963-2E207B26E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Open (Public) LLM API vs Private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2BF5-735D-9D9E-3ED1-38E870502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8" y="1329236"/>
            <a:ext cx="11553645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Public LLM API 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memakai</a:t>
            </a:r>
            <a:r>
              <a:rPr lang="en-ID" sz="1600" dirty="0"/>
              <a:t> LLM </a:t>
            </a:r>
            <a:r>
              <a:rPr lang="en-ID" sz="1600" dirty="0" err="1"/>
              <a:t>lewat</a:t>
            </a:r>
            <a:r>
              <a:rPr lang="en-ID" sz="1600" dirty="0"/>
              <a:t> </a:t>
            </a:r>
            <a:r>
              <a:rPr lang="en-ID" sz="1600" dirty="0" err="1"/>
              <a:t>layanan</a:t>
            </a:r>
            <a:r>
              <a:rPr lang="en-ID" sz="1600" dirty="0"/>
              <a:t> cloud </a:t>
            </a:r>
            <a:r>
              <a:rPr lang="en-ID" sz="1600" dirty="0" err="1"/>
              <a:t>milik</a:t>
            </a:r>
            <a:r>
              <a:rPr lang="en-ID" sz="1600" dirty="0"/>
              <a:t> </a:t>
            </a:r>
            <a:r>
              <a:rPr lang="en-ID" sz="1600" dirty="0" err="1"/>
              <a:t>penyedia</a:t>
            </a:r>
            <a:r>
              <a:rPr lang="en-ID" sz="1600" dirty="0"/>
              <a:t> </a:t>
            </a:r>
            <a:r>
              <a:rPr lang="en-ID" sz="1600" dirty="0" err="1"/>
              <a:t>pihak</a:t>
            </a:r>
            <a:r>
              <a:rPr lang="en-ID" sz="1600" dirty="0"/>
              <a:t> </a:t>
            </a:r>
            <a:r>
              <a:rPr lang="en-ID" sz="1600" dirty="0" err="1"/>
              <a:t>ketiga</a:t>
            </a:r>
            <a:r>
              <a:rPr lang="en-ID" sz="1600" dirty="0"/>
              <a:t> (mis. Claude API, OpenAI API) — prompt Anda </a:t>
            </a:r>
            <a:r>
              <a:rPr lang="en-ID" sz="1600" dirty="0" err="1"/>
              <a:t>dikirim</a:t>
            </a:r>
            <a:r>
              <a:rPr lang="en-ID" sz="1600" dirty="0"/>
              <a:t> </a:t>
            </a:r>
            <a:r>
              <a:rPr lang="en-ID" sz="1600" dirty="0" err="1"/>
              <a:t>lewat</a:t>
            </a:r>
            <a:r>
              <a:rPr lang="en-ID" sz="1600" dirty="0"/>
              <a:t> internet </a:t>
            </a:r>
            <a:r>
              <a:rPr lang="en-ID" sz="1600" dirty="0" err="1"/>
              <a:t>ke</a:t>
            </a:r>
            <a:r>
              <a:rPr lang="en-ID" sz="1600" dirty="0"/>
              <a:t> server </a:t>
            </a:r>
            <a:r>
              <a:rPr lang="en-ID" sz="1600" dirty="0" err="1"/>
              <a:t>mereka</a:t>
            </a:r>
            <a:r>
              <a:rPr lang="en-ID" sz="1600" dirty="0"/>
              <a:t>, </a:t>
            </a:r>
            <a:r>
              <a:rPr lang="en-ID" sz="1600" dirty="0" err="1"/>
              <a:t>diproses</a:t>
            </a:r>
            <a:r>
              <a:rPr lang="en-ID" sz="1600" dirty="0"/>
              <a:t> di sana, </a:t>
            </a:r>
            <a:r>
              <a:rPr lang="en-ID" sz="1600" dirty="0" err="1"/>
              <a:t>lalu</a:t>
            </a:r>
            <a:r>
              <a:rPr lang="en-ID" sz="1600" dirty="0"/>
              <a:t> </a:t>
            </a:r>
            <a:r>
              <a:rPr lang="en-ID" sz="1600" dirty="0" err="1"/>
              <a:t>jawabannya</a:t>
            </a:r>
            <a:r>
              <a:rPr lang="en-ID" sz="1600" dirty="0"/>
              <a:t> </a:t>
            </a:r>
            <a:r>
              <a:rPr lang="en-ID" sz="1600" dirty="0" err="1"/>
              <a:t>dikirim</a:t>
            </a:r>
            <a:r>
              <a:rPr lang="en-ID" sz="1600" dirty="0"/>
              <a:t> </a:t>
            </a:r>
            <a:r>
              <a:rPr lang="en-ID" sz="1600" dirty="0" err="1"/>
              <a:t>balik</a:t>
            </a:r>
            <a:r>
              <a:rPr lang="en-ID" sz="1600" dirty="0"/>
              <a:t>. Private LLM 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kebalikannya</a:t>
            </a:r>
            <a:r>
              <a:rPr lang="en-ID" sz="1600" dirty="0"/>
              <a:t>: model yang </a:t>
            </a:r>
            <a:r>
              <a:rPr lang="en-ID" sz="1600" dirty="0" err="1"/>
              <a:t>benar-benar</a:t>
            </a:r>
            <a:r>
              <a:rPr lang="en-ID" sz="1600" dirty="0"/>
              <a:t> </a:t>
            </a:r>
            <a:r>
              <a:rPr lang="en-ID" sz="1600" dirty="0" err="1"/>
              <a:t>berjalan</a:t>
            </a:r>
            <a:r>
              <a:rPr lang="en-ID" sz="1600" dirty="0"/>
              <a:t> di </a:t>
            </a:r>
            <a:r>
              <a:rPr lang="en-ID" sz="1600" dirty="0" err="1"/>
              <a:t>infrastruktur</a:t>
            </a:r>
            <a:r>
              <a:rPr lang="en-ID" sz="1600" dirty="0"/>
              <a:t> </a:t>
            </a:r>
            <a:r>
              <a:rPr lang="en-ID" sz="1600" dirty="0" err="1"/>
              <a:t>milik</a:t>
            </a:r>
            <a:r>
              <a:rPr lang="en-ID" sz="1600" dirty="0"/>
              <a:t> </a:t>
            </a:r>
            <a:r>
              <a:rPr lang="en-ID" sz="1600" dirty="0" err="1"/>
              <a:t>organisasi</a:t>
            </a:r>
            <a:r>
              <a:rPr lang="en-ID" sz="1600" dirty="0"/>
              <a:t> </a:t>
            </a:r>
            <a:r>
              <a:rPr lang="en-ID" sz="1600" dirty="0" err="1"/>
              <a:t>sendiri</a:t>
            </a:r>
            <a:r>
              <a:rPr lang="en-ID" sz="1600" dirty="0"/>
              <a:t> (laptop, server internal). </a:t>
            </a:r>
            <a:r>
              <a:rPr lang="en-ID" sz="1600" dirty="0" err="1"/>
              <a:t>Keduanya</a:t>
            </a:r>
            <a:r>
              <a:rPr lang="en-ID" sz="1600" dirty="0"/>
              <a:t> </a:t>
            </a:r>
            <a:r>
              <a:rPr lang="en-ID" sz="1600" dirty="0" err="1"/>
              <a:t>sama-sama</a:t>
            </a:r>
            <a:r>
              <a:rPr lang="en-ID" sz="1600" dirty="0"/>
              <a:t> valid, </a:t>
            </a:r>
            <a:r>
              <a:rPr lang="en-ID" sz="1600" dirty="0" err="1"/>
              <a:t>tapi</a:t>
            </a:r>
            <a:r>
              <a:rPr lang="en-ID" sz="1600" dirty="0"/>
              <a:t> trade-off-</a:t>
            </a:r>
            <a:r>
              <a:rPr lang="en-ID" sz="1600" dirty="0" err="1"/>
              <a:t>nya</a:t>
            </a:r>
            <a:r>
              <a:rPr lang="en-ID" sz="1600" dirty="0"/>
              <a:t> </a:t>
            </a:r>
            <a:r>
              <a:rPr lang="en-ID" sz="1600" dirty="0" err="1"/>
              <a:t>berbeda</a:t>
            </a:r>
            <a:r>
              <a:rPr lang="en-ID" sz="1600" dirty="0"/>
              <a:t> </a:t>
            </a:r>
            <a:r>
              <a:rPr lang="en-ID" sz="1600" dirty="0" err="1"/>
              <a:t>jauh</a:t>
            </a:r>
            <a:r>
              <a:rPr lang="en-ID" sz="1600" dirty="0"/>
              <a:t> di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dimensi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73C009-2290-3D3F-0895-A1CFC01E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25842"/>
              </p:ext>
            </p:extLst>
          </p:nvPr>
        </p:nvGraphicFramePr>
        <p:xfrm>
          <a:off x="429465" y="3037976"/>
          <a:ext cx="11333070" cy="3177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3701">
                  <a:extLst>
                    <a:ext uri="{9D8B030D-6E8A-4147-A177-3AD203B41FA5}">
                      <a16:colId xmlns:a16="http://schemas.microsoft.com/office/drawing/2014/main" val="3241811640"/>
                    </a:ext>
                  </a:extLst>
                </a:gridCol>
                <a:gridCol w="4476205">
                  <a:extLst>
                    <a:ext uri="{9D8B030D-6E8A-4147-A177-3AD203B41FA5}">
                      <a16:colId xmlns:a16="http://schemas.microsoft.com/office/drawing/2014/main" val="174150714"/>
                    </a:ext>
                  </a:extLst>
                </a:gridCol>
                <a:gridCol w="4273164">
                  <a:extLst>
                    <a:ext uri="{9D8B030D-6E8A-4147-A177-3AD203B41FA5}">
                      <a16:colId xmlns:a16="http://schemas.microsoft.com/office/drawing/2014/main" val="1342477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b="1" dirty="0" err="1">
                          <a:effectLst/>
                        </a:rPr>
                        <a:t>Aspek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b="1" dirty="0">
                          <a:effectLst/>
                        </a:rPr>
                        <a:t>Public LLM API (mis. Claude API, OpenAI API)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b="1" dirty="0">
                          <a:effectLst/>
                        </a:rPr>
                        <a:t>Private LLM (mis. </a:t>
                      </a:r>
                      <a:r>
                        <a:rPr lang="en-ID" sz="1200" b="1" dirty="0" err="1">
                          <a:effectLst/>
                        </a:rPr>
                        <a:t>Ollama</a:t>
                      </a:r>
                      <a:r>
                        <a:rPr lang="en-ID" sz="1200" b="1" dirty="0">
                          <a:effectLst/>
                        </a:rPr>
                        <a:t> + Llama </a:t>
                      </a:r>
                      <a:r>
                        <a:rPr lang="en-ID" sz="1200" b="1" dirty="0" err="1">
                          <a:effectLst/>
                        </a:rPr>
                        <a:t>lokal</a:t>
                      </a:r>
                      <a:r>
                        <a:rPr lang="en-ID" sz="1200" b="1" dirty="0">
                          <a:effectLst/>
                        </a:rPr>
                        <a:t>)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7290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Data residency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>
                          <a:effectLst/>
                        </a:rPr>
                        <a:t>Data Anda </a:t>
                      </a:r>
                      <a:r>
                        <a:rPr lang="en-ID" sz="1200" dirty="0" err="1">
                          <a:effectLst/>
                        </a:rPr>
                        <a:t>dikirim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ke</a:t>
                      </a:r>
                      <a:r>
                        <a:rPr lang="en-ID" sz="1200" dirty="0">
                          <a:effectLst/>
                        </a:rPr>
                        <a:t> server </a:t>
                      </a:r>
                      <a:r>
                        <a:rPr lang="en-ID" sz="1200" dirty="0" err="1">
                          <a:effectLst/>
                        </a:rPr>
                        <a:t>milik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penyedia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layanan</a:t>
                      </a:r>
                      <a:r>
                        <a:rPr lang="en-ID" sz="1200" dirty="0">
                          <a:effectLst/>
                        </a:rPr>
                        <a:t>, yang </a:t>
                      </a:r>
                      <a:r>
                        <a:rPr lang="en-ID" sz="1200" dirty="0" err="1">
                          <a:effectLst/>
                        </a:rPr>
                        <a:t>bisa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saja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berlokasi</a:t>
                      </a:r>
                      <a:r>
                        <a:rPr lang="en-ID" sz="1200" dirty="0">
                          <a:effectLst/>
                        </a:rPr>
                        <a:t> di </a:t>
                      </a:r>
                      <a:r>
                        <a:rPr lang="en-ID" sz="1200" dirty="0" err="1">
                          <a:effectLst/>
                        </a:rPr>
                        <a:t>luar</a:t>
                      </a:r>
                      <a:r>
                        <a:rPr lang="en-ID" sz="1200" dirty="0">
                          <a:effectLst/>
                        </a:rPr>
                        <a:t> negeri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Data tidak pernah keluar dari komputer/server milik organisasi sendiri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018022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Biaya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Bayar sesuai pemakaian (dihitung per kata yang diproses) — makin sering dipakai, makin mahal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Keluar biaya besar di awal untuk beli perangkat, setelah itu pemakaiannya nyaris gratis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80418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 err="1">
                          <a:effectLst/>
                        </a:rPr>
                        <a:t>Kontrol</a:t>
                      </a:r>
                      <a:r>
                        <a:rPr lang="en-ID" sz="1200" dirty="0">
                          <a:effectLst/>
                        </a:rPr>
                        <a:t> model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Terbatas — hanya bisa atur lewat pengaturan yang disediakan (mis. gaya jawaban, instruksi awal)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Penuh — bisa pilih versi model, ubah/latih ulang sesuai kebutuhan, dan tentukan sendiri kapan mau upgrade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05951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 err="1">
                          <a:effectLst/>
                        </a:rPr>
                        <a:t>Kualitas</a:t>
                      </a:r>
                      <a:r>
                        <a:rPr lang="en-ID" sz="1200" dirty="0">
                          <a:effectLst/>
                        </a:rPr>
                        <a:t> &amp; </a:t>
                      </a:r>
                      <a:r>
                        <a:rPr lang="en-ID" sz="1200" dirty="0" err="1">
                          <a:effectLst/>
                        </a:rPr>
                        <a:t>kemampuan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Umumnya lebih pintar — pakai model besar dan teknologi terbaru dari perusahaan besar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Tergantung ukuran model yang muat dijalankan di perangkat sendiri — biasanya lebih terbatas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65800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Ketersediaan offline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Wajib terhubung internet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>
                          <a:effectLst/>
                        </a:rPr>
                        <a:t>Bisa </a:t>
                      </a:r>
                      <a:r>
                        <a:rPr lang="en-ID" sz="1200" dirty="0" err="1">
                          <a:effectLst/>
                        </a:rPr>
                        <a:t>tetap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jalan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tanpa</a:t>
                      </a:r>
                      <a:r>
                        <a:rPr lang="en-ID" sz="1200" dirty="0">
                          <a:effectLst/>
                        </a:rPr>
                        <a:t> internet </a:t>
                      </a:r>
                      <a:r>
                        <a:rPr lang="en-ID" sz="1200" dirty="0" err="1">
                          <a:effectLst/>
                        </a:rPr>
                        <a:t>sama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sekali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40652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>
                          <a:effectLst/>
                        </a:rPr>
                        <a:t>Kecepatan respons (latency)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 err="1">
                          <a:effectLst/>
                        </a:rPr>
                        <a:t>Tergantung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koneksi</a:t>
                      </a:r>
                      <a:r>
                        <a:rPr lang="en-ID" sz="1200" dirty="0">
                          <a:effectLst/>
                        </a:rPr>
                        <a:t> internet dan </a:t>
                      </a:r>
                      <a:r>
                        <a:rPr lang="en-ID" sz="1200" dirty="0" err="1">
                          <a:effectLst/>
                        </a:rPr>
                        <a:t>seberapa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sibuk</a:t>
                      </a:r>
                      <a:r>
                        <a:rPr lang="en-ID" sz="1200" dirty="0">
                          <a:effectLst/>
                        </a:rPr>
                        <a:t> server </a:t>
                      </a:r>
                      <a:r>
                        <a:rPr lang="en-ID" sz="1200" dirty="0" err="1">
                          <a:effectLst/>
                        </a:rPr>
                        <a:t>penyedia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saat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itu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 err="1">
                          <a:effectLst/>
                        </a:rPr>
                        <a:t>Lebih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stabil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karena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tidak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bergantung</a:t>
                      </a:r>
                      <a:r>
                        <a:rPr lang="en-ID" sz="1200" dirty="0">
                          <a:effectLst/>
                        </a:rPr>
                        <a:t> internet, </a:t>
                      </a:r>
                      <a:r>
                        <a:rPr lang="en-ID" sz="1200" dirty="0" err="1">
                          <a:effectLst/>
                        </a:rPr>
                        <a:t>tapi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kecepatannya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dibatasi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kemampuan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perangkat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sendiri</a:t>
                      </a:r>
                      <a:r>
                        <a:rPr lang="en-ID" sz="1200" dirty="0">
                          <a:effectLst/>
                        </a:rPr>
                        <a:t> (RAM/CPU/GPU)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08809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6530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9C5B-B48B-0B82-B629-B650B9798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9616-098D-483A-6F4C-B97D2464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</a:t>
            </a:r>
            <a:r>
              <a:rPr lang="en-ID" b="1" dirty="0" err="1"/>
              <a:t>Ollama</a:t>
            </a:r>
            <a:r>
              <a:rPr lang="en-ID" b="1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F8391-998B-F77D-449D-0B498B271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8" y="1381488"/>
            <a:ext cx="11553645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Bayangkan</a:t>
            </a:r>
            <a:r>
              <a:rPr lang="en-ID" sz="1600" dirty="0"/>
              <a:t> </a:t>
            </a:r>
            <a:r>
              <a:rPr lang="en-ID" sz="1600" dirty="0" err="1"/>
              <a:t>Ollama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 </a:t>
            </a:r>
            <a:r>
              <a:rPr lang="en-ID" sz="1600" b="1" dirty="0"/>
              <a:t>"App Store" </a:t>
            </a:r>
            <a:r>
              <a:rPr lang="en-ID" sz="1600" b="1" dirty="0" err="1"/>
              <a:t>untuk</a:t>
            </a:r>
            <a:r>
              <a:rPr lang="en-ID" sz="1600" b="1" dirty="0"/>
              <a:t> model AI</a:t>
            </a:r>
            <a:r>
              <a:rPr lang="en-ID" sz="1600" dirty="0"/>
              <a:t> — </a:t>
            </a:r>
            <a:r>
              <a:rPr lang="en-ID" sz="1600" dirty="0" err="1"/>
              <a:t>tempat</a:t>
            </a:r>
            <a:r>
              <a:rPr lang="en-ID" sz="1600" dirty="0"/>
              <a:t> Anda </a:t>
            </a:r>
            <a:r>
              <a:rPr lang="en-ID" sz="1600" dirty="0" err="1"/>
              <a:t>mengunduh</a:t>
            </a:r>
            <a:r>
              <a:rPr lang="en-ID" sz="1600" dirty="0"/>
              <a:t>, </a:t>
            </a:r>
            <a:r>
              <a:rPr lang="en-ID" sz="1600" dirty="0" err="1"/>
              <a:t>menyimpan</a:t>
            </a:r>
            <a:r>
              <a:rPr lang="en-ID" sz="1600" dirty="0"/>
              <a:t>, dan </a:t>
            </a:r>
            <a:r>
              <a:rPr lang="en-ID" sz="1600" dirty="0" err="1"/>
              <a:t>menjalankan</a:t>
            </a:r>
            <a:r>
              <a:rPr lang="en-ID" sz="1600" dirty="0"/>
              <a:t> model </a:t>
            </a:r>
            <a:r>
              <a:rPr lang="en-ID" sz="1600" dirty="0" err="1"/>
              <a:t>kecerdasan</a:t>
            </a:r>
            <a:r>
              <a:rPr lang="en-ID" sz="1600" dirty="0"/>
              <a:t> </a:t>
            </a:r>
            <a:r>
              <a:rPr lang="en-ID" sz="1600" dirty="0" err="1"/>
              <a:t>buatan</a:t>
            </a:r>
            <a:r>
              <a:rPr lang="en-ID" sz="1600" dirty="0"/>
              <a:t> (LLM) </a:t>
            </a:r>
            <a:r>
              <a:rPr lang="en-ID" sz="1600" dirty="0" err="1"/>
              <a:t>langsung</a:t>
            </a:r>
            <a:r>
              <a:rPr lang="en-ID" sz="1600" dirty="0"/>
              <a:t> di laptop </a:t>
            </a:r>
            <a:r>
              <a:rPr lang="en-ID" sz="1600" dirty="0" err="1"/>
              <a:t>sendiri</a:t>
            </a:r>
            <a:r>
              <a:rPr lang="en-ID" sz="1600" dirty="0"/>
              <a:t>,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mengirim</a:t>
            </a:r>
            <a:r>
              <a:rPr lang="en-ID" sz="1600" dirty="0"/>
              <a:t> data </a:t>
            </a:r>
            <a:r>
              <a:rPr lang="en-ID" sz="1600" dirty="0" err="1"/>
              <a:t>apa</a:t>
            </a:r>
            <a:r>
              <a:rPr lang="en-ID" sz="1600" dirty="0"/>
              <a:t> pun </a:t>
            </a:r>
            <a:r>
              <a:rPr lang="en-ID" sz="1600" dirty="0" err="1"/>
              <a:t>ke</a:t>
            </a:r>
            <a:r>
              <a:rPr lang="en-ID" sz="1600" dirty="0"/>
              <a:t> internet.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teknis</a:t>
            </a:r>
            <a:r>
              <a:rPr lang="en-ID" sz="1600" dirty="0"/>
              <a:t>, </a:t>
            </a:r>
            <a:r>
              <a:rPr lang="en-ID" sz="1600" b="1" dirty="0" err="1"/>
              <a:t>Ollama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 </a:t>
            </a:r>
            <a:r>
              <a:rPr lang="en-ID" sz="1600" i="1" dirty="0"/>
              <a:t>runtime</a:t>
            </a:r>
            <a:r>
              <a:rPr lang="en-ID" sz="1600" dirty="0"/>
              <a:t> — program yang </a:t>
            </a:r>
            <a:r>
              <a:rPr lang="en-ID" sz="1600" dirty="0" err="1"/>
              <a:t>tugasnya</a:t>
            </a:r>
            <a:r>
              <a:rPr lang="en-ID" sz="1600" dirty="0"/>
              <a:t> </a:t>
            </a:r>
            <a:r>
              <a:rPr lang="en-ID" sz="1600" dirty="0" err="1"/>
              <a:t>menjalankan</a:t>
            </a:r>
            <a:r>
              <a:rPr lang="en-ID" sz="1600" dirty="0"/>
              <a:t> program lain.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hal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, </a:t>
            </a:r>
            <a:r>
              <a:rPr lang="en-ID" sz="1600" dirty="0" err="1"/>
              <a:t>Ollama</a:t>
            </a:r>
            <a:r>
              <a:rPr lang="en-ID" sz="1600" dirty="0"/>
              <a:t> </a:t>
            </a:r>
            <a:r>
              <a:rPr lang="en-ID" sz="1600" dirty="0" err="1"/>
              <a:t>menjalankan</a:t>
            </a:r>
            <a:r>
              <a:rPr lang="en-ID" sz="1600" dirty="0"/>
              <a:t> model LLM open-source 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lokal</a:t>
            </a:r>
            <a:r>
              <a:rPr lang="en-ID" sz="1600" dirty="0"/>
              <a:t> di </a:t>
            </a:r>
            <a:r>
              <a:rPr lang="en-ID" sz="1600" dirty="0" err="1"/>
              <a:t>komputer</a:t>
            </a:r>
            <a:r>
              <a:rPr lang="en-ID" sz="1600" dirty="0"/>
              <a:t> Anda,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bergantung</a:t>
            </a:r>
            <a:r>
              <a:rPr lang="en-ID" sz="1600" dirty="0"/>
              <a:t> pada API cloud </a:t>
            </a:r>
            <a:r>
              <a:rPr lang="en-ID" sz="1600" dirty="0" err="1"/>
              <a:t>milik</a:t>
            </a:r>
            <a:r>
              <a:rPr lang="en-ID" sz="1600" dirty="0"/>
              <a:t> </a:t>
            </a:r>
            <a:r>
              <a:rPr lang="en-ID" sz="1600" dirty="0" err="1"/>
              <a:t>penyedia</a:t>
            </a:r>
            <a:r>
              <a:rPr lang="en-ID" sz="1600" dirty="0"/>
              <a:t> AI mana pun.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2400" b="1" dirty="0"/>
              <a:t>Cara </a:t>
            </a:r>
            <a:r>
              <a:rPr lang="en-ID" sz="2400" b="1" dirty="0" err="1"/>
              <a:t>Kerja</a:t>
            </a:r>
            <a:r>
              <a:rPr lang="en-ID" sz="2400" b="1" dirty="0"/>
              <a:t> </a:t>
            </a:r>
            <a:r>
              <a:rPr lang="en-ID" sz="2400" b="1" dirty="0" err="1"/>
              <a:t>Ollama</a:t>
            </a:r>
            <a:r>
              <a:rPr lang="en-ID" sz="2400" b="1" dirty="0"/>
              <a:t>:</a:t>
            </a:r>
          </a:p>
          <a:p>
            <a:pPr lvl="0" algn="just">
              <a:lnSpc>
                <a:spcPct val="150000"/>
              </a:lnSpc>
            </a:pPr>
            <a:r>
              <a:rPr lang="en-ID" sz="1600" b="1" dirty="0"/>
              <a:t>Download model </a:t>
            </a:r>
            <a:r>
              <a:rPr lang="en-ID" sz="1600" b="1" dirty="0" err="1"/>
              <a:t>sekali</a:t>
            </a:r>
            <a:r>
              <a:rPr lang="en-ID" sz="1600" dirty="0"/>
              <a:t>: </a:t>
            </a:r>
            <a:r>
              <a:rPr lang="en-ID" sz="1600" dirty="0" err="1"/>
              <a:t>Ollama</a:t>
            </a:r>
            <a:r>
              <a:rPr lang="en-ID" sz="1600" dirty="0"/>
              <a:t> </a:t>
            </a:r>
            <a:r>
              <a:rPr lang="en-ID" sz="1600" dirty="0" err="1"/>
              <a:t>mengunduh</a:t>
            </a:r>
            <a:r>
              <a:rPr lang="en-ID" sz="1600" dirty="0"/>
              <a:t> model LLM (</a:t>
            </a:r>
            <a:r>
              <a:rPr lang="en-ID" sz="1600" dirty="0" err="1"/>
              <a:t>misalnya</a:t>
            </a:r>
            <a:r>
              <a:rPr lang="en-ID" sz="1600" dirty="0"/>
              <a:t> Llama 3.2, Mistral, Qwen) </a:t>
            </a:r>
            <a:r>
              <a:rPr lang="en-ID" sz="1600" dirty="0" err="1"/>
              <a:t>dari</a:t>
            </a:r>
            <a:r>
              <a:rPr lang="en-ID" sz="1600" dirty="0"/>
              <a:t> repository </a:t>
            </a:r>
            <a:r>
              <a:rPr lang="en-ID" sz="1600" dirty="0" err="1"/>
              <a:t>resmi</a:t>
            </a:r>
            <a:r>
              <a:rPr lang="en-ID" sz="1600" dirty="0"/>
              <a:t> dan </a:t>
            </a:r>
            <a:r>
              <a:rPr lang="en-ID" sz="1600" dirty="0" err="1"/>
              <a:t>menyimpannya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lokal</a:t>
            </a:r>
            <a:r>
              <a:rPr lang="en-ID" sz="1600" dirty="0"/>
              <a:t> di storage Anda.</a:t>
            </a:r>
          </a:p>
          <a:p>
            <a:pPr lvl="0" algn="just">
              <a:lnSpc>
                <a:spcPct val="150000"/>
              </a:lnSpc>
            </a:pPr>
            <a:r>
              <a:rPr lang="en-ID" sz="1600" b="1" dirty="0" err="1"/>
              <a:t>Jalankan</a:t>
            </a:r>
            <a:r>
              <a:rPr lang="en-ID" sz="1600" b="1" dirty="0"/>
              <a:t> </a:t>
            </a:r>
            <a:r>
              <a:rPr lang="en-ID" sz="1600" b="1" dirty="0" err="1"/>
              <a:t>lewat</a:t>
            </a:r>
            <a:r>
              <a:rPr lang="en-ID" sz="1600" b="1" dirty="0"/>
              <a:t> CLI</a:t>
            </a:r>
            <a:r>
              <a:rPr lang="en-ID" sz="1600" dirty="0"/>
              <a:t>: </a:t>
            </a:r>
            <a:r>
              <a:rPr lang="en-ID" sz="1600" dirty="0" err="1"/>
              <a:t>Setelah</a:t>
            </a:r>
            <a:r>
              <a:rPr lang="en-ID" sz="1600" dirty="0"/>
              <a:t> download, Anda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menjalankan</a:t>
            </a:r>
            <a:r>
              <a:rPr lang="en-ID" sz="1600" dirty="0"/>
              <a:t> model </a:t>
            </a:r>
            <a:r>
              <a:rPr lang="en-ID" sz="1600" dirty="0" err="1"/>
              <a:t>langsung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command line interface (CLI).</a:t>
            </a:r>
          </a:p>
          <a:p>
            <a:pPr lvl="0" algn="just">
              <a:lnSpc>
                <a:spcPct val="150000"/>
              </a:lnSpc>
            </a:pPr>
            <a:r>
              <a:rPr lang="en-ID" sz="1600" b="1" dirty="0"/>
              <a:t>API </a:t>
            </a:r>
            <a:r>
              <a:rPr lang="en-ID" sz="1600" b="1" dirty="0" err="1"/>
              <a:t>lokal</a:t>
            </a:r>
            <a:r>
              <a:rPr lang="en-ID" sz="1600" b="1" dirty="0"/>
              <a:t> di port 11434</a:t>
            </a:r>
            <a:r>
              <a:rPr lang="en-ID" sz="1600" dirty="0"/>
              <a:t>: </a:t>
            </a:r>
            <a:r>
              <a:rPr lang="en-ID" sz="1600" dirty="0" err="1"/>
              <a:t>Ollama</a:t>
            </a:r>
            <a:r>
              <a:rPr lang="en-ID" sz="1600" dirty="0"/>
              <a:t> </a:t>
            </a:r>
            <a:r>
              <a:rPr lang="en-ID" sz="1600" dirty="0" err="1"/>
              <a:t>menjalankan</a:t>
            </a:r>
            <a:r>
              <a:rPr lang="en-ID" sz="1600" dirty="0"/>
              <a:t> server </a:t>
            </a:r>
            <a:r>
              <a:rPr lang="en-ID" sz="1600" dirty="0" err="1"/>
              <a:t>lokal</a:t>
            </a:r>
            <a:r>
              <a:rPr lang="en-ID" sz="1600" dirty="0"/>
              <a:t> yang </a:t>
            </a:r>
            <a:r>
              <a:rPr lang="en-ID" sz="1600" dirty="0" err="1"/>
              <a:t>mendengarkan</a:t>
            </a:r>
            <a:r>
              <a:rPr lang="en-ID" sz="1600" dirty="0"/>
              <a:t> pada port 11434, </a:t>
            </a:r>
            <a:r>
              <a:rPr lang="en-ID" sz="1600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Anda </a:t>
            </a:r>
            <a:r>
              <a:rPr lang="en-ID" sz="1600" dirty="0" err="1"/>
              <a:t>berkomunikasi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model via HTTP requests.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778389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622EC-A67F-8CEC-7EC1-01A91910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6286-436A-DDB8-1E70-D1FB4078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b="1" dirty="0" err="1"/>
              <a:t>Ollama</a:t>
            </a:r>
            <a:r>
              <a:rPr lang="en-ID" sz="4000" b="1" dirty="0"/>
              <a:t> vs Model Cloud (ChatGPT, Claude, </a:t>
            </a:r>
            <a:r>
              <a:rPr lang="en-ID" sz="4000" b="1" dirty="0" err="1"/>
              <a:t>dll</a:t>
            </a:r>
            <a:r>
              <a:rPr lang="en-ID" sz="4000" b="1" dirty="0"/>
              <a:t>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6703B-F968-F608-7192-1D663F5D3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9"/>
            <a:ext cx="11553645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Kenapa</a:t>
            </a:r>
            <a:r>
              <a:rPr lang="en-ID" sz="1600" b="1" dirty="0"/>
              <a:t> </a:t>
            </a:r>
            <a:r>
              <a:rPr lang="en-ID" sz="1600" b="1" dirty="0" err="1"/>
              <a:t>harus</a:t>
            </a:r>
            <a:r>
              <a:rPr lang="en-ID" sz="1600" b="1" dirty="0"/>
              <a:t> </a:t>
            </a:r>
            <a:r>
              <a:rPr lang="en-ID" sz="1600" b="1" dirty="0" err="1"/>
              <a:t>pakai</a:t>
            </a:r>
            <a:r>
              <a:rPr lang="en-ID" sz="1600" b="1" dirty="0"/>
              <a:t> </a:t>
            </a:r>
            <a:r>
              <a:rPr lang="en-ID" sz="1600" b="1" dirty="0" err="1"/>
              <a:t>Ollama</a:t>
            </a:r>
            <a:r>
              <a:rPr lang="en-ID" sz="1600" b="1" dirty="0"/>
              <a:t>, </a:t>
            </a:r>
            <a:r>
              <a:rPr lang="en-ID" sz="1600" b="1" dirty="0" err="1"/>
              <a:t>bukan</a:t>
            </a:r>
            <a:r>
              <a:rPr lang="en-ID" sz="1600" b="1" dirty="0"/>
              <a:t> </a:t>
            </a:r>
            <a:r>
              <a:rPr lang="en-ID" sz="1600" b="1" dirty="0" err="1"/>
              <a:t>menjalankan</a:t>
            </a:r>
            <a:r>
              <a:rPr lang="en-ID" sz="1600" b="1" dirty="0"/>
              <a:t> model </a:t>
            </a:r>
            <a:r>
              <a:rPr lang="en-ID" sz="1600" b="1" dirty="0" err="1"/>
              <a:t>sendiri</a:t>
            </a:r>
            <a:r>
              <a:rPr lang="en-ID" sz="1600" b="1" dirty="0"/>
              <a:t>?</a:t>
            </a:r>
            <a:r>
              <a:rPr lang="en-ID" sz="1600" dirty="0"/>
              <a:t> </a:t>
            </a:r>
            <a:r>
              <a:rPr lang="en-ID" sz="1600" dirty="0" err="1"/>
              <a:t>Menjalankan</a:t>
            </a:r>
            <a:r>
              <a:rPr lang="en-ID" sz="1600" dirty="0"/>
              <a:t> model AI </a:t>
            </a:r>
            <a:r>
              <a:rPr lang="en-ID" sz="1600" dirty="0" err="1"/>
              <a:t>langsung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file </a:t>
            </a:r>
            <a:r>
              <a:rPr lang="en-ID" sz="1600" dirty="0" err="1"/>
              <a:t>mentahnya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rumit</a:t>
            </a:r>
            <a:r>
              <a:rPr lang="en-ID" sz="1600" dirty="0"/>
              <a:t> — </a:t>
            </a:r>
            <a:r>
              <a:rPr lang="en-ID" sz="1600" dirty="0" err="1"/>
              <a:t>perlu</a:t>
            </a:r>
            <a:r>
              <a:rPr lang="en-ID" sz="1600" dirty="0"/>
              <a:t> </a:t>
            </a:r>
            <a:r>
              <a:rPr lang="en-ID" sz="1600" dirty="0" err="1"/>
              <a:t>kode</a:t>
            </a:r>
            <a:r>
              <a:rPr lang="en-ID" sz="1600" dirty="0"/>
              <a:t> </a:t>
            </a:r>
            <a:r>
              <a:rPr lang="en-ID" sz="1600" dirty="0" err="1"/>
              <a:t>khusus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memuat</a:t>
            </a:r>
            <a:r>
              <a:rPr lang="en-ID" sz="1600" dirty="0"/>
              <a:t> model </a:t>
            </a:r>
            <a:r>
              <a:rPr lang="en-ID" sz="1600" dirty="0" err="1"/>
              <a:t>ke</a:t>
            </a:r>
            <a:r>
              <a:rPr lang="en-ID" sz="1600" dirty="0"/>
              <a:t> memory, </a:t>
            </a:r>
            <a:r>
              <a:rPr lang="en-ID" sz="1600" dirty="0" err="1"/>
              <a:t>memecah</a:t>
            </a:r>
            <a:r>
              <a:rPr lang="en-ID" sz="1600" dirty="0"/>
              <a:t> </a:t>
            </a:r>
            <a:r>
              <a:rPr lang="en-ID" sz="1600" dirty="0" err="1"/>
              <a:t>kalimat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potongan-potongan</a:t>
            </a:r>
            <a:r>
              <a:rPr lang="en-ID" sz="1600" dirty="0"/>
              <a:t> </a:t>
            </a:r>
            <a:r>
              <a:rPr lang="en-ID" sz="1600" dirty="0" err="1"/>
              <a:t>kecil</a:t>
            </a:r>
            <a:r>
              <a:rPr lang="en-ID" sz="1600" dirty="0"/>
              <a:t> yang </a:t>
            </a:r>
            <a:r>
              <a:rPr lang="en-ID" sz="1600" dirty="0" err="1"/>
              <a:t>dimengerti</a:t>
            </a:r>
            <a:r>
              <a:rPr lang="en-ID" sz="1600" dirty="0"/>
              <a:t> </a:t>
            </a:r>
            <a:r>
              <a:rPr lang="en-ID" sz="1600" dirty="0" err="1"/>
              <a:t>komputer</a:t>
            </a:r>
            <a:r>
              <a:rPr lang="en-ID" sz="1600" dirty="0"/>
              <a:t>, dan </a:t>
            </a:r>
            <a:r>
              <a:rPr lang="en-ID" sz="1600" dirty="0" err="1"/>
              <a:t>mengatur</a:t>
            </a:r>
            <a:r>
              <a:rPr lang="en-ID" sz="1600" dirty="0"/>
              <a:t> </a:t>
            </a:r>
            <a:r>
              <a:rPr lang="en-ID" sz="1600" dirty="0" err="1"/>
              <a:t>pemakaian</a:t>
            </a:r>
            <a:r>
              <a:rPr lang="en-ID" sz="1600" dirty="0"/>
              <a:t> RAM/GPU. </a:t>
            </a:r>
            <a:r>
              <a:rPr lang="en-ID" sz="1600" dirty="0" err="1"/>
              <a:t>Ollama</a:t>
            </a:r>
            <a:r>
              <a:rPr lang="en-ID" sz="1600" dirty="0"/>
              <a:t> </a:t>
            </a:r>
            <a:r>
              <a:rPr lang="en-ID" sz="1600" dirty="0" err="1"/>
              <a:t>membungkus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kerumitan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 </a:t>
            </a:r>
            <a:r>
              <a:rPr lang="en-ID" sz="1600" b="1" dirty="0" err="1"/>
              <a:t>satu</a:t>
            </a:r>
            <a:r>
              <a:rPr lang="en-ID" sz="1600" b="1" dirty="0"/>
              <a:t> </a:t>
            </a:r>
            <a:r>
              <a:rPr lang="en-ID" sz="1600" b="1" dirty="0" err="1"/>
              <a:t>perintah</a:t>
            </a:r>
            <a:r>
              <a:rPr lang="en-ID" sz="1600" b="1" dirty="0"/>
              <a:t> </a:t>
            </a:r>
            <a:r>
              <a:rPr lang="en-ID" sz="1600" b="1" dirty="0" err="1"/>
              <a:t>simpel</a:t>
            </a:r>
            <a:r>
              <a:rPr lang="en-ID" sz="1600" dirty="0"/>
              <a:t> (</a:t>
            </a:r>
            <a:r>
              <a:rPr lang="en-ID" sz="1600" dirty="0" err="1"/>
              <a:t>ollama</a:t>
            </a:r>
            <a:r>
              <a:rPr lang="en-ID" sz="1600" dirty="0"/>
              <a:t> pull nama-model) dan </a:t>
            </a:r>
            <a:r>
              <a:rPr lang="en-ID" sz="1600" b="1" dirty="0" err="1"/>
              <a:t>satu</a:t>
            </a:r>
            <a:r>
              <a:rPr lang="en-ID" sz="1600" b="1" dirty="0"/>
              <a:t> </a:t>
            </a:r>
            <a:r>
              <a:rPr lang="en-ID" sz="1600" b="1" dirty="0" err="1"/>
              <a:t>cara</a:t>
            </a:r>
            <a:r>
              <a:rPr lang="en-ID" sz="1600" b="1" dirty="0"/>
              <a:t> </a:t>
            </a:r>
            <a:r>
              <a:rPr lang="en-ID" sz="1600" b="1" dirty="0" err="1"/>
              <a:t>sederhana</a:t>
            </a:r>
            <a:r>
              <a:rPr lang="en-ID" sz="1600" dirty="0"/>
              <a:t> 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bertanya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E9C-BC2E-80ED-872C-9280603F1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11" y="3288568"/>
            <a:ext cx="9900120" cy="272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157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3E983-3503-1245-108A-F7499480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9A3E-9613-8A3B-CCF9-93738A34B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b="1" dirty="0" err="1"/>
              <a:t>Installasi</a:t>
            </a:r>
            <a:r>
              <a:rPr lang="en-ID" sz="4000" b="1" dirty="0"/>
              <a:t> </a:t>
            </a:r>
            <a:r>
              <a:rPr lang="en-ID" sz="4000" b="1" dirty="0" err="1"/>
              <a:t>Ollama</a:t>
            </a:r>
            <a:endParaRPr lang="en-ID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9F0E-8462-CC32-60D2-9B197B3A2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9"/>
            <a:ext cx="11553645" cy="4351338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Ollama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 </a:t>
            </a:r>
            <a:r>
              <a:rPr lang="en-ID" sz="1600" i="1" dirty="0"/>
              <a:t>runtime</a:t>
            </a:r>
            <a:r>
              <a:rPr lang="en-ID" sz="1600" dirty="0"/>
              <a:t> yang </a:t>
            </a:r>
            <a:r>
              <a:rPr lang="en-ID" sz="1600" dirty="0" err="1"/>
              <a:t>menjalankan</a:t>
            </a:r>
            <a:r>
              <a:rPr lang="en-ID" sz="1600" dirty="0"/>
              <a:t> model LLM open-source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lokal</a:t>
            </a:r>
            <a:r>
              <a:rPr lang="en-ID" sz="1600" dirty="0"/>
              <a:t> di laptop Anda, </a:t>
            </a:r>
            <a:r>
              <a:rPr lang="en-ID" sz="1600" dirty="0" err="1"/>
              <a:t>tanpa</a:t>
            </a:r>
            <a:r>
              <a:rPr lang="en-ID" sz="1600" dirty="0"/>
              <a:t> data </a:t>
            </a:r>
            <a:r>
              <a:rPr lang="en-ID" sz="1600" dirty="0" err="1"/>
              <a:t>dikirim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internet. Buka </a:t>
            </a:r>
            <a:r>
              <a:rPr lang="en-ID" sz="1600" u="sng" dirty="0">
                <a:hlinkClick r:id="rId2"/>
              </a:rPr>
              <a:t>https://ollama.com/download</a:t>
            </a:r>
            <a:r>
              <a:rPr lang="en-ID" sz="1600" dirty="0"/>
              <a:t>, </a:t>
            </a:r>
            <a:r>
              <a:rPr lang="en-ID" sz="1600" dirty="0" err="1"/>
              <a:t>pilih</a:t>
            </a:r>
            <a:r>
              <a:rPr lang="en-ID" sz="1600" dirty="0"/>
              <a:t> tab OS Anda, </a:t>
            </a:r>
            <a:r>
              <a:rPr lang="en-ID" sz="1600" dirty="0" err="1"/>
              <a:t>lalu</a:t>
            </a:r>
            <a:r>
              <a:rPr lang="en-ID" sz="1600" dirty="0"/>
              <a:t> </a:t>
            </a:r>
            <a:r>
              <a:rPr lang="en-ID" sz="1600" dirty="0" err="1"/>
              <a:t>ikuti</a:t>
            </a:r>
            <a:r>
              <a:rPr lang="en-ID" sz="1600" dirty="0"/>
              <a:t> </a:t>
            </a:r>
            <a:r>
              <a:rPr lang="en-ID" sz="1600" dirty="0" err="1"/>
              <a:t>panduan</a:t>
            </a:r>
            <a:r>
              <a:rPr lang="en-ID" sz="1600" dirty="0"/>
              <a:t> </a:t>
            </a:r>
            <a:r>
              <a:rPr lang="en-ID" sz="1600" dirty="0" err="1"/>
              <a:t>sesuai</a:t>
            </a:r>
            <a:r>
              <a:rPr lang="en-ID" sz="1600" dirty="0"/>
              <a:t> OS di </a:t>
            </a:r>
            <a:r>
              <a:rPr lang="en-ID" sz="1600" dirty="0" err="1"/>
              <a:t>bawah</a:t>
            </a:r>
            <a:r>
              <a:rPr lang="en-ID" sz="1600" dirty="0"/>
              <a:t>.</a:t>
            </a:r>
          </a:p>
          <a:p>
            <a:pPr marL="0" indent="0" algn="just">
              <a:buNone/>
            </a:pPr>
            <a:r>
              <a:rPr lang="en-ID" sz="1600" b="1" dirty="0" err="1"/>
              <a:t>Opsi</a:t>
            </a:r>
            <a:r>
              <a:rPr lang="en-ID" sz="1600" b="1" dirty="0"/>
              <a:t> A — Terminal (</a:t>
            </a:r>
            <a:r>
              <a:rPr lang="en-ID" sz="1600" b="1" dirty="0" err="1"/>
              <a:t>tercepat</a:t>
            </a:r>
            <a:r>
              <a:rPr lang="en-ID" sz="1600" b="1" dirty="0"/>
              <a:t>):</a:t>
            </a:r>
          </a:p>
          <a:p>
            <a:pPr marL="0" indent="0" algn="just">
              <a:buNone/>
            </a:pPr>
            <a:endParaRPr lang="en-ID" sz="1600" b="1" dirty="0"/>
          </a:p>
          <a:p>
            <a:pPr marL="0" indent="0" algn="just">
              <a:buNone/>
            </a:pPr>
            <a:endParaRPr lang="en-ID" sz="1600" b="1" dirty="0"/>
          </a:p>
          <a:p>
            <a:pPr marL="0" indent="0" algn="just">
              <a:buNone/>
            </a:pPr>
            <a:endParaRPr lang="en-ID" sz="1600" b="1" dirty="0"/>
          </a:p>
          <a:p>
            <a:pPr marL="0" indent="0" algn="just">
              <a:buNone/>
            </a:pPr>
            <a:r>
              <a:rPr lang="en-ID" sz="1600" b="1" dirty="0" err="1"/>
              <a:t>Opsi</a:t>
            </a:r>
            <a:r>
              <a:rPr lang="en-ID" sz="1600" b="1" dirty="0"/>
              <a:t> B — Download executable: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D" sz="1600" dirty="0" err="1"/>
              <a:t>Klik</a:t>
            </a:r>
            <a:r>
              <a:rPr lang="en-ID" sz="1600" dirty="0"/>
              <a:t> tab </a:t>
            </a:r>
            <a:r>
              <a:rPr lang="en-ID" sz="1600" b="1" dirty="0"/>
              <a:t>Windows</a:t>
            </a:r>
            <a:r>
              <a:rPr lang="en-ID" sz="1600" dirty="0"/>
              <a:t> di </a:t>
            </a:r>
            <a:r>
              <a:rPr lang="en-ID" sz="1600" dirty="0" err="1"/>
              <a:t>halaman</a:t>
            </a:r>
            <a:r>
              <a:rPr lang="en-ID" sz="1600" dirty="0"/>
              <a:t> download, </a:t>
            </a:r>
            <a:r>
              <a:rPr lang="en-ID" sz="1600" dirty="0" err="1"/>
              <a:t>lalu</a:t>
            </a:r>
            <a:r>
              <a:rPr lang="en-ID" sz="1600" dirty="0"/>
              <a:t> </a:t>
            </a:r>
            <a:r>
              <a:rPr lang="en-ID" sz="1600" dirty="0" err="1"/>
              <a:t>klik</a:t>
            </a:r>
            <a:r>
              <a:rPr lang="en-ID" sz="1600" dirty="0"/>
              <a:t> </a:t>
            </a:r>
            <a:r>
              <a:rPr lang="en-ID" sz="1600" b="1" dirty="0"/>
              <a:t>"Download for Windows"</a:t>
            </a:r>
            <a:r>
              <a:rPr lang="en-ID" sz="1600" dirty="0"/>
              <a:t> — </a:t>
            </a:r>
            <a:r>
              <a:rPr lang="en-ID" sz="1600" dirty="0" err="1"/>
              <a:t>mengunduh</a:t>
            </a:r>
            <a:r>
              <a:rPr lang="en-ID" sz="1600" dirty="0"/>
              <a:t> </a:t>
            </a:r>
            <a:r>
              <a:rPr lang="en-ID" sz="1600" dirty="0" err="1"/>
              <a:t>OllamaSetup.exe</a:t>
            </a:r>
            <a:r>
              <a:rPr lang="en-ID" sz="16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D" sz="1600" dirty="0" err="1"/>
              <a:t>Jalankan</a:t>
            </a:r>
            <a:r>
              <a:rPr lang="en-ID" sz="1600" dirty="0"/>
              <a:t> </a:t>
            </a:r>
            <a:r>
              <a:rPr lang="en-ID" sz="1600" dirty="0" err="1"/>
              <a:t>OllamaSetup.exe</a:t>
            </a:r>
            <a:r>
              <a:rPr lang="en-ID" sz="1600" dirty="0"/>
              <a:t>, </a:t>
            </a:r>
            <a:r>
              <a:rPr lang="en-ID" sz="1600" dirty="0" err="1"/>
              <a:t>ikuti</a:t>
            </a:r>
            <a:r>
              <a:rPr lang="en-ID" sz="1600" dirty="0"/>
              <a:t> wizard </a:t>
            </a:r>
            <a:r>
              <a:rPr lang="en-ID" sz="1600" dirty="0" err="1"/>
              <a:t>instalasi</a:t>
            </a:r>
            <a:r>
              <a:rPr lang="en-ID" sz="1600" dirty="0"/>
              <a:t> (Next → Install → Finish).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D" sz="1600" dirty="0" err="1"/>
              <a:t>Ollama</a:t>
            </a:r>
            <a:r>
              <a:rPr lang="en-ID" sz="1600" dirty="0"/>
              <a:t> </a:t>
            </a:r>
            <a:r>
              <a:rPr lang="en-ID" sz="1600" dirty="0" err="1"/>
              <a:t>berjalan</a:t>
            </a:r>
            <a:r>
              <a:rPr lang="en-ID" sz="1600" dirty="0"/>
              <a:t> </a:t>
            </a:r>
            <a:r>
              <a:rPr lang="en-ID" sz="1600" dirty="0" err="1"/>
              <a:t>otomatis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service </a:t>
            </a:r>
            <a:r>
              <a:rPr lang="en-ID" sz="1600" dirty="0" err="1"/>
              <a:t>setelah</a:t>
            </a:r>
            <a:r>
              <a:rPr lang="en-ID" sz="1600" dirty="0"/>
              <a:t> </a:t>
            </a:r>
            <a:r>
              <a:rPr lang="en-ID" sz="1600" dirty="0" err="1"/>
              <a:t>instalasi</a:t>
            </a:r>
            <a:r>
              <a:rPr lang="en-ID" sz="1600" dirty="0"/>
              <a:t> — ikon </a:t>
            </a:r>
            <a:r>
              <a:rPr lang="en-ID" sz="1600" dirty="0" err="1"/>
              <a:t>muncul</a:t>
            </a:r>
            <a:r>
              <a:rPr lang="en-ID" sz="1600" dirty="0"/>
              <a:t> di system tray (</a:t>
            </a:r>
            <a:r>
              <a:rPr lang="en-ID" sz="1600" dirty="0" err="1"/>
              <a:t>pojok</a:t>
            </a:r>
            <a:r>
              <a:rPr lang="en-ID" sz="1600" dirty="0"/>
              <a:t> </a:t>
            </a:r>
            <a:r>
              <a:rPr lang="en-ID" sz="1600" dirty="0" err="1"/>
              <a:t>kanan</a:t>
            </a:r>
            <a:r>
              <a:rPr lang="en-ID" sz="1600" dirty="0"/>
              <a:t> </a:t>
            </a:r>
            <a:r>
              <a:rPr lang="en-ID" sz="1600" dirty="0" err="1"/>
              <a:t>bawah</a:t>
            </a:r>
            <a:r>
              <a:rPr lang="en-ID" sz="1600" dirty="0"/>
              <a:t> taskbar).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D" sz="1600" dirty="0"/>
              <a:t>Buka </a:t>
            </a:r>
            <a:r>
              <a:rPr lang="en-ID" sz="1600" b="1" dirty="0"/>
              <a:t>PowerShell</a:t>
            </a:r>
            <a:r>
              <a:rPr lang="en-ID" sz="1600" dirty="0"/>
              <a:t> </a:t>
            </a:r>
            <a:r>
              <a:rPr lang="en-ID" sz="1600" dirty="0" err="1"/>
              <a:t>atau</a:t>
            </a:r>
            <a:r>
              <a:rPr lang="en-ID" sz="1600" dirty="0"/>
              <a:t> </a:t>
            </a:r>
            <a:r>
              <a:rPr lang="en-ID" sz="1600" b="1" dirty="0"/>
              <a:t>Command Prompt</a:t>
            </a:r>
            <a:r>
              <a:rPr lang="en-ID" sz="1600" dirty="0"/>
              <a:t> 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menjalankan</a:t>
            </a:r>
            <a:r>
              <a:rPr lang="en-ID" sz="1600" dirty="0"/>
              <a:t> </a:t>
            </a:r>
            <a:r>
              <a:rPr lang="en-ID" sz="1600" dirty="0" err="1"/>
              <a:t>perintah</a:t>
            </a:r>
            <a:r>
              <a:rPr lang="en-ID" sz="1600" dirty="0"/>
              <a:t> </a:t>
            </a:r>
            <a:r>
              <a:rPr lang="en-ID" sz="1600" dirty="0" err="1"/>
              <a:t>verifikasi</a:t>
            </a:r>
            <a:r>
              <a:rPr lang="en-ID" sz="1600" dirty="0"/>
              <a:t>/</a:t>
            </a:r>
            <a:r>
              <a:rPr lang="en-ID" sz="1600" dirty="0" err="1"/>
              <a:t>ollama</a:t>
            </a:r>
            <a:r>
              <a:rPr lang="en-ID" sz="1600" dirty="0"/>
              <a:t> pull di </a:t>
            </a:r>
            <a:r>
              <a:rPr lang="en-ID" sz="1600" dirty="0" err="1"/>
              <a:t>langkah</a:t>
            </a:r>
            <a:r>
              <a:rPr lang="en-ID" sz="1600" dirty="0"/>
              <a:t> </a:t>
            </a:r>
            <a:r>
              <a:rPr lang="en-ID" sz="1600" dirty="0" err="1"/>
              <a:t>berikutnya</a:t>
            </a:r>
            <a:r>
              <a:rPr lang="en-ID" sz="1600" dirty="0"/>
              <a:t>.</a:t>
            </a:r>
          </a:p>
          <a:p>
            <a:pPr marL="0" indent="0" algn="just">
              <a:buNone/>
            </a:pPr>
            <a:endParaRPr lang="en-ID" sz="1600" dirty="0"/>
          </a:p>
          <a:p>
            <a:pPr marL="0" indent="0" algn="just">
              <a:buNone/>
            </a:pPr>
            <a:endParaRPr lang="en-ID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55477-2DA6-01BD-6B10-E056892B9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" y="2844505"/>
            <a:ext cx="5295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117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C9666-A6B4-18F4-92B1-F4D60C20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9602-A9D7-9617-0D11-8C85D11D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 err="1"/>
              <a:t>Praktik</a:t>
            </a:r>
            <a:r>
              <a:rPr lang="en-ID" b="1" dirty="0"/>
              <a:t> — </a:t>
            </a:r>
            <a:r>
              <a:rPr lang="en-ID" b="1" dirty="0" err="1"/>
              <a:t>Verifikasi</a:t>
            </a:r>
            <a:r>
              <a:rPr lang="en-ID" b="1" dirty="0"/>
              <a:t> </a:t>
            </a:r>
            <a:r>
              <a:rPr lang="en-ID" b="1" dirty="0" err="1"/>
              <a:t>Instalasi</a:t>
            </a:r>
            <a:r>
              <a:rPr lang="en-ID" b="1" dirty="0"/>
              <a:t> &amp; </a:t>
            </a:r>
            <a:r>
              <a:rPr lang="en-ID" b="1" dirty="0" err="1"/>
              <a:t>Unduh</a:t>
            </a:r>
            <a:r>
              <a:rPr lang="en-ID" b="1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320DF-91C5-1278-EE46-9644B560F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5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Checkpoint</a:t>
            </a:r>
            <a:r>
              <a:rPr lang="en-ID" sz="1600" dirty="0"/>
              <a:t>: </a:t>
            </a:r>
            <a:r>
              <a:rPr lang="en-ID" sz="1600" dirty="0" err="1"/>
              <a:t>ollama</a:t>
            </a:r>
            <a:r>
              <a:rPr lang="en-ID" sz="1600" dirty="0"/>
              <a:t> --version </a:t>
            </a:r>
            <a:r>
              <a:rPr lang="en-ID" sz="1600" dirty="0" err="1"/>
              <a:t>menampilkan</a:t>
            </a:r>
            <a:r>
              <a:rPr lang="en-ID" sz="1600" dirty="0"/>
              <a:t> </a:t>
            </a:r>
            <a:r>
              <a:rPr lang="en-ID" sz="1600" dirty="0" err="1"/>
              <a:t>nomor</a:t>
            </a:r>
            <a:r>
              <a:rPr lang="en-ID" sz="1600" dirty="0"/>
              <a:t> </a:t>
            </a:r>
            <a:r>
              <a:rPr lang="en-ID" sz="1600" dirty="0" err="1"/>
              <a:t>versi</a:t>
            </a:r>
            <a:r>
              <a:rPr lang="en-ID" sz="1600" dirty="0"/>
              <a:t>, curl </a:t>
            </a:r>
            <a:r>
              <a:rPr lang="en-ID" sz="1600" dirty="0" err="1"/>
              <a:t>ke</a:t>
            </a:r>
            <a:r>
              <a:rPr lang="en-ID" sz="1600" dirty="0"/>
              <a:t> localhost:11434 </a:t>
            </a:r>
            <a:r>
              <a:rPr lang="en-ID" sz="1600" dirty="0" err="1"/>
              <a:t>mengembalikan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 </a:t>
            </a:r>
            <a:r>
              <a:rPr lang="en-ID" sz="1600" dirty="0" err="1"/>
              <a:t>Ollama</a:t>
            </a:r>
            <a:r>
              <a:rPr lang="en-ID" sz="1600" dirty="0"/>
              <a:t> is running, dan </a:t>
            </a:r>
            <a:r>
              <a:rPr lang="en-ID" sz="1600" dirty="0" err="1"/>
              <a:t>ollama</a:t>
            </a:r>
            <a:r>
              <a:rPr lang="en-ID" sz="1600" dirty="0"/>
              <a:t> run </a:t>
            </a:r>
            <a:r>
              <a:rPr lang="en-ID" sz="1600" dirty="0" err="1"/>
              <a:t>menghasilkan</a:t>
            </a:r>
            <a:r>
              <a:rPr lang="en-ID" sz="1600" dirty="0"/>
              <a:t> </a:t>
            </a:r>
            <a:r>
              <a:rPr lang="en-ID" sz="1600" dirty="0" err="1"/>
              <a:t>respons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model. Tekan </a:t>
            </a:r>
            <a:r>
              <a:rPr lang="en-ID" sz="1600" dirty="0" err="1"/>
              <a:t>Ctrl+D</a:t>
            </a:r>
            <a:r>
              <a:rPr lang="en-ID" sz="1600" dirty="0"/>
              <a:t> 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ketik</a:t>
            </a:r>
            <a:r>
              <a:rPr lang="en-ID" sz="1600" dirty="0"/>
              <a:t> /bye 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keluar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sesi</a:t>
            </a:r>
            <a:r>
              <a:rPr lang="en-ID" sz="1600" dirty="0"/>
              <a:t> chat.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7DD2D-876A-1A83-CC80-3B84130ED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33" y="1564367"/>
            <a:ext cx="5609373" cy="272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4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6C55-95F1-E9A2-B3BF-A72B5EC5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28F3-AC33-53B4-67B5-0420A996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Perbandingan</a:t>
            </a:r>
            <a:r>
              <a:rPr lang="en-ID" b="1" dirty="0"/>
              <a:t> Model yang </a:t>
            </a:r>
            <a:r>
              <a:rPr lang="en-ID" b="1" dirty="0" err="1"/>
              <a:t>Tersedia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997E-951E-28B1-3218-6667FB073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5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Tabel </a:t>
            </a:r>
            <a:r>
              <a:rPr lang="en-ID" sz="1600" dirty="0" err="1"/>
              <a:t>berikut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rekomendasi</a:t>
            </a:r>
            <a:r>
              <a:rPr lang="en-ID" sz="1600" dirty="0"/>
              <a:t> model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use case: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endParaRPr lang="en-ID" sz="1600" b="1" dirty="0"/>
          </a:p>
          <a:p>
            <a:r>
              <a:rPr lang="en-ID" sz="1600" b="1" dirty="0" err="1"/>
              <a:t>Rekomendasi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Task di Training Ini:</a:t>
            </a:r>
            <a:endParaRPr lang="en-ID" sz="1600" dirty="0"/>
          </a:p>
          <a:p>
            <a:pPr lvl="0"/>
            <a:r>
              <a:rPr lang="en-ID" sz="1600" b="1" dirty="0"/>
              <a:t>Default Model</a:t>
            </a:r>
            <a:r>
              <a:rPr lang="en-ID" sz="1600" dirty="0"/>
              <a:t>: llama3.2:3b - </a:t>
            </a:r>
            <a:r>
              <a:rPr lang="en-ID" sz="1600" dirty="0" err="1"/>
              <a:t>ringan</a:t>
            </a:r>
            <a:r>
              <a:rPr lang="en-ID" sz="1600" dirty="0"/>
              <a:t>, </a:t>
            </a:r>
            <a:r>
              <a:rPr lang="en-ID" sz="1600" dirty="0" err="1"/>
              <a:t>cepat</a:t>
            </a:r>
            <a:r>
              <a:rPr lang="en-ID" sz="1600" dirty="0"/>
              <a:t>, dan </a:t>
            </a: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berkualitas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pembelajaran</a:t>
            </a:r>
            <a:endParaRPr lang="en-ID" sz="1600" dirty="0"/>
          </a:p>
          <a:p>
            <a:pPr lvl="0"/>
            <a:r>
              <a:rPr lang="en-ID" sz="1600" b="1" dirty="0"/>
              <a:t>Jika RAM </a:t>
            </a:r>
            <a:r>
              <a:rPr lang="en-ID" sz="1600" b="1" dirty="0" err="1"/>
              <a:t>terbatas</a:t>
            </a:r>
            <a:r>
              <a:rPr lang="en-ID" sz="1600" dirty="0"/>
              <a:t>: </a:t>
            </a:r>
            <a:r>
              <a:rPr lang="en-ID" sz="1600" dirty="0" err="1"/>
              <a:t>gunakan</a:t>
            </a:r>
            <a:r>
              <a:rPr lang="en-ID" sz="1600" dirty="0"/>
              <a:t> llama3.2:1b</a:t>
            </a:r>
          </a:p>
          <a:p>
            <a:pPr lvl="0"/>
            <a:r>
              <a:rPr lang="en-ID" sz="1600" b="1" dirty="0"/>
              <a:t>Jika </a:t>
            </a:r>
            <a:r>
              <a:rPr lang="en-ID" sz="1600" b="1" dirty="0" err="1"/>
              <a:t>ingin</a:t>
            </a:r>
            <a:r>
              <a:rPr lang="en-ID" sz="1600" b="1" dirty="0"/>
              <a:t> </a:t>
            </a:r>
            <a:r>
              <a:rPr lang="en-ID" sz="1600" b="1" dirty="0" err="1"/>
              <a:t>kualitas</a:t>
            </a:r>
            <a:r>
              <a:rPr lang="en-ID" sz="1600" b="1" dirty="0"/>
              <a:t> </a:t>
            </a:r>
            <a:r>
              <a:rPr lang="en-ID" sz="1600" b="1" dirty="0" err="1"/>
              <a:t>lebih</a:t>
            </a:r>
            <a:r>
              <a:rPr lang="en-ID" sz="1600" b="1" dirty="0"/>
              <a:t> </a:t>
            </a:r>
            <a:r>
              <a:rPr lang="en-ID" sz="1600" b="1" dirty="0" err="1"/>
              <a:t>tinggi</a:t>
            </a:r>
            <a:r>
              <a:rPr lang="en-ID" sz="1600" dirty="0"/>
              <a:t>: </a:t>
            </a:r>
            <a:r>
              <a:rPr lang="en-ID" sz="1600" dirty="0" err="1"/>
              <a:t>gunakan</a:t>
            </a:r>
            <a:r>
              <a:rPr lang="en-ID" sz="1600" dirty="0"/>
              <a:t> qwen2.5:7b </a:t>
            </a:r>
            <a:r>
              <a:rPr lang="en-ID" sz="1600" dirty="0" err="1"/>
              <a:t>atau</a:t>
            </a:r>
            <a:r>
              <a:rPr lang="en-ID" sz="1600" dirty="0"/>
              <a:t> mistral:7b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5A86B9-2A7B-8276-05D8-C56CD5E3F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951756"/>
              </p:ext>
            </p:extLst>
          </p:nvPr>
        </p:nvGraphicFramePr>
        <p:xfrm>
          <a:off x="493259" y="2109562"/>
          <a:ext cx="9608684" cy="26126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3303">
                  <a:extLst>
                    <a:ext uri="{9D8B030D-6E8A-4147-A177-3AD203B41FA5}">
                      <a16:colId xmlns:a16="http://schemas.microsoft.com/office/drawing/2014/main" val="216531737"/>
                    </a:ext>
                  </a:extLst>
                </a:gridCol>
                <a:gridCol w="803655">
                  <a:extLst>
                    <a:ext uri="{9D8B030D-6E8A-4147-A177-3AD203B41FA5}">
                      <a16:colId xmlns:a16="http://schemas.microsoft.com/office/drawing/2014/main" val="2953845138"/>
                    </a:ext>
                  </a:extLst>
                </a:gridCol>
                <a:gridCol w="1159994">
                  <a:extLst>
                    <a:ext uri="{9D8B030D-6E8A-4147-A177-3AD203B41FA5}">
                      <a16:colId xmlns:a16="http://schemas.microsoft.com/office/drawing/2014/main" val="3340429927"/>
                    </a:ext>
                  </a:extLst>
                </a:gridCol>
                <a:gridCol w="1296463">
                  <a:extLst>
                    <a:ext uri="{9D8B030D-6E8A-4147-A177-3AD203B41FA5}">
                      <a16:colId xmlns:a16="http://schemas.microsoft.com/office/drawing/2014/main" val="795326137"/>
                    </a:ext>
                  </a:extLst>
                </a:gridCol>
                <a:gridCol w="4435269">
                  <a:extLst>
                    <a:ext uri="{9D8B030D-6E8A-4147-A177-3AD203B41FA5}">
                      <a16:colId xmlns:a16="http://schemas.microsoft.com/office/drawing/2014/main" val="2105302192"/>
                    </a:ext>
                  </a:extLst>
                </a:gridCol>
              </a:tblGrid>
              <a:tr h="242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>
                          <a:effectLst/>
                        </a:rPr>
                        <a:t>Model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 err="1">
                          <a:effectLst/>
                        </a:rPr>
                        <a:t>Ukuran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>
                          <a:effectLst/>
                        </a:rPr>
                        <a:t>RAM Min.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>
                          <a:effectLst/>
                        </a:rPr>
                        <a:t>Kecepatan</a:t>
                      </a:r>
                      <a:endParaRPr lang="en-ID" sz="1200" b="1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 err="1">
                          <a:effectLst/>
                        </a:rPr>
                        <a:t>Catatan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590010"/>
                  </a:ext>
                </a:extLst>
              </a:tr>
              <a:tr h="54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000" b="1" dirty="0">
                          <a:effectLst/>
                        </a:rPr>
                        <a:t>llama3.2:1b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1 GB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4 GB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Sangat </a:t>
                      </a:r>
                      <a:r>
                        <a:rPr lang="en-ID" sz="1200" dirty="0" err="1">
                          <a:effectLst/>
                        </a:rPr>
                        <a:t>Cepat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>
                          <a:effectLst/>
                        </a:rPr>
                        <a:t>Ideal </a:t>
                      </a:r>
                      <a:r>
                        <a:rPr lang="en-ID" sz="1200" dirty="0" err="1">
                          <a:effectLst/>
                        </a:rPr>
                        <a:t>untuk</a:t>
                      </a:r>
                      <a:r>
                        <a:rPr lang="en-ID" sz="1200" dirty="0">
                          <a:effectLst/>
                        </a:rPr>
                        <a:t> devices </a:t>
                      </a:r>
                      <a:r>
                        <a:rPr lang="en-ID" sz="1200" dirty="0" err="1">
                          <a:effectLst/>
                        </a:rPr>
                        <a:t>terbatas</a:t>
                      </a:r>
                      <a:r>
                        <a:rPr lang="en-ID" sz="1200" dirty="0">
                          <a:effectLst/>
                        </a:rPr>
                        <a:t>; </a:t>
                      </a:r>
                      <a:r>
                        <a:rPr lang="en-ID" sz="1200" dirty="0" err="1">
                          <a:effectLst/>
                        </a:rPr>
                        <a:t>cocok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untuk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klasifikasi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sederhana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016919"/>
                  </a:ext>
                </a:extLst>
              </a:tr>
              <a:tr h="6909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000" b="1" dirty="0">
                          <a:effectLst/>
                        </a:rPr>
                        <a:t>llama3.2:3b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2 GB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6 GB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 err="1">
                          <a:effectLst/>
                        </a:rPr>
                        <a:t>Cepat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>
                          <a:effectLst/>
                        </a:rPr>
                        <a:t>DEFAULT RECOMMENDED - best balance </a:t>
                      </a:r>
                      <a:r>
                        <a:rPr lang="en-ID" sz="1200" dirty="0" err="1">
                          <a:effectLst/>
                        </a:rPr>
                        <a:t>untuk</a:t>
                      </a:r>
                      <a:r>
                        <a:rPr lang="en-ID" sz="1200" dirty="0">
                          <a:effectLst/>
                        </a:rPr>
                        <a:t> training; </a:t>
                      </a:r>
                      <a:r>
                        <a:rPr lang="en-ID" sz="1200" dirty="0" err="1">
                          <a:effectLst/>
                        </a:rPr>
                        <a:t>layak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untuk</a:t>
                      </a:r>
                      <a:r>
                        <a:rPr lang="en-ID" sz="1200" dirty="0">
                          <a:effectLst/>
                        </a:rPr>
                        <a:t> Q&amp;A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57356"/>
                  </a:ext>
                </a:extLst>
              </a:tr>
              <a:tr h="54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000" b="1" dirty="0">
                          <a:effectLst/>
                        </a:rPr>
                        <a:t>mistral:7b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>
                          <a:effectLst/>
                        </a:rPr>
                        <a:t>4 GB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8 GB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Sedang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>
                          <a:effectLst/>
                        </a:rPr>
                        <a:t>General-purpose; </a:t>
                      </a:r>
                      <a:r>
                        <a:rPr lang="en-ID" sz="1200" dirty="0" err="1">
                          <a:effectLst/>
                        </a:rPr>
                        <a:t>lebih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presisi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dari</a:t>
                      </a:r>
                      <a:r>
                        <a:rPr lang="en-ID" sz="1200" dirty="0">
                          <a:effectLst/>
                        </a:rPr>
                        <a:t> Llama di benchmark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121213"/>
                  </a:ext>
                </a:extLst>
              </a:tr>
              <a:tr h="54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000" b="1" dirty="0">
                          <a:effectLst/>
                        </a:rPr>
                        <a:t>qwen2.5:7b</a:t>
                      </a:r>
                      <a:endParaRPr lang="en-ID" sz="1200" b="1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>
                          <a:effectLst/>
                        </a:rPr>
                        <a:t>4 GB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>
                          <a:effectLst/>
                        </a:rPr>
                        <a:t>8 GB</a:t>
                      </a:r>
                      <a:endParaRPr lang="en-ID" sz="1200" b="0" i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dirty="0">
                          <a:effectLst/>
                        </a:rPr>
                        <a:t>Sedang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1200" dirty="0">
                          <a:effectLst/>
                        </a:rPr>
                        <a:t>Optimized </a:t>
                      </a:r>
                      <a:r>
                        <a:rPr lang="en-ID" sz="1200" dirty="0" err="1">
                          <a:effectLst/>
                        </a:rPr>
                        <a:t>untuk</a:t>
                      </a:r>
                      <a:r>
                        <a:rPr lang="en-ID" sz="1200" dirty="0">
                          <a:effectLst/>
                        </a:rPr>
                        <a:t> Bahasa Indonesia; </a:t>
                      </a:r>
                      <a:r>
                        <a:rPr lang="en-ID" sz="1200" dirty="0" err="1">
                          <a:effectLst/>
                        </a:rPr>
                        <a:t>bagus</a:t>
                      </a:r>
                      <a:r>
                        <a:rPr lang="en-ID" sz="1200" dirty="0">
                          <a:effectLst/>
                        </a:rPr>
                        <a:t> </a:t>
                      </a:r>
                      <a:r>
                        <a:rPr lang="en-ID" sz="1200" dirty="0" err="1">
                          <a:effectLst/>
                        </a:rPr>
                        <a:t>untuk</a:t>
                      </a:r>
                      <a:r>
                        <a:rPr lang="en-ID" sz="1200" dirty="0">
                          <a:effectLst/>
                        </a:rPr>
                        <a:t> NLP tasks</a:t>
                      </a:r>
                      <a:endParaRPr lang="en-ID" sz="1200" b="0" i="0" dirty="0">
                        <a:solidFill>
                          <a:srgbClr val="1F2328"/>
                        </a:solidFill>
                        <a:effectLst/>
                        <a:latin typeface="Mona Sans VF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7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909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8599B-AF5B-E895-7706-6E90506D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542E-1F24-89B4-8F7F-920331B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Akses </a:t>
            </a:r>
            <a:r>
              <a:rPr lang="en-ID" b="1" dirty="0" err="1"/>
              <a:t>Ollama</a:t>
            </a:r>
            <a:r>
              <a:rPr lang="en-ID" b="1" dirty="0"/>
              <a:t> via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E5AAD-6D03-F62A-2DA6-A2F780CE7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3547429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Selain </a:t>
            </a:r>
            <a:r>
              <a:rPr lang="en-ID" sz="1600" dirty="0" err="1"/>
              <a:t>lewat</a:t>
            </a:r>
            <a:r>
              <a:rPr lang="en-ID" sz="1600" dirty="0"/>
              <a:t> terminal, </a:t>
            </a:r>
            <a:r>
              <a:rPr lang="en-ID" sz="1600" dirty="0" err="1"/>
              <a:t>aplikasi</a:t>
            </a:r>
            <a:r>
              <a:rPr lang="en-ID" sz="1600" dirty="0"/>
              <a:t> desktop </a:t>
            </a:r>
            <a:r>
              <a:rPr lang="en-ID" sz="1600" dirty="0" err="1"/>
              <a:t>Ollama</a:t>
            </a:r>
            <a:r>
              <a:rPr lang="en-ID" sz="1600" dirty="0"/>
              <a:t> juga </a:t>
            </a:r>
            <a:r>
              <a:rPr lang="en-ID" sz="1600" dirty="0" err="1"/>
              <a:t>menyediakan</a:t>
            </a:r>
            <a:r>
              <a:rPr lang="en-ID" sz="1600" dirty="0"/>
              <a:t> </a:t>
            </a:r>
            <a:r>
              <a:rPr lang="en-ID" sz="1600" dirty="0" err="1"/>
              <a:t>jendela</a:t>
            </a:r>
            <a:r>
              <a:rPr lang="en-ID" sz="1600" dirty="0"/>
              <a:t> chat (GUI) </a:t>
            </a:r>
            <a:r>
              <a:rPr lang="en-ID" sz="1600" dirty="0" err="1"/>
              <a:t>sederhana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Membuka</a:t>
            </a:r>
            <a:r>
              <a:rPr lang="en-ID" sz="1600" b="1" dirty="0"/>
              <a:t> </a:t>
            </a:r>
            <a:r>
              <a:rPr lang="en-ID" sz="1600" b="1" dirty="0" err="1"/>
              <a:t>Ollama</a:t>
            </a:r>
            <a:r>
              <a:rPr lang="en-ID" sz="1600" b="1" dirty="0"/>
              <a:t> Chat: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Klik</a:t>
            </a:r>
            <a:r>
              <a:rPr lang="en-ID" sz="1600" dirty="0"/>
              <a:t> ikon </a:t>
            </a:r>
            <a:r>
              <a:rPr lang="en-ID" sz="1600" dirty="0" err="1"/>
              <a:t>Ollama</a:t>
            </a:r>
            <a:r>
              <a:rPr lang="en-ID" sz="1600" dirty="0"/>
              <a:t> di menu bar (macOS, </a:t>
            </a:r>
            <a:r>
              <a:rPr lang="en-ID" sz="1600" dirty="0" err="1"/>
              <a:t>pojok</a:t>
            </a:r>
            <a:r>
              <a:rPr lang="en-ID" sz="1600" dirty="0"/>
              <a:t> </a:t>
            </a:r>
            <a:r>
              <a:rPr lang="en-ID" sz="1600" dirty="0" err="1"/>
              <a:t>kanan</a:t>
            </a:r>
            <a:r>
              <a:rPr lang="en-ID" sz="1600" dirty="0"/>
              <a:t> </a:t>
            </a:r>
            <a:r>
              <a:rPr lang="en-ID" sz="1600" dirty="0" err="1"/>
              <a:t>atas</a:t>
            </a:r>
            <a:r>
              <a:rPr lang="en-ID" sz="1600" dirty="0"/>
              <a:t>) </a:t>
            </a:r>
            <a:r>
              <a:rPr lang="en-ID" sz="1600" dirty="0" err="1"/>
              <a:t>atau</a:t>
            </a:r>
            <a:r>
              <a:rPr lang="en-ID" sz="1600" dirty="0"/>
              <a:t> system tray (Windows, </a:t>
            </a:r>
            <a:r>
              <a:rPr lang="en-ID" sz="1600" dirty="0" err="1"/>
              <a:t>pojok</a:t>
            </a:r>
            <a:r>
              <a:rPr lang="en-ID" sz="1600" dirty="0"/>
              <a:t> </a:t>
            </a:r>
            <a:r>
              <a:rPr lang="en-ID" sz="1600" dirty="0" err="1"/>
              <a:t>kanan</a:t>
            </a:r>
            <a:r>
              <a:rPr lang="en-ID" sz="1600" dirty="0"/>
              <a:t> </a:t>
            </a:r>
            <a:r>
              <a:rPr lang="en-ID" sz="1600" dirty="0" err="1"/>
              <a:t>bawah</a:t>
            </a:r>
            <a:r>
              <a:rPr lang="en-ID" sz="1600" dirty="0"/>
              <a:t>). Akan </a:t>
            </a:r>
            <a:r>
              <a:rPr lang="en-ID" sz="1600" dirty="0" err="1"/>
              <a:t>muncul</a:t>
            </a:r>
            <a:r>
              <a:rPr lang="en-ID" sz="1600" dirty="0"/>
              <a:t> </a:t>
            </a:r>
            <a:r>
              <a:rPr lang="en-ID" sz="1600" dirty="0" err="1"/>
              <a:t>jendela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tombol</a:t>
            </a:r>
            <a:r>
              <a:rPr lang="en-ID" sz="1600" dirty="0"/>
              <a:t> </a:t>
            </a:r>
            <a:r>
              <a:rPr lang="en-ID" sz="1600" b="1" dirty="0"/>
              <a:t>"New Chat"</a:t>
            </a:r>
            <a:r>
              <a:rPr lang="en-ID" sz="1600" dirty="0"/>
              <a:t>, </a:t>
            </a:r>
            <a:r>
              <a:rPr lang="en-ID" sz="1600" dirty="0" err="1"/>
              <a:t>kotak</a:t>
            </a:r>
            <a:r>
              <a:rPr lang="en-ID" sz="1600" dirty="0"/>
              <a:t> </a:t>
            </a:r>
            <a:r>
              <a:rPr lang="en-ID" sz="1600" b="1" dirty="0"/>
              <a:t>"Send a message"</a:t>
            </a:r>
            <a:r>
              <a:rPr lang="en-ID" sz="1600" dirty="0"/>
              <a:t>, dan dropdown </a:t>
            </a:r>
            <a:r>
              <a:rPr lang="en-ID" sz="1600" dirty="0" err="1"/>
              <a:t>pemilih</a:t>
            </a:r>
            <a:r>
              <a:rPr lang="en-ID" sz="1600" dirty="0"/>
              <a:t> model di </a:t>
            </a:r>
            <a:r>
              <a:rPr lang="en-ID" sz="1600" dirty="0" err="1"/>
              <a:t>pojok</a:t>
            </a:r>
            <a:r>
              <a:rPr lang="en-ID" sz="1600" dirty="0"/>
              <a:t> </a:t>
            </a:r>
            <a:r>
              <a:rPr lang="en-ID" sz="1600" dirty="0" err="1"/>
              <a:t>kanan</a:t>
            </a:r>
            <a:r>
              <a:rPr lang="en-ID" sz="1600" dirty="0"/>
              <a:t> </a:t>
            </a:r>
            <a:r>
              <a:rPr lang="en-ID" sz="1600" dirty="0" err="1"/>
              <a:t>bawah</a:t>
            </a:r>
            <a:r>
              <a:rPr lang="en-ID" sz="1600" dirty="0"/>
              <a:t>.</a:t>
            </a:r>
          </a:p>
        </p:txBody>
      </p:sp>
      <p:pic>
        <p:nvPicPr>
          <p:cNvPr id="4" name="Picture 3" descr="Jendela Ollama Chat dengan peringatan model cloud">
            <a:extLst>
              <a:ext uri="{FF2B5EF4-FFF2-40B4-BE49-F238E27FC236}">
                <a16:creationId xmlns:a16="http://schemas.microsoft.com/office/drawing/2014/main" id="{FD51DFC3-5FC9-12D3-ACB8-0DCFA547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46" y="1868058"/>
            <a:ext cx="7772400" cy="40649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39621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11F7-0BF0-7B86-8C23-347386BA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51FD-E16B-3E3C-688F-AC0CA6FF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System Prompt </a:t>
            </a:r>
            <a:r>
              <a:rPr lang="en-ID" b="1" dirty="0" err="1"/>
              <a:t>Sederhana</a:t>
            </a:r>
            <a:r>
              <a:rPr lang="en-ID" b="1" dirty="0"/>
              <a:t> di </a:t>
            </a:r>
            <a:r>
              <a:rPr lang="en-ID" b="1" dirty="0" err="1"/>
              <a:t>Ollama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0B4D-FAD6-1B9A-1B0A-62A1AB8E6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System prompt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instruksi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yang </a:t>
            </a:r>
            <a:r>
              <a:rPr lang="en-ID" sz="1600" dirty="0" err="1"/>
              <a:t>diberikan</a:t>
            </a:r>
            <a:r>
              <a:rPr lang="en-ID" sz="1600" dirty="0"/>
              <a:t> </a:t>
            </a:r>
            <a:r>
              <a:rPr lang="en-ID" sz="1600" dirty="0" err="1"/>
              <a:t>kepada</a:t>
            </a:r>
            <a:r>
              <a:rPr lang="en-ID" sz="1600" dirty="0"/>
              <a:t> model AI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mendefinisikan</a:t>
            </a:r>
            <a:r>
              <a:rPr lang="en-ID" sz="1600" dirty="0"/>
              <a:t> </a:t>
            </a:r>
            <a:r>
              <a:rPr lang="en-ID" sz="1600" dirty="0" err="1"/>
              <a:t>perilakunya</a:t>
            </a:r>
            <a:r>
              <a:rPr lang="en-ID" sz="1600" dirty="0"/>
              <a:t>.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6ED41-9E48-54F0-B3C7-FC03C0DC9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76" y="2139090"/>
            <a:ext cx="8562703" cy="388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332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EC03-A475-E7D6-4672-5B0D9729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580E-3A93-C499-2558-1C04A000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 err="1"/>
              <a:t>Contoh</a:t>
            </a:r>
            <a:r>
              <a:rPr lang="en-ID" b="1" dirty="0"/>
              <a:t> System Prompt </a:t>
            </a:r>
            <a:r>
              <a:rPr lang="en-ID" b="1" dirty="0" err="1"/>
              <a:t>Sederhana</a:t>
            </a:r>
            <a:r>
              <a:rPr lang="en-ID" b="1" dirty="0"/>
              <a:t> di </a:t>
            </a:r>
            <a:r>
              <a:rPr lang="en-ID" b="1" dirty="0" err="1"/>
              <a:t>Ollama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1B552-D246-8228-7C97-C93F501B9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Contoh</a:t>
            </a:r>
            <a:r>
              <a:rPr lang="en-ID" sz="1600" dirty="0"/>
              <a:t> System prompt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5F0D9-4515-B7A6-D4DA-4C8355D9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3" y="2165459"/>
            <a:ext cx="7772400" cy="372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963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CE8F-8F4A-DB57-1E03-F0FAAEF7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8762-FA58-DA5B-5A71-51D40B6F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Cara Set System Prompt </a:t>
            </a:r>
            <a:r>
              <a:rPr lang="en-ID" b="1" dirty="0" err="1"/>
              <a:t>Ollama</a:t>
            </a:r>
            <a:r>
              <a:rPr lang="en-ID" b="1" dirty="0"/>
              <a:t> di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2ED07-60EE-C8B7-52BE-628B2DFE2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Ketikan</a:t>
            </a:r>
            <a:r>
              <a:rPr lang="en-ID" sz="1600" dirty="0"/>
              <a:t> </a:t>
            </a:r>
            <a:r>
              <a:rPr lang="en-ID" sz="1600" dirty="0" err="1"/>
              <a:t>terlebih</a:t>
            </a:r>
            <a:r>
              <a:rPr lang="en-ID" sz="1600" dirty="0"/>
              <a:t> </a:t>
            </a:r>
            <a:r>
              <a:rPr lang="en-ID" sz="1600" dirty="0" err="1"/>
              <a:t>dahulu</a:t>
            </a: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Lalu </a:t>
            </a:r>
            <a:r>
              <a:rPr lang="en-ID" sz="1600" dirty="0" err="1"/>
              <a:t>silahkan</a:t>
            </a:r>
            <a:r>
              <a:rPr lang="en-ID" sz="1600" dirty="0"/>
              <a:t> di </a:t>
            </a:r>
            <a:r>
              <a:rPr lang="en-ID" sz="1600" dirty="0" err="1"/>
              <a:t>cek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berhasil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Tambahan</a:t>
            </a:r>
            <a:r>
              <a:rPr lang="en-ID" sz="1600" dirty="0"/>
              <a:t>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C0B99A-7535-2DFA-9622-B72F4FA3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1987731"/>
            <a:ext cx="6375400" cy="213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A235DD-1475-3B39-937A-12B39D944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2" y="5041782"/>
            <a:ext cx="992251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894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E2C1-3E48-0F1C-3BB8-342AA171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B473-3DC1-5A03-E91D-7B950CA7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Cara </a:t>
            </a:r>
            <a:r>
              <a:rPr lang="en-ID" b="1" dirty="0" err="1"/>
              <a:t>Persisten</a:t>
            </a:r>
            <a:r>
              <a:rPr lang="en-ID" b="1" dirty="0"/>
              <a:t>: </a:t>
            </a:r>
            <a:r>
              <a:rPr lang="en-ID" b="1" dirty="0" err="1"/>
              <a:t>Modelfile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34800-89AC-8F50-E3B9-B3656F3DC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Kalau draft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stabil</a:t>
            </a:r>
            <a:r>
              <a:rPr lang="en-ID" sz="1600" dirty="0"/>
              <a:t> dan </a:t>
            </a:r>
            <a:r>
              <a:rPr lang="en-ID" sz="1600" dirty="0" err="1"/>
              <a:t>ingin</a:t>
            </a:r>
            <a:r>
              <a:rPr lang="en-ID" sz="1600" dirty="0"/>
              <a:t> </a:t>
            </a:r>
            <a:r>
              <a:rPr lang="en-ID" sz="1600" dirty="0" err="1"/>
              <a:t>dipakai</a:t>
            </a:r>
            <a:r>
              <a:rPr lang="en-ID" sz="1600" dirty="0"/>
              <a:t> </a:t>
            </a:r>
            <a:r>
              <a:rPr lang="en-ID" sz="1600" dirty="0" err="1"/>
              <a:t>berulang</a:t>
            </a:r>
            <a:r>
              <a:rPr lang="en-ID" sz="1600" dirty="0"/>
              <a:t>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mengetik</a:t>
            </a:r>
            <a:r>
              <a:rPr lang="en-ID" sz="1600" dirty="0"/>
              <a:t> </a:t>
            </a:r>
            <a:r>
              <a:rPr lang="en-ID" sz="1600" dirty="0" err="1"/>
              <a:t>ulang</a:t>
            </a:r>
            <a:r>
              <a:rPr lang="en-ID" sz="1600" dirty="0"/>
              <a:t> </a:t>
            </a:r>
            <a:r>
              <a:rPr lang="en-ID" sz="1600" dirty="0" err="1"/>
              <a:t>tiap</a:t>
            </a:r>
            <a:r>
              <a:rPr lang="en-ID" sz="1600" dirty="0"/>
              <a:t> </a:t>
            </a:r>
            <a:r>
              <a:rPr lang="en-ID" sz="1600" dirty="0" err="1"/>
              <a:t>sesi</a:t>
            </a:r>
            <a:r>
              <a:rPr lang="en-ID" sz="1600" dirty="0"/>
              <a:t>, </a:t>
            </a:r>
            <a:r>
              <a:rPr lang="en-ID" sz="1600" dirty="0" err="1"/>
              <a:t>bungkus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model custom </a:t>
            </a:r>
            <a:r>
              <a:rPr lang="en-ID" sz="1600" dirty="0" err="1"/>
              <a:t>lewat</a:t>
            </a:r>
            <a:r>
              <a:rPr lang="en-ID" sz="1600" dirty="0"/>
              <a:t> </a:t>
            </a:r>
            <a:r>
              <a:rPr lang="en-ID" sz="1600" b="1" dirty="0" err="1"/>
              <a:t>Modelfile</a:t>
            </a:r>
            <a:r>
              <a:rPr lang="en-ID" sz="16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FDC616-83AC-4387-3F34-68F9C574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11" y="2546768"/>
            <a:ext cx="8894492" cy="339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4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7679-CD89-9E55-4586-0B175816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A0AC-917A-3A1B-FD48-BB16C6D4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Referensi</a:t>
            </a:r>
            <a:r>
              <a:rPr lang="en-ID" b="1" dirty="0"/>
              <a:t> </a:t>
            </a:r>
            <a:r>
              <a:rPr lang="en-ID" b="1" dirty="0" err="1"/>
              <a:t>Lengkap</a:t>
            </a:r>
            <a:r>
              <a:rPr lang="en-ID" b="1" dirty="0"/>
              <a:t> Parameter </a:t>
            </a:r>
            <a:r>
              <a:rPr lang="en-ID" b="1" dirty="0" err="1"/>
              <a:t>Ollama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256AF-7A87-D952-270D-824C8AD2E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3590972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Bagian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referensi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 PARAMETER yang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diset</a:t>
            </a:r>
            <a:r>
              <a:rPr lang="en-ID" sz="1600" dirty="0"/>
              <a:t> </a:t>
            </a:r>
            <a:r>
              <a:rPr lang="en-ID" sz="1600" dirty="0" err="1"/>
              <a:t>lewat</a:t>
            </a:r>
            <a:r>
              <a:rPr lang="en-ID" sz="1600" dirty="0"/>
              <a:t> </a:t>
            </a:r>
            <a:r>
              <a:rPr lang="en-ID" sz="1600" dirty="0" err="1"/>
              <a:t>Modelfile</a:t>
            </a:r>
            <a:r>
              <a:rPr lang="en-ID" sz="16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DAB8C-040D-24BD-169B-939DC9857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364" y="1690688"/>
            <a:ext cx="719626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843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298A-B949-726B-0A57-1FB5BC62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06231C-A7B9-8168-2F2C-31A4F7073D33}"/>
              </a:ext>
            </a:extLst>
          </p:cNvPr>
          <p:cNvSpPr txBox="1"/>
          <p:nvPr/>
        </p:nvSpPr>
        <p:spPr>
          <a:xfrm>
            <a:off x="806774" y="1646103"/>
            <a:ext cx="489552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Setup AI Project </a:t>
            </a: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  <p:pic>
        <p:nvPicPr>
          <p:cNvPr id="4" name="Picture 3" descr="Docker Desktop - Unduh dan instal di Windows | Microsoft Store">
            <a:extLst>
              <a:ext uri="{FF2B5EF4-FFF2-40B4-BE49-F238E27FC236}">
                <a16:creationId xmlns:a16="http://schemas.microsoft.com/office/drawing/2014/main" id="{327B9D51-7324-F96A-5727-7023A649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634" y="1045029"/>
            <a:ext cx="3732712" cy="373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376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97AF-01C2-68F3-8062-9BCE8675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7699-E6CF-924E-DA4D-445F220E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Docker?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F3DA8-B3EF-ED35-BE54-D247B7C88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500" dirty="0"/>
              <a:t>Docker </a:t>
            </a:r>
            <a:r>
              <a:rPr lang="en-ID" sz="1500" dirty="0" err="1"/>
              <a:t>adalah</a:t>
            </a:r>
            <a:r>
              <a:rPr lang="en-ID" sz="1500" dirty="0"/>
              <a:t> tool yang </a:t>
            </a:r>
            <a:r>
              <a:rPr lang="en-ID" sz="1500" dirty="0" err="1"/>
              <a:t>membungkus</a:t>
            </a:r>
            <a:r>
              <a:rPr lang="en-ID" sz="1500" dirty="0"/>
              <a:t> </a:t>
            </a:r>
            <a:r>
              <a:rPr lang="en-ID" sz="1500" dirty="0" err="1"/>
              <a:t>sebuah</a:t>
            </a:r>
            <a:r>
              <a:rPr lang="en-ID" sz="1500" dirty="0"/>
              <a:t> </a:t>
            </a:r>
            <a:r>
              <a:rPr lang="en-ID" sz="1500" dirty="0" err="1"/>
              <a:t>aplikasi</a:t>
            </a:r>
            <a:r>
              <a:rPr lang="en-ID" sz="1500" dirty="0"/>
              <a:t> </a:t>
            </a:r>
            <a:r>
              <a:rPr lang="en-ID" sz="1500" b="1" dirty="0" err="1"/>
              <a:t>beserta</a:t>
            </a:r>
            <a:r>
              <a:rPr lang="en-ID" sz="1500" b="1" dirty="0"/>
              <a:t> </a:t>
            </a:r>
            <a:r>
              <a:rPr lang="en-ID" sz="1500" b="1" dirty="0" err="1"/>
              <a:t>semua</a:t>
            </a:r>
            <a:r>
              <a:rPr lang="en-ID" sz="1500" b="1" dirty="0"/>
              <a:t> yang </a:t>
            </a:r>
            <a:r>
              <a:rPr lang="en-ID" sz="1500" b="1" dirty="0" err="1"/>
              <a:t>dibutuhkannya</a:t>
            </a:r>
            <a:r>
              <a:rPr lang="en-ID" sz="1500" b="1" dirty="0"/>
              <a:t> </a:t>
            </a:r>
            <a:r>
              <a:rPr lang="en-ID" sz="1500" b="1" dirty="0" err="1"/>
              <a:t>untuk</a:t>
            </a:r>
            <a:r>
              <a:rPr lang="en-ID" sz="1500" b="1" dirty="0"/>
              <a:t> </a:t>
            </a:r>
            <a:r>
              <a:rPr lang="en-ID" sz="1500" b="1" dirty="0" err="1"/>
              <a:t>berjalan</a:t>
            </a:r>
            <a:r>
              <a:rPr lang="en-ID" sz="1500" dirty="0"/>
              <a:t> (</a:t>
            </a:r>
            <a:r>
              <a:rPr lang="en-ID" sz="1500" dirty="0" err="1"/>
              <a:t>kode</a:t>
            </a:r>
            <a:r>
              <a:rPr lang="en-ID" sz="1500" dirty="0"/>
              <a:t> program, dependency, </a:t>
            </a:r>
            <a:r>
              <a:rPr lang="en-ID" sz="1500" dirty="0" err="1"/>
              <a:t>pengaturan</a:t>
            </a:r>
            <a:r>
              <a:rPr lang="en-ID" sz="1500" dirty="0"/>
              <a:t>, </a:t>
            </a:r>
            <a:r>
              <a:rPr lang="en-ID" sz="1500" dirty="0" err="1"/>
              <a:t>versi</a:t>
            </a:r>
            <a:r>
              <a:rPr lang="en-ID" sz="1500" dirty="0"/>
              <a:t> software </a:t>
            </a:r>
            <a:r>
              <a:rPr lang="en-ID" sz="1500" dirty="0" err="1"/>
              <a:t>tertentu</a:t>
            </a:r>
            <a:r>
              <a:rPr lang="en-ID" sz="1500" dirty="0"/>
              <a:t>) </a:t>
            </a:r>
            <a:r>
              <a:rPr lang="en-ID" sz="1500" dirty="0" err="1"/>
              <a:t>ke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satu</a:t>
            </a:r>
            <a:r>
              <a:rPr lang="en-ID" sz="1500" dirty="0"/>
              <a:t> </a:t>
            </a:r>
            <a:r>
              <a:rPr lang="en-ID" sz="1500" dirty="0" err="1"/>
              <a:t>paket</a:t>
            </a:r>
            <a:r>
              <a:rPr lang="en-ID" sz="1500" dirty="0"/>
              <a:t> yang </a:t>
            </a:r>
            <a:r>
              <a:rPr lang="en-ID" sz="1500" dirty="0" err="1"/>
              <a:t>disebut</a:t>
            </a:r>
            <a:r>
              <a:rPr lang="en-ID" sz="1500" dirty="0"/>
              <a:t> </a:t>
            </a:r>
            <a:r>
              <a:rPr lang="en-ID" sz="1500" b="1" dirty="0"/>
              <a:t>container</a:t>
            </a:r>
            <a:r>
              <a:rPr lang="en-ID" sz="1500" dirty="0"/>
              <a:t>. Container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bisa</a:t>
            </a:r>
            <a:r>
              <a:rPr lang="en-ID" sz="1500" dirty="0"/>
              <a:t> </a:t>
            </a:r>
            <a:r>
              <a:rPr lang="en-ID" sz="1500" dirty="0" err="1"/>
              <a:t>dijalankan</a:t>
            </a:r>
            <a:r>
              <a:rPr lang="en-ID" sz="1500" dirty="0"/>
              <a:t> di laptop mana pun — Mac, Windows, Linux, server di cloud — dan </a:t>
            </a:r>
            <a:r>
              <a:rPr lang="en-ID" sz="1500" dirty="0" err="1"/>
              <a:t>akan</a:t>
            </a:r>
            <a:r>
              <a:rPr lang="en-ID" sz="1500" dirty="0"/>
              <a:t> </a:t>
            </a:r>
            <a:r>
              <a:rPr lang="en-ID" sz="1500" dirty="0" err="1"/>
              <a:t>berperilaku</a:t>
            </a:r>
            <a:r>
              <a:rPr lang="en-ID" sz="1500" dirty="0"/>
              <a:t> </a:t>
            </a:r>
            <a:r>
              <a:rPr lang="en-ID" sz="1500" b="1" dirty="0" err="1"/>
              <a:t>persis</a:t>
            </a:r>
            <a:r>
              <a:rPr lang="en-ID" sz="1500" b="1" dirty="0"/>
              <a:t> </a:t>
            </a:r>
            <a:r>
              <a:rPr lang="en-ID" sz="1500" b="1" dirty="0" err="1"/>
              <a:t>sama</a:t>
            </a:r>
            <a:r>
              <a:rPr lang="en-ID" sz="1500" dirty="0"/>
              <a:t>, </a:t>
            </a:r>
            <a:r>
              <a:rPr lang="en-ID" sz="1500" dirty="0" err="1"/>
              <a:t>karena</a:t>
            </a:r>
            <a:r>
              <a:rPr lang="en-ID" sz="1500" dirty="0"/>
              <a:t> </a:t>
            </a:r>
            <a:r>
              <a:rPr lang="en-ID" sz="1500" dirty="0" err="1"/>
              <a:t>semua</a:t>
            </a:r>
            <a:r>
              <a:rPr lang="en-ID" sz="1500" dirty="0"/>
              <a:t> yang </a:t>
            </a:r>
            <a:r>
              <a:rPr lang="en-ID" sz="1500" dirty="0" err="1"/>
              <a:t>dibutuhkan</a:t>
            </a:r>
            <a:r>
              <a:rPr lang="en-ID" sz="1500" dirty="0"/>
              <a:t> </a:t>
            </a:r>
            <a:r>
              <a:rPr lang="en-ID" sz="1500" dirty="0" err="1"/>
              <a:t>sudah</a:t>
            </a:r>
            <a:r>
              <a:rPr lang="en-ID" sz="1500" dirty="0"/>
              <a:t> </a:t>
            </a:r>
            <a:r>
              <a:rPr lang="en-ID" sz="1500" dirty="0" err="1"/>
              <a:t>ada</a:t>
            </a:r>
            <a:r>
              <a:rPr lang="en-ID" sz="1500" dirty="0"/>
              <a:t> di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paketnya</a:t>
            </a:r>
            <a:r>
              <a:rPr lang="en-ID" sz="1500" dirty="0"/>
              <a:t>, </a:t>
            </a:r>
            <a:r>
              <a:rPr lang="en-ID" sz="1500" dirty="0" err="1"/>
              <a:t>tidak</a:t>
            </a:r>
            <a:r>
              <a:rPr lang="en-ID" sz="1500" dirty="0"/>
              <a:t> </a:t>
            </a:r>
            <a:r>
              <a:rPr lang="en-ID" sz="1500" dirty="0" err="1"/>
              <a:t>bergantung</a:t>
            </a:r>
            <a:r>
              <a:rPr lang="en-ID" sz="1500" dirty="0"/>
              <a:t> pada </a:t>
            </a:r>
            <a:r>
              <a:rPr lang="en-ID" sz="1500" dirty="0" err="1"/>
              <a:t>apa</a:t>
            </a:r>
            <a:r>
              <a:rPr lang="en-ID" sz="1500" dirty="0"/>
              <a:t> yang </a:t>
            </a:r>
            <a:r>
              <a:rPr lang="en-ID" sz="1500" dirty="0" err="1"/>
              <a:t>sudah</a:t>
            </a:r>
            <a:r>
              <a:rPr lang="en-ID" sz="1500" dirty="0"/>
              <a:t>/</a:t>
            </a:r>
            <a:r>
              <a:rPr lang="en-ID" sz="1500" dirty="0" err="1"/>
              <a:t>belum</a:t>
            </a:r>
            <a:r>
              <a:rPr lang="en-ID" sz="1500" dirty="0"/>
              <a:t> </a:t>
            </a:r>
            <a:r>
              <a:rPr lang="en-ID" sz="1500" dirty="0" err="1"/>
              <a:t>terinstall</a:t>
            </a:r>
            <a:r>
              <a:rPr lang="en-ID" sz="1500" dirty="0"/>
              <a:t> di </a:t>
            </a:r>
            <a:r>
              <a:rPr lang="en-ID" sz="1500" dirty="0" err="1"/>
              <a:t>komputer</a:t>
            </a:r>
            <a:r>
              <a:rPr lang="en-ID" sz="1500" dirty="0"/>
              <a:t> </a:t>
            </a:r>
            <a:r>
              <a:rPr lang="en-ID" sz="1500" dirty="0" err="1"/>
              <a:t>tersebut</a:t>
            </a:r>
            <a:r>
              <a:rPr lang="en-ID" sz="15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pelatihan</a:t>
            </a:r>
            <a:r>
              <a:rPr lang="en-ID" sz="1500" dirty="0"/>
              <a:t>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kita</a:t>
            </a:r>
            <a:r>
              <a:rPr lang="en-ID" sz="1500" dirty="0"/>
              <a:t> </a:t>
            </a:r>
            <a:r>
              <a:rPr lang="en-ID" sz="1500" dirty="0" err="1"/>
              <a:t>membutuhkan</a:t>
            </a:r>
            <a:r>
              <a:rPr lang="en-ID" sz="1500" dirty="0"/>
              <a:t> </a:t>
            </a:r>
            <a:r>
              <a:rPr lang="en-ID" sz="1500" dirty="0" err="1"/>
              <a:t>beberapa</a:t>
            </a:r>
            <a:r>
              <a:rPr lang="en-ID" sz="1500" dirty="0"/>
              <a:t> service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berjalan</a:t>
            </a:r>
            <a:r>
              <a:rPr lang="en-ID" sz="1500" dirty="0"/>
              <a:t>: </a:t>
            </a:r>
            <a:r>
              <a:rPr lang="en-ID" sz="1500" dirty="0" err="1"/>
              <a:t>Ollama</a:t>
            </a:r>
            <a:r>
              <a:rPr lang="en-ID" sz="1500" dirty="0"/>
              <a:t> (LLM </a:t>
            </a:r>
            <a:r>
              <a:rPr lang="en-ID" sz="1500" dirty="0" err="1"/>
              <a:t>lokal</a:t>
            </a:r>
            <a:r>
              <a:rPr lang="en-ID" sz="1500" dirty="0"/>
              <a:t>), </a:t>
            </a:r>
            <a:r>
              <a:rPr lang="en-ID" sz="1500" dirty="0" err="1"/>
              <a:t>FastAPI</a:t>
            </a:r>
            <a:r>
              <a:rPr lang="en-ID" sz="1500" dirty="0"/>
              <a:t> app (backend), OpenSearch (vector store, </a:t>
            </a:r>
            <a:r>
              <a:rPr lang="en-ID" sz="1500" dirty="0" err="1"/>
              <a:t>lalu</a:t>
            </a:r>
            <a:r>
              <a:rPr lang="en-ID" sz="1500" dirty="0"/>
              <a:t> hybrid search), Airflow (orchestration), dan </a:t>
            </a:r>
            <a:r>
              <a:rPr lang="en-ID" sz="1500" dirty="0" err="1"/>
              <a:t>lainnya</a:t>
            </a:r>
            <a:r>
              <a:rPr lang="en-ID" sz="1500" dirty="0"/>
              <a:t>. </a:t>
            </a:r>
            <a:r>
              <a:rPr lang="en-ID" sz="1500" dirty="0" err="1"/>
              <a:t>Tanpa</a:t>
            </a:r>
            <a:r>
              <a:rPr lang="en-ID" sz="1500" dirty="0"/>
              <a:t> Docker, </a:t>
            </a:r>
            <a:r>
              <a:rPr lang="en-ID" sz="1500" dirty="0" err="1"/>
              <a:t>maka</a:t>
            </a:r>
            <a:r>
              <a:rPr lang="en-ID" sz="1500" dirty="0"/>
              <a:t> </a:t>
            </a:r>
            <a:r>
              <a:rPr lang="en-ID" sz="1500" dirty="0" err="1"/>
              <a:t>kita</a:t>
            </a:r>
            <a:r>
              <a:rPr lang="en-ID" sz="1500" dirty="0"/>
              <a:t> </a:t>
            </a:r>
            <a:r>
              <a:rPr lang="en-ID" sz="1500" dirty="0" err="1"/>
              <a:t>harus</a:t>
            </a:r>
            <a:r>
              <a:rPr lang="en-ID" sz="1500" dirty="0"/>
              <a:t>:</a:t>
            </a:r>
          </a:p>
          <a:p>
            <a:pPr lvl="0">
              <a:lnSpc>
                <a:spcPct val="150000"/>
              </a:lnSpc>
            </a:pPr>
            <a:r>
              <a:rPr lang="en-ID" sz="1500" b="1" dirty="0"/>
              <a:t>Install manual</a:t>
            </a:r>
            <a:r>
              <a:rPr lang="en-ID" sz="1500" dirty="0"/>
              <a:t> </a:t>
            </a:r>
            <a:r>
              <a:rPr lang="en-ID" sz="1500" dirty="0" err="1"/>
              <a:t>setiap</a:t>
            </a:r>
            <a:r>
              <a:rPr lang="en-ID" sz="1500" dirty="0"/>
              <a:t> service </a:t>
            </a:r>
            <a:r>
              <a:rPr lang="en-ID" sz="1500" dirty="0" err="1"/>
              <a:t>dengan</a:t>
            </a:r>
            <a:r>
              <a:rPr lang="en-ID" sz="1500" dirty="0"/>
              <a:t> </a:t>
            </a:r>
            <a:r>
              <a:rPr lang="en-ID" sz="1500" dirty="0" err="1"/>
              <a:t>versi</a:t>
            </a:r>
            <a:r>
              <a:rPr lang="en-ID" sz="1500" dirty="0"/>
              <a:t> yang </a:t>
            </a:r>
            <a:r>
              <a:rPr lang="en-ID" sz="1500" dirty="0" err="1"/>
              <a:t>berbeda</a:t>
            </a:r>
            <a:endParaRPr lang="en-ID" sz="1500" dirty="0"/>
          </a:p>
          <a:p>
            <a:pPr lvl="0">
              <a:lnSpc>
                <a:spcPct val="150000"/>
              </a:lnSpc>
            </a:pPr>
            <a:r>
              <a:rPr lang="en-ID" sz="1500" b="1" dirty="0"/>
              <a:t>Configure</a:t>
            </a:r>
            <a:r>
              <a:rPr lang="en-ID" sz="1500" dirty="0"/>
              <a:t> port dan environment variable 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setiap</a:t>
            </a:r>
            <a:r>
              <a:rPr lang="en-ID" sz="1500" dirty="0"/>
              <a:t> service</a:t>
            </a:r>
          </a:p>
          <a:p>
            <a:pPr lvl="0">
              <a:lnSpc>
                <a:spcPct val="150000"/>
              </a:lnSpc>
            </a:pPr>
            <a:r>
              <a:rPr lang="en-ID" sz="1500" b="1" dirty="0" err="1"/>
              <a:t>Jalankan</a:t>
            </a:r>
            <a:r>
              <a:rPr lang="en-ID" sz="1500" b="1" dirty="0"/>
              <a:t> </a:t>
            </a:r>
            <a:r>
              <a:rPr lang="en-ID" sz="1500" b="1" dirty="0" err="1"/>
              <a:t>satu</a:t>
            </a:r>
            <a:r>
              <a:rPr lang="en-ID" sz="1500" b="1" dirty="0"/>
              <a:t> per </a:t>
            </a:r>
            <a:r>
              <a:rPr lang="en-ID" sz="1500" b="1" dirty="0" err="1"/>
              <a:t>satu</a:t>
            </a:r>
            <a:r>
              <a:rPr lang="en-ID" sz="1500" dirty="0"/>
              <a:t> </a:t>
            </a:r>
            <a:r>
              <a:rPr lang="en-ID" sz="1500" dirty="0" err="1"/>
              <a:t>dengan</a:t>
            </a:r>
            <a:r>
              <a:rPr lang="en-ID" sz="1500" dirty="0"/>
              <a:t> command yang </a:t>
            </a:r>
            <a:r>
              <a:rPr lang="en-ID" sz="1500" dirty="0" err="1"/>
              <a:t>berbeda</a:t>
            </a:r>
            <a:r>
              <a:rPr lang="en-ID" sz="1500" dirty="0"/>
              <a:t> di multiple terminal</a:t>
            </a:r>
          </a:p>
          <a:p>
            <a:pPr lvl="0">
              <a:lnSpc>
                <a:spcPct val="150000"/>
              </a:lnSpc>
            </a:pPr>
            <a:r>
              <a:rPr lang="en-ID" sz="1500" b="1" dirty="0"/>
              <a:t>Debug</a:t>
            </a:r>
            <a:r>
              <a:rPr lang="en-ID" sz="1500" dirty="0"/>
              <a:t> </a:t>
            </a:r>
            <a:r>
              <a:rPr lang="en-ID" sz="1500" dirty="0" err="1"/>
              <a:t>masalah</a:t>
            </a:r>
            <a:r>
              <a:rPr lang="en-ID" sz="1500" dirty="0"/>
              <a:t> </a:t>
            </a:r>
            <a:r>
              <a:rPr lang="en-ID" sz="1500" dirty="0" err="1"/>
              <a:t>kompatibilitas</a:t>
            </a:r>
            <a:r>
              <a:rPr lang="en-ID" sz="1500" dirty="0"/>
              <a:t> </a:t>
            </a:r>
            <a:r>
              <a:rPr lang="en-ID" sz="1500" dirty="0" err="1"/>
              <a:t>antar</a:t>
            </a:r>
            <a:r>
              <a:rPr lang="en-ID" sz="1500" dirty="0"/>
              <a:t> service</a:t>
            </a:r>
          </a:p>
          <a:p>
            <a:pPr>
              <a:lnSpc>
                <a:spcPct val="150000"/>
              </a:lnSpc>
            </a:pPr>
            <a:r>
              <a:rPr lang="en-ID" sz="1500" dirty="0" err="1"/>
              <a:t>Hasilnya</a:t>
            </a:r>
            <a:r>
              <a:rPr lang="en-ID" sz="1500" dirty="0"/>
              <a:t>: </a:t>
            </a:r>
            <a:r>
              <a:rPr lang="en-ID" sz="1500" b="1" dirty="0"/>
              <a:t>"It works on my machine"</a:t>
            </a:r>
            <a:r>
              <a:rPr lang="en-ID" sz="1500" dirty="0"/>
              <a:t> problem — </a:t>
            </a:r>
            <a:r>
              <a:rPr lang="en-ID" sz="1500" dirty="0" err="1"/>
              <a:t>kode</a:t>
            </a:r>
            <a:r>
              <a:rPr lang="en-ID" sz="1500" dirty="0"/>
              <a:t> </a:t>
            </a:r>
            <a:r>
              <a:rPr lang="en-ID" sz="1500" dirty="0" err="1"/>
              <a:t>berjalan</a:t>
            </a:r>
            <a:r>
              <a:rPr lang="en-ID" sz="1500" dirty="0"/>
              <a:t> di laptop Anda </a:t>
            </a:r>
            <a:r>
              <a:rPr lang="en-ID" sz="1500" dirty="0" err="1"/>
              <a:t>tapi</a:t>
            </a:r>
            <a:r>
              <a:rPr lang="en-ID" sz="1500" dirty="0"/>
              <a:t> </a:t>
            </a:r>
            <a:r>
              <a:rPr lang="en-ID" sz="1500" dirty="0" err="1"/>
              <a:t>tidak</a:t>
            </a:r>
            <a:r>
              <a:rPr lang="en-ID" sz="1500" dirty="0"/>
              <a:t> di laptop lain.</a:t>
            </a:r>
          </a:p>
        </p:txBody>
      </p:sp>
    </p:spTree>
    <p:extLst>
      <p:ext uri="{BB962C8B-B14F-4D97-AF65-F5344CB8AC3E}">
        <p14:creationId xmlns:p14="http://schemas.microsoft.com/office/powerpoint/2010/main" val="1868290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6671-8F7D-B2B3-322A-0619581D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B156-3BC5-E8A5-8F6A-7C8BED81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Docker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15241-7F9D-7338-89EE-319026C9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Docker Compose </a:t>
            </a:r>
            <a:r>
              <a:rPr lang="en-ID" sz="1600" dirty="0" err="1"/>
              <a:t>adalah</a:t>
            </a:r>
            <a:r>
              <a:rPr lang="en-ID" sz="1600" dirty="0"/>
              <a:t> tool yang </a:t>
            </a:r>
            <a:r>
              <a:rPr lang="en-ID" sz="1600" dirty="0" err="1"/>
              <a:t>memungkinkan</a:t>
            </a:r>
            <a:r>
              <a:rPr lang="en-ID" sz="1600" dirty="0"/>
              <a:t> Anda </a:t>
            </a:r>
            <a:r>
              <a:rPr lang="en-ID" sz="1600" dirty="0" err="1"/>
              <a:t>mendefinisikan</a:t>
            </a:r>
            <a:r>
              <a:rPr lang="en-ID" sz="1600" dirty="0"/>
              <a:t> </a:t>
            </a:r>
            <a:r>
              <a:rPr lang="en-ID" sz="1600" b="1" dirty="0"/>
              <a:t>multiple Docker containers</a:t>
            </a:r>
            <a:r>
              <a:rPr lang="en-ID" sz="1600" dirty="0"/>
              <a:t> (containers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 "</a:t>
            </a:r>
            <a:r>
              <a:rPr lang="en-ID" sz="1600" dirty="0" err="1"/>
              <a:t>kotak</a:t>
            </a:r>
            <a:r>
              <a:rPr lang="en-ID" sz="1600" dirty="0"/>
              <a:t> virtual" yang </a:t>
            </a: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+ </a:t>
            </a:r>
            <a:r>
              <a:rPr lang="en-ID" sz="1600" dirty="0" err="1"/>
              <a:t>dependensi</a:t>
            </a:r>
            <a:r>
              <a:rPr lang="en-ID" sz="1600" dirty="0"/>
              <a:t>)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file YAML, </a:t>
            </a:r>
            <a:r>
              <a:rPr lang="en-ID" sz="1600" dirty="0" err="1"/>
              <a:t>lalu</a:t>
            </a:r>
            <a:r>
              <a:rPr lang="en-ID" sz="1600" dirty="0"/>
              <a:t> </a:t>
            </a:r>
            <a:r>
              <a:rPr lang="en-ID" sz="1600" dirty="0" err="1"/>
              <a:t>menjalankan</a:t>
            </a:r>
            <a:r>
              <a:rPr lang="en-ID" sz="1600" dirty="0"/>
              <a:t> </a:t>
            </a:r>
            <a:r>
              <a:rPr lang="en-ID" sz="1600" dirty="0" err="1"/>
              <a:t>semuanya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 </a:t>
            </a:r>
            <a:r>
              <a:rPr lang="en-ID" sz="1600" b="1" dirty="0" err="1"/>
              <a:t>satu</a:t>
            </a:r>
            <a:r>
              <a:rPr lang="en-ID" sz="1600" b="1" dirty="0"/>
              <a:t> command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Struktur</a:t>
            </a:r>
            <a:r>
              <a:rPr lang="en-ID" sz="1600" dirty="0"/>
              <a:t> Dasar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10883-0AAE-757C-6484-C8769862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126" y="2891244"/>
            <a:ext cx="4037874" cy="36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339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52D9D-4793-87BD-39BA-3A59BB55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3186-4AAB-34E4-82F5-634E4125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Arsitektur</a:t>
            </a:r>
            <a:r>
              <a:rPr lang="en-ID" b="1" dirty="0"/>
              <a:t> AI Project – Docker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F1D9-5134-92D9-0955-A774D183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3DAC9-A8D9-69A8-1398-B3B1EB3E3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00" y="2759301"/>
            <a:ext cx="6464300" cy="1676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4F179D-1A68-D208-7D0A-A8957C598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523" y="1687286"/>
            <a:ext cx="3930707" cy="424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620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A1B6A-4AC0-F115-D941-6BF72859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1E15-367C-0D7A-D38C-E0F62BE1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FastAPI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7D85-7231-2F1F-B888-C91C85183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359017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FastAPI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framework Python modern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membangun</a:t>
            </a:r>
            <a:r>
              <a:rPr lang="en-ID" sz="1600" dirty="0"/>
              <a:t> API (Application Programming Interface). API </a:t>
            </a:r>
            <a:r>
              <a:rPr lang="en-ID" sz="1600" dirty="0" err="1"/>
              <a:t>adalah</a:t>
            </a:r>
            <a:r>
              <a:rPr lang="en-ID" sz="1600" dirty="0"/>
              <a:t> "</a:t>
            </a:r>
            <a:r>
              <a:rPr lang="en-ID" sz="1600" dirty="0" err="1"/>
              <a:t>pintu</a:t>
            </a:r>
            <a:r>
              <a:rPr lang="en-ID" sz="1600" dirty="0"/>
              <a:t> </a:t>
            </a:r>
            <a:r>
              <a:rPr lang="en-ID" sz="1600" dirty="0" err="1"/>
              <a:t>masuk</a:t>
            </a:r>
            <a:r>
              <a:rPr lang="en-ID" sz="1600" dirty="0"/>
              <a:t>"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aplikasi</a:t>
            </a:r>
            <a:r>
              <a:rPr lang="en-ID" sz="1600" dirty="0"/>
              <a:t> lain </a:t>
            </a:r>
            <a:r>
              <a:rPr lang="en-ID" sz="1600" dirty="0" err="1"/>
              <a:t>berkomunikasi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Anda. Mari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pahami</a:t>
            </a:r>
            <a:r>
              <a:rPr lang="en-ID" sz="1600" dirty="0"/>
              <a:t> </a:t>
            </a:r>
            <a:r>
              <a:rPr lang="en-ID" sz="1600" dirty="0" err="1"/>
              <a:t>FastAPI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dua </a:t>
            </a:r>
            <a:r>
              <a:rPr lang="en-ID" sz="1600" dirty="0" err="1"/>
              <a:t>perspektif</a:t>
            </a:r>
            <a:r>
              <a:rPr lang="en-ID" sz="1600" dirty="0"/>
              <a:t>: </a:t>
            </a:r>
            <a:r>
              <a:rPr lang="en-ID" sz="1600" b="1" dirty="0"/>
              <a:t>non-</a:t>
            </a:r>
            <a:r>
              <a:rPr lang="en-ID" sz="1600" b="1" dirty="0" err="1"/>
              <a:t>teknis</a:t>
            </a:r>
            <a:r>
              <a:rPr lang="en-ID" sz="1600" dirty="0"/>
              <a:t> dan </a:t>
            </a:r>
            <a:r>
              <a:rPr lang="en-ID" sz="1600" b="1" dirty="0" err="1"/>
              <a:t>teknis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4" name="Picture 3" descr="FastAPI - FastAPI">
            <a:extLst>
              <a:ext uri="{FF2B5EF4-FFF2-40B4-BE49-F238E27FC236}">
                <a16:creationId xmlns:a16="http://schemas.microsoft.com/office/drawing/2014/main" id="{8DA372A0-E4B8-E2D0-DBCD-A7AE1A5CA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38" y="2374138"/>
            <a:ext cx="9184936" cy="330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121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04F7-167A-53CB-0AAB-74B8D815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F17F-0B06-2632-E797-40EE8772F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Tahap</a:t>
            </a:r>
            <a:r>
              <a:rPr lang="en-ID" b="1" dirty="0"/>
              <a:t> I – </a:t>
            </a:r>
            <a:r>
              <a:rPr lang="en-ID" b="1" dirty="0" err="1"/>
              <a:t>FastApi</a:t>
            </a:r>
            <a:r>
              <a:rPr lang="en-ID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259B2-7D7F-9B6F-F9EA-1BBE6D99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8" y="1433738"/>
            <a:ext cx="5646194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buNone/>
            </a:pPr>
            <a:r>
              <a:rPr lang="en-ID" sz="1500" b="1" dirty="0"/>
              <a:t>Langkah 1 — Buat </a:t>
            </a:r>
            <a:r>
              <a:rPr lang="en-ID" sz="1500" b="1" dirty="0" err="1"/>
              <a:t>aplikasi</a:t>
            </a:r>
            <a:r>
              <a:rPr lang="en-ID" sz="1500" b="1" dirty="0"/>
              <a:t> paling minimal</a:t>
            </a:r>
          </a:p>
          <a:p>
            <a:pPr marL="0" lvl="0" indent="0">
              <a:buNone/>
            </a:pPr>
            <a:r>
              <a:rPr lang="en-ID" sz="1500" dirty="0"/>
              <a:t>Buat folder resources/starter-code/day-1/nala/app/.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D" sz="1500" dirty="0"/>
              <a:t>Buat file </a:t>
            </a:r>
            <a:r>
              <a:rPr lang="en-ID" sz="1500" dirty="0" err="1"/>
              <a:t>main.py</a:t>
            </a:r>
            <a:r>
              <a:rPr lang="en-ID" sz="15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D" sz="1500" dirty="0"/>
              <a:t>Tulis dua baris </a:t>
            </a:r>
            <a:r>
              <a:rPr lang="en-ID" sz="1500" dirty="0" err="1"/>
              <a:t>ini</a:t>
            </a:r>
            <a:r>
              <a:rPr lang="en-ID" sz="1500" dirty="0"/>
              <a:t> </a:t>
            </a:r>
            <a:r>
              <a:rPr lang="en-ID" sz="1500" dirty="0" err="1"/>
              <a:t>sebagai</a:t>
            </a:r>
            <a:r>
              <a:rPr lang="en-ID" sz="1500" dirty="0"/>
              <a:t> </a:t>
            </a:r>
            <a:r>
              <a:rPr lang="en-ID" sz="1500" dirty="0" err="1"/>
              <a:t>isi</a:t>
            </a:r>
            <a:r>
              <a:rPr lang="en-ID" sz="1500" dirty="0"/>
              <a:t> paling </a:t>
            </a:r>
            <a:r>
              <a:rPr lang="en-ID" sz="1500" dirty="0" err="1"/>
              <a:t>awal</a:t>
            </a:r>
            <a:r>
              <a:rPr lang="en-ID" sz="1500" dirty="0"/>
              <a:t>:</a:t>
            </a:r>
          </a:p>
          <a:p>
            <a:pPr marL="514350" lvl="0" indent="-514350">
              <a:buFont typeface="+mj-lt"/>
              <a:buAutoNum type="arabicPeriod"/>
            </a:pPr>
            <a:endParaRPr lang="en-ID" sz="1500" dirty="0"/>
          </a:p>
          <a:p>
            <a:pPr marL="514350" lvl="0" indent="-514350">
              <a:buFont typeface="+mj-lt"/>
              <a:buAutoNum type="arabicPeriod"/>
            </a:pPr>
            <a:endParaRPr lang="en-ID" sz="1500" dirty="0"/>
          </a:p>
          <a:p>
            <a:pPr marL="0" lvl="0" indent="0">
              <a:buNone/>
            </a:pPr>
            <a:endParaRPr lang="en-ID" sz="1500" dirty="0"/>
          </a:p>
          <a:p>
            <a:pPr marL="0" lvl="0" indent="0">
              <a:buNone/>
            </a:pPr>
            <a:r>
              <a:rPr lang="en-ID" sz="1500" b="1" dirty="0"/>
              <a:t>Langkah 2 — </a:t>
            </a:r>
            <a:r>
              <a:rPr lang="en-ID" sz="1500" b="1" dirty="0" err="1"/>
              <a:t>Tambah</a:t>
            </a:r>
            <a:r>
              <a:rPr lang="en-ID" sz="1500" b="1" dirty="0"/>
              <a:t> </a:t>
            </a:r>
            <a:r>
              <a:rPr lang="en-ID" sz="1500" b="1" dirty="0" err="1"/>
              <a:t>satu</a:t>
            </a:r>
            <a:r>
              <a:rPr lang="en-ID" sz="1500" b="1" dirty="0"/>
              <a:t> endpoint paling </a:t>
            </a:r>
            <a:r>
              <a:rPr lang="en-ID" sz="1500" b="1" dirty="0" err="1"/>
              <a:t>sederhana</a:t>
            </a:r>
            <a:endParaRPr lang="en-ID" sz="1500" b="1" dirty="0"/>
          </a:p>
          <a:p>
            <a:pPr marL="0" lvl="0" indent="0">
              <a:buNone/>
            </a:pPr>
            <a:endParaRPr lang="en-ID" sz="1500" b="1" dirty="0"/>
          </a:p>
          <a:p>
            <a:pPr marL="0" lvl="0" indent="0">
              <a:buNone/>
            </a:pPr>
            <a:endParaRPr lang="en-ID" sz="1500" b="1" dirty="0"/>
          </a:p>
          <a:p>
            <a:pPr marL="0" lvl="0" indent="0">
              <a:buNone/>
            </a:pPr>
            <a:endParaRPr lang="en-ID" sz="1500" b="1" dirty="0"/>
          </a:p>
          <a:p>
            <a:pPr marL="0" lvl="0" indent="0">
              <a:buNone/>
            </a:pPr>
            <a:r>
              <a:rPr lang="en-ID" sz="1500" b="1" dirty="0"/>
              <a:t>Langkah 3 – Install Library </a:t>
            </a:r>
            <a:endParaRPr lang="en-ID" sz="1500" dirty="0"/>
          </a:p>
          <a:p>
            <a:pPr marL="0" indent="0" algn="just">
              <a:buNone/>
            </a:pPr>
            <a:endParaRPr lang="en-ID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1BC43-B157-F920-4CB5-CB9EB8EAC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4" y="2915355"/>
            <a:ext cx="2560319" cy="9529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691D38-3422-BDF3-8440-4EE5B684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904" y="4263226"/>
            <a:ext cx="2856410" cy="981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1D790-E206-3803-EC4C-BAADE568B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49" y="5639406"/>
            <a:ext cx="3601746" cy="9391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3E9C2C-D284-F59B-BD84-9AB2A21CCC77}"/>
              </a:ext>
            </a:extLst>
          </p:cNvPr>
          <p:cNvSpPr txBox="1">
            <a:spLocks/>
          </p:cNvSpPr>
          <p:nvPr/>
        </p:nvSpPr>
        <p:spPr>
          <a:xfrm>
            <a:off x="5879919" y="1401452"/>
            <a:ext cx="5646194" cy="4933607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D" sz="1500" b="1" dirty="0"/>
              <a:t>Langkah 3 — Install library dan running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D" sz="1500" b="1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ID" sz="1500" b="1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ID" sz="1500" b="1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D" sz="1500" b="1" dirty="0"/>
              <a:t>Langkah 4 – Running dan </a:t>
            </a:r>
            <a:r>
              <a:rPr lang="en-ID" sz="1500" b="1" dirty="0" err="1"/>
              <a:t>lihat</a:t>
            </a:r>
            <a:r>
              <a:rPr lang="en-ID" sz="1500" b="1" dirty="0"/>
              <a:t> </a:t>
            </a:r>
            <a:r>
              <a:rPr lang="en-ID" sz="1500" b="1" dirty="0" err="1"/>
              <a:t>hasilnya</a:t>
            </a:r>
            <a:endParaRPr lang="en-ID" sz="1500" b="1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ID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DE8D0D-8F29-540D-A41D-2579D884D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83694"/>
            <a:ext cx="3234384" cy="843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CF122D-A76C-A242-5DC5-DB77059EF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372" y="3227441"/>
            <a:ext cx="3708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55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D6BD-D232-5BEC-2B28-39FFD775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EEAD-9F4C-A1FD-5290-52528696B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Tahap</a:t>
            </a:r>
            <a:r>
              <a:rPr lang="en-ID" b="1" dirty="0"/>
              <a:t> 2 – Integrasi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Ollama</a:t>
            </a:r>
            <a:r>
              <a:rPr lang="en-ID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D84A-78F3-2D6D-DA93-32C45803C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8" y="1433738"/>
            <a:ext cx="5036593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Untuk</a:t>
            </a:r>
            <a:r>
              <a:rPr lang="en-ID" sz="1500" dirty="0"/>
              <a:t> "</a:t>
            </a:r>
            <a:r>
              <a:rPr lang="en-ID" sz="1500" dirty="0" err="1"/>
              <a:t>menghubungi</a:t>
            </a:r>
            <a:r>
              <a:rPr lang="en-ID" sz="1500" dirty="0"/>
              <a:t>" </a:t>
            </a:r>
            <a:r>
              <a:rPr lang="en-ID" sz="1500" dirty="0" err="1"/>
              <a:t>Ollama</a:t>
            </a:r>
            <a:r>
              <a:rPr lang="en-ID" sz="1500" dirty="0"/>
              <a:t>, </a:t>
            </a:r>
            <a:r>
              <a:rPr lang="en-ID" sz="1500" dirty="0" err="1"/>
              <a:t>dibutuhkan</a:t>
            </a:r>
            <a:r>
              <a:rPr lang="en-ID" sz="1500" dirty="0"/>
              <a:t> </a:t>
            </a:r>
            <a:r>
              <a:rPr lang="en-ID" sz="1500" dirty="0" err="1"/>
              <a:t>beberapa</a:t>
            </a:r>
            <a:r>
              <a:rPr lang="en-ID" sz="1500" dirty="0"/>
              <a:t> file, </a:t>
            </a:r>
            <a:r>
              <a:rPr lang="en-ID" sz="1500" dirty="0" err="1"/>
              <a:t>yaitu</a:t>
            </a:r>
            <a:r>
              <a:rPr lang="en-ID" sz="1500" dirty="0"/>
              <a:t> 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500" dirty="0" err="1"/>
              <a:t>ollama_client.py</a:t>
            </a:r>
            <a:r>
              <a:rPr lang="en-ID" sz="1500" dirty="0"/>
              <a:t> — </a:t>
            </a:r>
            <a:r>
              <a:rPr lang="en-ID" sz="1500" dirty="0" err="1"/>
              <a:t>isinya</a:t>
            </a:r>
            <a:r>
              <a:rPr lang="en-ID" sz="1500" dirty="0"/>
              <a:t> class </a:t>
            </a:r>
            <a:r>
              <a:rPr lang="en-ID" sz="1500" dirty="0" err="1"/>
              <a:t>OllamaClient</a:t>
            </a:r>
            <a:r>
              <a:rPr lang="en-ID" sz="1500" dirty="0"/>
              <a:t> (</a:t>
            </a:r>
            <a:r>
              <a:rPr lang="en-ID" sz="1500" dirty="0" err="1"/>
              <a:t>menggunakan</a:t>
            </a:r>
            <a:r>
              <a:rPr lang="en-ID" sz="1500" dirty="0"/>
              <a:t> library </a:t>
            </a:r>
            <a:r>
              <a:rPr lang="en-ID" sz="1500" dirty="0" err="1"/>
              <a:t>httpx</a:t>
            </a:r>
            <a:r>
              <a:rPr lang="en-ID" sz="1500" dirty="0"/>
              <a:t> </a:t>
            </a:r>
            <a:r>
              <a:rPr lang="en-ID" sz="1500" dirty="0" err="1"/>
              <a:t>untuk</a:t>
            </a:r>
            <a:r>
              <a:rPr lang="en-ID" sz="1500" dirty="0"/>
              <a:t> </a:t>
            </a:r>
            <a:r>
              <a:rPr lang="en-ID" sz="1500" dirty="0" err="1"/>
              <a:t>memanggil</a:t>
            </a:r>
            <a:r>
              <a:rPr lang="en-ID" sz="1500" dirty="0"/>
              <a:t> API </a:t>
            </a:r>
            <a:r>
              <a:rPr lang="en-ID" sz="1500" dirty="0" err="1"/>
              <a:t>Ollama</a:t>
            </a:r>
            <a:r>
              <a:rPr lang="en-ID" sz="1500" dirty="0"/>
              <a:t> </a:t>
            </a:r>
            <a:r>
              <a:rPr lang="en-ID" sz="1500" dirty="0" err="1"/>
              <a:t>lewat</a:t>
            </a:r>
            <a:r>
              <a:rPr lang="en-ID" sz="1500" dirty="0"/>
              <a:t> HTTP).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500" dirty="0"/>
              <a:t>app/__</a:t>
            </a:r>
            <a:r>
              <a:rPr lang="en-ID" sz="1500" dirty="0" err="1"/>
              <a:t>init</a:t>
            </a:r>
            <a:r>
              <a:rPr lang="en-ID" sz="1500" dirty="0"/>
              <a:t>__.</a:t>
            </a:r>
            <a:r>
              <a:rPr lang="en-ID" sz="1500" dirty="0" err="1"/>
              <a:t>py</a:t>
            </a:r>
            <a:r>
              <a:rPr lang="en-ID" sz="1500" dirty="0"/>
              <a:t> — file </a:t>
            </a:r>
            <a:r>
              <a:rPr lang="en-ID" sz="1500" dirty="0" err="1"/>
              <a:t>kosong</a:t>
            </a:r>
            <a:r>
              <a:rPr lang="en-ID" sz="1500" dirty="0"/>
              <a:t> (0 baris), </a:t>
            </a:r>
            <a:r>
              <a:rPr lang="en-ID" sz="1500" dirty="0" err="1"/>
              <a:t>tapi</a:t>
            </a:r>
            <a:r>
              <a:rPr lang="en-ID" sz="1500" dirty="0"/>
              <a:t> </a:t>
            </a:r>
            <a:r>
              <a:rPr lang="en-ID" sz="1500" dirty="0" err="1"/>
              <a:t>keberadaannya</a:t>
            </a:r>
            <a:r>
              <a:rPr lang="en-ID" sz="1500" dirty="0"/>
              <a:t> </a:t>
            </a:r>
            <a:r>
              <a:rPr lang="en-ID" sz="1500" dirty="0" err="1"/>
              <a:t>wajib</a:t>
            </a:r>
            <a:r>
              <a:rPr lang="en-ID" sz="1500" dirty="0"/>
              <a:t>: </a:t>
            </a:r>
            <a:r>
              <a:rPr lang="en-ID" sz="1500" dirty="0" err="1"/>
              <a:t>ini</a:t>
            </a:r>
            <a:r>
              <a:rPr lang="en-ID" sz="1500" dirty="0"/>
              <a:t> yang </a:t>
            </a:r>
            <a:r>
              <a:rPr lang="en-ID" sz="1500" dirty="0" err="1"/>
              <a:t>membuat</a:t>
            </a:r>
            <a:r>
              <a:rPr lang="en-ID" sz="1500" dirty="0"/>
              <a:t> Python </a:t>
            </a:r>
            <a:r>
              <a:rPr lang="en-ID" sz="1500" dirty="0" err="1"/>
              <a:t>mengenali</a:t>
            </a:r>
            <a:r>
              <a:rPr lang="en-ID" sz="1500" dirty="0"/>
              <a:t> folder app/ </a:t>
            </a:r>
            <a:r>
              <a:rPr lang="en-ID" sz="1500" dirty="0" err="1"/>
              <a:t>sebagai</a:t>
            </a:r>
            <a:r>
              <a:rPr lang="en-ID" sz="1500" dirty="0"/>
              <a:t> </a:t>
            </a:r>
            <a:r>
              <a:rPr lang="en-ID" sz="1500" i="1" dirty="0"/>
              <a:t>package</a:t>
            </a:r>
            <a:r>
              <a:rPr lang="en-ID" sz="1500" dirty="0"/>
              <a:t>, </a:t>
            </a:r>
            <a:r>
              <a:rPr lang="en-ID" sz="1500" dirty="0" err="1"/>
              <a:t>supaya</a:t>
            </a:r>
            <a:r>
              <a:rPr lang="en-ID" sz="1500" dirty="0"/>
              <a:t> from </a:t>
            </a:r>
            <a:r>
              <a:rPr lang="en-ID" sz="1500" dirty="0" err="1"/>
              <a:t>app.ollama_client</a:t>
            </a:r>
            <a:r>
              <a:rPr lang="en-ID" sz="1500" dirty="0"/>
              <a:t> import ... </a:t>
            </a:r>
            <a:r>
              <a:rPr lang="en-ID" sz="1500" dirty="0" err="1"/>
              <a:t>bisa</a:t>
            </a:r>
            <a:r>
              <a:rPr lang="en-ID" sz="1500" dirty="0"/>
              <a:t> </a:t>
            </a:r>
            <a:r>
              <a:rPr lang="en-ID" sz="1500" dirty="0" err="1"/>
              <a:t>jalan</a:t>
            </a:r>
            <a:r>
              <a:rPr lang="en-ID" sz="15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500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ID" sz="15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5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41D8A9-3C2A-DBB1-F846-43EFD0FDFF93}"/>
              </a:ext>
            </a:extLst>
          </p:cNvPr>
          <p:cNvSpPr txBox="1">
            <a:spLocks/>
          </p:cNvSpPr>
          <p:nvPr/>
        </p:nvSpPr>
        <p:spPr>
          <a:xfrm>
            <a:off x="5879919" y="1401452"/>
            <a:ext cx="5646194" cy="4933607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D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EE7D94-F1D4-DF98-C045-CB2F55735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132" y="1617263"/>
            <a:ext cx="5811981" cy="45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57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CD9C-780F-F1CF-8A81-C95965EA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9057-1898-DF7B-AF92-3CBDA2C3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Tahap</a:t>
            </a:r>
            <a:r>
              <a:rPr lang="en-ID" b="1" dirty="0"/>
              <a:t> 2 – Integrasi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Ollama</a:t>
            </a:r>
            <a:r>
              <a:rPr lang="en-ID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7CCC6-A6AB-DC04-2320-66609D2A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8" y="1433738"/>
            <a:ext cx="11206935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500" dirty="0"/>
              <a:t>Langkah 5 — </a:t>
            </a:r>
            <a:r>
              <a:rPr lang="en-ID" sz="1500" dirty="0" err="1"/>
              <a:t>Tambahkan</a:t>
            </a:r>
            <a:r>
              <a:rPr lang="en-ID" sz="1500" dirty="0"/>
              <a:t> </a:t>
            </a:r>
            <a:r>
              <a:rPr lang="en-ID" sz="1500" dirty="0" err="1"/>
              <a:t>koneksi</a:t>
            </a:r>
            <a:r>
              <a:rPr lang="en-ID" sz="1500" dirty="0"/>
              <a:t> </a:t>
            </a:r>
            <a:r>
              <a:rPr lang="en-ID" sz="1500" dirty="0" err="1"/>
              <a:t>ke</a:t>
            </a:r>
            <a:r>
              <a:rPr lang="en-ID" sz="1500" dirty="0"/>
              <a:t> </a:t>
            </a:r>
            <a:r>
              <a:rPr lang="en-ID" sz="1500" dirty="0" err="1"/>
              <a:t>Ollama</a:t>
            </a:r>
            <a:r>
              <a:rPr lang="en-ID" sz="1500" dirty="0"/>
              <a:t> </a:t>
            </a:r>
            <a:r>
              <a:rPr lang="en-ID" sz="1500" dirty="0" err="1"/>
              <a:t>dengan</a:t>
            </a:r>
            <a:r>
              <a:rPr lang="en-ID" sz="1500" dirty="0"/>
              <a:t> system prompt </a:t>
            </a:r>
            <a:r>
              <a:rPr lang="en-ID" sz="1500" dirty="0" err="1"/>
              <a:t>generik</a:t>
            </a:r>
            <a:endParaRPr lang="en-ID" sz="15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3C81DA-9DB0-307D-3DC3-4E1AEAAF3A83}"/>
              </a:ext>
            </a:extLst>
          </p:cNvPr>
          <p:cNvSpPr txBox="1">
            <a:spLocks/>
          </p:cNvSpPr>
          <p:nvPr/>
        </p:nvSpPr>
        <p:spPr>
          <a:xfrm>
            <a:off x="5879919" y="1401452"/>
            <a:ext cx="5646194" cy="4933607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D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8A8E4-A3DA-62FF-42F3-3F7799091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93" y="2068433"/>
            <a:ext cx="9325239" cy="376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1884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52FF9-3E21-D83D-C3EB-8D48FCFC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5F96-2D7A-8B91-009E-25B054C7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5084861" cy="2857046"/>
          </a:xfrm>
        </p:spPr>
        <p:txBody>
          <a:bodyPr>
            <a:normAutofit/>
          </a:bodyPr>
          <a:lstStyle/>
          <a:p>
            <a:r>
              <a:rPr lang="en-ID" b="1" dirty="0" err="1"/>
              <a:t>Tahap</a:t>
            </a:r>
            <a:r>
              <a:rPr lang="en-ID" b="1" dirty="0"/>
              <a:t> 2 – </a:t>
            </a:r>
            <a:br>
              <a:rPr lang="en-ID" b="1" dirty="0"/>
            </a:br>
            <a:r>
              <a:rPr lang="en-ID" b="1" dirty="0"/>
              <a:t>Kode </a:t>
            </a:r>
            <a:r>
              <a:rPr lang="en-ID" b="1" dirty="0" err="1"/>
              <a:t>Lengkap</a:t>
            </a:r>
            <a:endParaRPr lang="en-ID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BE9897-C83D-A0B6-480B-4489B2B84FA6}"/>
              </a:ext>
            </a:extLst>
          </p:cNvPr>
          <p:cNvSpPr txBox="1">
            <a:spLocks/>
          </p:cNvSpPr>
          <p:nvPr/>
        </p:nvSpPr>
        <p:spPr>
          <a:xfrm>
            <a:off x="5879919" y="1401452"/>
            <a:ext cx="5646194" cy="4933607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D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FB2E0-70AB-4FE5-9459-184A77C7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489" y="516123"/>
            <a:ext cx="5341602" cy="58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642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363D-E7E5-8B65-28AF-1658B19D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D3A0-0105-BB35-77F3-867C54FF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 err="1"/>
              <a:t>Tahap</a:t>
            </a:r>
            <a:r>
              <a:rPr lang="en-ID" b="1" dirty="0"/>
              <a:t> 3 – </a:t>
            </a:r>
            <a:r>
              <a:rPr lang="en-ID" b="1" dirty="0" err="1"/>
              <a:t>Integrasikan</a:t>
            </a:r>
            <a:r>
              <a:rPr lang="en-ID" b="1" dirty="0"/>
              <a:t> system prompt NALA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B4015-CA8F-5C06-0668-E0516AABA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8" y="1433738"/>
            <a:ext cx="11206935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500" b="1" dirty="0"/>
              <a:t>Langkah 6 — </a:t>
            </a:r>
            <a:r>
              <a:rPr lang="en-ID" sz="1500" b="1" dirty="0" err="1"/>
              <a:t>Mengganti</a:t>
            </a:r>
            <a:r>
              <a:rPr lang="en-ID" sz="1500" b="1" dirty="0"/>
              <a:t> system prompt </a:t>
            </a:r>
            <a:r>
              <a:rPr lang="en-ID" sz="1500" b="1" dirty="0" err="1"/>
              <a:t>generik</a:t>
            </a:r>
            <a:r>
              <a:rPr lang="en-ID" sz="1500" b="1" dirty="0"/>
              <a:t> </a:t>
            </a:r>
            <a:r>
              <a:rPr lang="en-ID" sz="1500" b="1" dirty="0" err="1"/>
              <a:t>dengan</a:t>
            </a:r>
            <a:r>
              <a:rPr lang="en-ID" sz="1500" b="1" dirty="0"/>
              <a:t> NALA_SYSTEM_PROMPT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5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5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5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5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500" b="1" dirty="0"/>
              <a:t>Langkah 7 — </a:t>
            </a:r>
            <a:r>
              <a:rPr lang="en-ID" sz="1500" b="1" dirty="0" err="1"/>
              <a:t>sesuaikan</a:t>
            </a:r>
            <a:r>
              <a:rPr lang="en-ID" sz="1500" b="1" dirty="0"/>
              <a:t> </a:t>
            </a:r>
            <a:r>
              <a:rPr lang="en-ID" sz="1500" b="1" dirty="0" err="1"/>
              <a:t>kode</a:t>
            </a:r>
            <a:endParaRPr lang="en-ID" sz="15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5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5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3D7013-2EDF-6C7D-8029-C78A4BA8F919}"/>
              </a:ext>
            </a:extLst>
          </p:cNvPr>
          <p:cNvSpPr txBox="1">
            <a:spLocks/>
          </p:cNvSpPr>
          <p:nvPr/>
        </p:nvSpPr>
        <p:spPr>
          <a:xfrm>
            <a:off x="5879919" y="1401452"/>
            <a:ext cx="5646194" cy="4933607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D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D42B1-A3D8-2140-AC87-243FC6D5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" y="2038620"/>
            <a:ext cx="8812189" cy="1888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EBD75C-F013-4DC8-D98E-4BE3096A2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59" y="4373405"/>
            <a:ext cx="4210141" cy="170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504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56CB-BFDD-96D9-1F8C-B1C977D9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9948C-A970-BD36-1CB1-FB3EDD0CB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5084861" cy="2857046"/>
          </a:xfrm>
        </p:spPr>
        <p:txBody>
          <a:bodyPr>
            <a:normAutofit/>
          </a:bodyPr>
          <a:lstStyle/>
          <a:p>
            <a:r>
              <a:rPr lang="en-ID" b="1" dirty="0" err="1"/>
              <a:t>Tahap</a:t>
            </a:r>
            <a:r>
              <a:rPr lang="en-ID" b="1" dirty="0"/>
              <a:t> 3 – </a:t>
            </a:r>
            <a:br>
              <a:rPr lang="en-ID" b="1" dirty="0"/>
            </a:br>
            <a:r>
              <a:rPr lang="en-ID" b="1" dirty="0"/>
              <a:t>Kode </a:t>
            </a:r>
            <a:r>
              <a:rPr lang="en-ID" b="1" dirty="0" err="1"/>
              <a:t>Lengkap</a:t>
            </a:r>
            <a:endParaRPr lang="en-ID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29DA6A-29AE-88E1-A28E-BB424697BB49}"/>
              </a:ext>
            </a:extLst>
          </p:cNvPr>
          <p:cNvSpPr txBox="1">
            <a:spLocks/>
          </p:cNvSpPr>
          <p:nvPr/>
        </p:nvSpPr>
        <p:spPr>
          <a:xfrm>
            <a:off x="5879919" y="1401452"/>
            <a:ext cx="5646194" cy="4933607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D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1951D-0569-D320-AC6C-851769D1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261" y="343988"/>
            <a:ext cx="4814975" cy="575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248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1465-A54D-42CD-D36C-23D24F9B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C0BB3-D79C-3F3B-5B19-CD871F3727EE}"/>
              </a:ext>
            </a:extLst>
          </p:cNvPr>
          <p:cNvSpPr txBox="1"/>
          <p:nvPr/>
        </p:nvSpPr>
        <p:spPr>
          <a:xfrm>
            <a:off x="806774" y="1646104"/>
            <a:ext cx="47122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AI Assisted Coding with Claude</a:t>
            </a:r>
          </a:p>
        </p:txBody>
      </p:sp>
    </p:spTree>
    <p:extLst>
      <p:ext uri="{BB962C8B-B14F-4D97-AF65-F5344CB8AC3E}">
        <p14:creationId xmlns:p14="http://schemas.microsoft.com/office/powerpoint/2010/main" val="31925021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7F5F-A5FB-636C-CA00-ADAFACB4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8195-627B-8DC4-81BF-522519A9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Introduction to AI-Assisted Coding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2E0B2-6B3C-13AF-73D8-97204BEF3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336366"/>
            <a:ext cx="11485727" cy="4744945"/>
          </a:xfrm>
          <a:ln w="28575">
            <a:noFill/>
            <a:prstDash val="dash"/>
          </a:ln>
        </p:spPr>
        <p:txBody>
          <a:bodyPr lIns="180000" tIns="180000" rIns="18000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Sebelum</a:t>
            </a:r>
            <a:r>
              <a:rPr lang="en-ID" sz="1600" dirty="0"/>
              <a:t> 2022, </a:t>
            </a:r>
            <a:r>
              <a:rPr lang="en-ID" sz="1600" dirty="0" err="1"/>
              <a:t>dukungan</a:t>
            </a:r>
            <a:r>
              <a:rPr lang="en-ID" sz="1600" dirty="0"/>
              <a:t> AI di IDE </a:t>
            </a:r>
            <a:r>
              <a:rPr lang="en-ID" sz="1600" dirty="0" err="1"/>
              <a:t>terbatas</a:t>
            </a:r>
            <a:r>
              <a:rPr lang="en-ID" sz="1600" dirty="0"/>
              <a:t> pada autocomplete </a:t>
            </a:r>
            <a:r>
              <a:rPr lang="en-ID" sz="1600" dirty="0" err="1"/>
              <a:t>berbasis</a:t>
            </a:r>
            <a:r>
              <a:rPr lang="en-ID" sz="1600" dirty="0"/>
              <a:t> </a:t>
            </a:r>
            <a:r>
              <a:rPr lang="en-ID" sz="1600" dirty="0" err="1"/>
              <a:t>statistik</a:t>
            </a:r>
            <a:r>
              <a:rPr lang="en-ID" sz="1600" dirty="0"/>
              <a:t> (IntelliSense, Kite). </a:t>
            </a:r>
            <a:r>
              <a:rPr lang="en-ID" sz="1600" dirty="0" err="1"/>
              <a:t>Setelah</a:t>
            </a:r>
            <a:r>
              <a:rPr lang="en-ID" sz="1600" dirty="0"/>
              <a:t> </a:t>
            </a:r>
            <a:r>
              <a:rPr lang="en-ID" sz="1600" dirty="0" err="1"/>
              <a:t>peluncuran</a:t>
            </a:r>
            <a:r>
              <a:rPr lang="en-ID" sz="1600" dirty="0"/>
              <a:t> Copilot (2022) dan </a:t>
            </a:r>
            <a:r>
              <a:rPr lang="en-ID" sz="1600" dirty="0" err="1"/>
              <a:t>terutama</a:t>
            </a:r>
            <a:r>
              <a:rPr lang="en-ID" sz="1600" dirty="0"/>
              <a:t> </a:t>
            </a:r>
            <a:r>
              <a:rPr lang="en-ID" sz="1600" dirty="0" err="1"/>
              <a:t>setelah</a:t>
            </a:r>
            <a:r>
              <a:rPr lang="en-ID" sz="1600" dirty="0"/>
              <a:t> model </a:t>
            </a:r>
            <a:r>
              <a:rPr lang="en-ID" sz="1600" dirty="0" err="1"/>
              <a:t>generatif</a:t>
            </a:r>
            <a:r>
              <a:rPr lang="en-ID" sz="1600" dirty="0"/>
              <a:t> </a:t>
            </a:r>
            <a:r>
              <a:rPr lang="en-ID" sz="1600" dirty="0" err="1"/>
              <a:t>besar</a:t>
            </a:r>
            <a:r>
              <a:rPr lang="en-ID" sz="1600" dirty="0"/>
              <a:t> (GPT-4 class, Claude 3+, Gemini), </a:t>
            </a:r>
            <a:r>
              <a:rPr lang="en-ID" sz="1600" dirty="0" err="1"/>
              <a:t>kemampuan</a:t>
            </a:r>
            <a:r>
              <a:rPr lang="en-ID" sz="1600" dirty="0"/>
              <a:t> AI </a:t>
            </a:r>
            <a:r>
              <a:rPr lang="en-ID" sz="1600" dirty="0" err="1"/>
              <a:t>berubah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 </a:t>
            </a:r>
            <a:r>
              <a:rPr lang="en-ID" sz="1600" b="1" dirty="0"/>
              <a:t>suggest token </a:t>
            </a:r>
            <a:r>
              <a:rPr lang="en-ID" sz="1600" b="1" dirty="0" err="1"/>
              <a:t>berikutnya</a:t>
            </a:r>
            <a:r>
              <a:rPr lang="en-ID" sz="1600" dirty="0"/>
              <a:t> </a:t>
            </a:r>
            <a:r>
              <a:rPr lang="en-ID" sz="1600" dirty="0" err="1"/>
              <a:t>menjadi</a:t>
            </a:r>
            <a:r>
              <a:rPr lang="en-ID" sz="1600" dirty="0"/>
              <a:t> </a:t>
            </a:r>
            <a:r>
              <a:rPr lang="en-ID" sz="1600" b="1" dirty="0" err="1"/>
              <a:t>memahami</a:t>
            </a:r>
            <a:r>
              <a:rPr lang="en-ID" sz="1600" b="1" dirty="0"/>
              <a:t> </a:t>
            </a:r>
            <a:r>
              <a:rPr lang="en-ID" sz="1600" b="1" dirty="0" err="1"/>
              <a:t>niat</a:t>
            </a:r>
            <a:r>
              <a:rPr lang="en-ID" sz="1600" b="1" dirty="0"/>
              <a:t> dan </a:t>
            </a:r>
            <a:r>
              <a:rPr lang="en-ID" sz="1600" b="1" dirty="0" err="1"/>
              <a:t>menghasilkan</a:t>
            </a:r>
            <a:r>
              <a:rPr lang="en-ID" sz="1600" b="1" dirty="0"/>
              <a:t> unit </a:t>
            </a:r>
            <a:r>
              <a:rPr lang="en-ID" sz="1600" b="1" dirty="0" err="1"/>
              <a:t>kerja</a:t>
            </a:r>
            <a:r>
              <a:rPr lang="en-ID" sz="1600" dirty="0"/>
              <a:t>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3E886-B264-03C0-1E10-1604CB4C8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96" y="2864049"/>
            <a:ext cx="11485727" cy="281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253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03C8-2295-F887-5D4E-0EA7DBF9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BBA0-E3B7-FBAB-4E1B-B0C932B4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AI-Assisted vs Traditional Coding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A5628-9FBC-44BF-90CA-D9D1A9EF4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5177928"/>
            <a:ext cx="11485727" cy="1145754"/>
          </a:xfrm>
          <a:ln w="28575">
            <a:noFill/>
            <a:prstDash val="dash"/>
          </a:ln>
        </p:spPr>
        <p:txBody>
          <a:bodyPr lIns="180000" tIns="180000" rIns="180000" anchor="t">
            <a:normAutofit fontScale="5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9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: </a:t>
            </a:r>
            <a:r>
              <a:rPr lang="en-ID" b="1" dirty="0" err="1"/>
              <a:t>akuntabilitas</a:t>
            </a:r>
            <a:r>
              <a:rPr lang="en-ID" b="1" dirty="0"/>
              <a:t> </a:t>
            </a:r>
            <a:r>
              <a:rPr lang="en-ID" b="1" dirty="0" err="1"/>
              <a:t>tidak</a:t>
            </a:r>
            <a:r>
              <a:rPr lang="en-ID" b="1" dirty="0"/>
              <a:t> </a:t>
            </a:r>
            <a:r>
              <a:rPr lang="en-ID" b="1" dirty="0" err="1"/>
              <a:t>berpindah</a:t>
            </a:r>
            <a:r>
              <a:rPr lang="en-ID" dirty="0"/>
              <a:t>. Jika </a:t>
            </a:r>
            <a:r>
              <a:rPr lang="en-ID" dirty="0" err="1"/>
              <a:t>kode</a:t>
            </a:r>
            <a:r>
              <a:rPr lang="en-ID" dirty="0"/>
              <a:t> AI bug di production, yang </a:t>
            </a:r>
            <a:r>
              <a:rPr lang="en-ID" dirty="0" err="1"/>
              <a:t>bertanggung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developer yang meng-</a:t>
            </a:r>
            <a:r>
              <a:rPr lang="en-ID" i="1" dirty="0"/>
              <a:t>approve</a:t>
            </a:r>
            <a:r>
              <a:rPr lang="en-ID" dirty="0"/>
              <a:t> commit, </a:t>
            </a:r>
            <a:r>
              <a:rPr lang="en-ID" dirty="0" err="1"/>
              <a:t>bukan</a:t>
            </a:r>
            <a:r>
              <a:rPr lang="en-ID" dirty="0"/>
              <a:t> vendor model.</a:t>
            </a:r>
            <a:endParaRPr lang="en-ID" sz="19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CEB06C-0E1F-8554-D2A3-5150862B028E}"/>
              </a:ext>
            </a:extLst>
          </p:cNvPr>
          <p:cNvGraphicFramePr>
            <a:graphicFrameLocks noGrp="1"/>
          </p:cNvGraphicFramePr>
          <p:nvPr/>
        </p:nvGraphicFramePr>
        <p:xfrm>
          <a:off x="319177" y="1561608"/>
          <a:ext cx="11553825" cy="3931920"/>
        </p:xfrm>
        <a:graphic>
          <a:graphicData uri="http://schemas.openxmlformats.org/drawingml/2006/table">
            <a:tbl>
              <a:tblPr/>
              <a:tblGrid>
                <a:gridCol w="3851275">
                  <a:extLst>
                    <a:ext uri="{9D8B030D-6E8A-4147-A177-3AD203B41FA5}">
                      <a16:colId xmlns:a16="http://schemas.microsoft.com/office/drawing/2014/main" val="456351746"/>
                    </a:ext>
                  </a:extLst>
                </a:gridCol>
                <a:gridCol w="3851275">
                  <a:extLst>
                    <a:ext uri="{9D8B030D-6E8A-4147-A177-3AD203B41FA5}">
                      <a16:colId xmlns:a16="http://schemas.microsoft.com/office/drawing/2014/main" val="672076699"/>
                    </a:ext>
                  </a:extLst>
                </a:gridCol>
                <a:gridCol w="3851275">
                  <a:extLst>
                    <a:ext uri="{9D8B030D-6E8A-4147-A177-3AD203B41FA5}">
                      <a16:colId xmlns:a16="http://schemas.microsoft.com/office/drawing/2014/main" val="2836888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>
                          <a:effectLst/>
                        </a:rPr>
                        <a:t>Dimensi</a:t>
                      </a:r>
                      <a:endParaRPr lang="en-ID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Traditional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AI-Assisted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195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Sumber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kode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100% </a:t>
                      </a:r>
                      <a:r>
                        <a:rPr lang="en-ID" dirty="0" err="1">
                          <a:effectLst/>
                        </a:rPr>
                        <a:t>diketik</a:t>
                      </a:r>
                      <a:r>
                        <a:rPr lang="en-ID" dirty="0">
                          <a:effectLst/>
                        </a:rPr>
                        <a:t> developer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Sebagian </a:t>
                      </a:r>
                      <a:r>
                        <a:rPr lang="en-ID" dirty="0" err="1">
                          <a:effectLst/>
                        </a:rPr>
                        <a:t>besar</a:t>
                      </a:r>
                      <a:r>
                        <a:rPr lang="en-ID" dirty="0">
                          <a:effectLst/>
                        </a:rPr>
                        <a:t> di-generate, di-edit developer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463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Kecepatan iterasi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Linier </a:t>
                      </a:r>
                      <a:r>
                        <a:rPr lang="en-ID" dirty="0" err="1">
                          <a:effectLst/>
                        </a:rPr>
                        <a:t>dengan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kecepatan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ketik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Linier dengan kecepatan review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326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Beban kognitif dominan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Sintaks</a:t>
                      </a:r>
                      <a:r>
                        <a:rPr lang="en-ID" dirty="0">
                          <a:effectLst/>
                        </a:rPr>
                        <a:t> + </a:t>
                      </a:r>
                      <a:r>
                        <a:rPr lang="en-ID" dirty="0" err="1">
                          <a:effectLst/>
                        </a:rPr>
                        <a:t>logika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Spesifikasi</a:t>
                      </a:r>
                      <a:r>
                        <a:rPr lang="en-ID" dirty="0">
                          <a:effectLst/>
                        </a:rPr>
                        <a:t> + </a:t>
                      </a:r>
                      <a:r>
                        <a:rPr lang="en-ID" dirty="0" err="1">
                          <a:effectLst/>
                        </a:rPr>
                        <a:t>verifikasi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547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Risiko bug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Typo, off-by-one, copy-paste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Hallucination API, </a:t>
                      </a:r>
                      <a:r>
                        <a:rPr lang="en-ID" dirty="0" err="1">
                          <a:effectLst/>
                        </a:rPr>
                        <a:t>asumsi</a:t>
                      </a:r>
                      <a:r>
                        <a:rPr lang="en-ID" dirty="0">
                          <a:effectLst/>
                        </a:rPr>
                        <a:t> salah, over-engineering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768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Review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Optional di solo project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Wajib</a:t>
                      </a:r>
                      <a:r>
                        <a:rPr lang="en-ID" dirty="0">
                          <a:effectLst/>
                        </a:rPr>
                        <a:t> — output AI </a:t>
                      </a:r>
                      <a:r>
                        <a:rPr lang="en-ID" dirty="0" err="1">
                          <a:effectLst/>
                        </a:rPr>
                        <a:t>harus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dibaca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64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Knowledge transfer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Dokumentasi manual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Otomatis</a:t>
                      </a:r>
                      <a:r>
                        <a:rPr lang="en-ID" dirty="0">
                          <a:effectLst/>
                        </a:rPr>
                        <a:t> (commit, comment) + </a:t>
                      </a:r>
                      <a:r>
                        <a:rPr lang="en-ID" dirty="0" err="1">
                          <a:effectLst/>
                        </a:rPr>
                        <a:t>tetap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perlu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validasi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105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Akuntabilitas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Developer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Developer (</a:t>
                      </a:r>
                      <a:r>
                        <a:rPr lang="en-ID" dirty="0" err="1">
                          <a:effectLst/>
                        </a:rPr>
                        <a:t>tidak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berubah</a:t>
                      </a:r>
                      <a:r>
                        <a:rPr lang="en-ID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427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3102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910F-6F64-6F28-9127-3E5EC6AD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337F-A479-71AB-0E78-DCDB7BEA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Tools yang </a:t>
            </a:r>
            <a:r>
              <a:rPr lang="en-ID" b="1" dirty="0" err="1"/>
              <a:t>Tersedia</a:t>
            </a:r>
            <a:r>
              <a:rPr lang="en-ID" b="1" dirty="0"/>
              <a:t> di Agent Mode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5C7270-F72C-6331-7A49-75FEBCF21B92}"/>
              </a:ext>
            </a:extLst>
          </p:cNvPr>
          <p:cNvSpPr txBox="1">
            <a:spLocks/>
          </p:cNvSpPr>
          <p:nvPr/>
        </p:nvSpPr>
        <p:spPr>
          <a:xfrm>
            <a:off x="319177" y="1526866"/>
            <a:ext cx="3668623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D" sz="1800" dirty="0"/>
              <a:t>Saat Anda </a:t>
            </a:r>
            <a:r>
              <a:rPr lang="en-ID" sz="1800" dirty="0" err="1"/>
              <a:t>menggunakan</a:t>
            </a:r>
            <a:r>
              <a:rPr lang="en-ID" sz="1800" dirty="0"/>
              <a:t> Agent, AI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menghasilkan</a:t>
            </a:r>
            <a:r>
              <a:rPr lang="en-ID" sz="1800" dirty="0"/>
              <a:t> </a:t>
            </a:r>
            <a:r>
              <a:rPr lang="en-ID" sz="1800" dirty="0" err="1"/>
              <a:t>teks</a:t>
            </a:r>
            <a:r>
              <a:rPr lang="en-ID" sz="1800" dirty="0"/>
              <a:t> — </a:t>
            </a:r>
            <a:r>
              <a:rPr lang="en-ID" sz="1800" dirty="0" err="1"/>
              <a:t>ia</a:t>
            </a:r>
            <a:r>
              <a:rPr lang="en-ID" sz="1800" dirty="0"/>
              <a:t>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memanggil</a:t>
            </a:r>
            <a:r>
              <a:rPr lang="en-ID" sz="1800" dirty="0"/>
              <a:t> tools 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benar-benar</a:t>
            </a:r>
            <a:r>
              <a:rPr lang="en-ID" sz="1800" dirty="0"/>
              <a:t> </a:t>
            </a:r>
            <a:r>
              <a:rPr lang="en-ID" sz="1800" dirty="0" err="1"/>
              <a:t>membaca</a:t>
            </a:r>
            <a:r>
              <a:rPr lang="en-ID" sz="1800" dirty="0"/>
              <a:t> file, </a:t>
            </a:r>
            <a:r>
              <a:rPr lang="en-ID" sz="1800" dirty="0" err="1"/>
              <a:t>menjalankan</a:t>
            </a:r>
            <a:r>
              <a:rPr lang="en-ID" sz="1800" dirty="0"/>
              <a:t> </a:t>
            </a:r>
            <a:r>
              <a:rPr lang="en-ID" sz="1800" dirty="0" err="1"/>
              <a:t>perintah</a:t>
            </a:r>
            <a:r>
              <a:rPr lang="en-ID" sz="1800" dirty="0"/>
              <a:t>, dan </a:t>
            </a:r>
            <a:r>
              <a:rPr lang="en-ID" sz="1800" dirty="0" err="1"/>
              <a:t>mencari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di codebase Anda. </a:t>
            </a:r>
            <a:r>
              <a:rPr lang="en-ID" sz="1800" dirty="0" err="1"/>
              <a:t>Inilah</a:t>
            </a:r>
            <a:r>
              <a:rPr lang="en-ID" sz="1800" dirty="0"/>
              <a:t> yang </a:t>
            </a:r>
            <a:r>
              <a:rPr lang="en-ID" sz="1800" dirty="0" err="1"/>
              <a:t>membuat</a:t>
            </a:r>
            <a:r>
              <a:rPr lang="en-ID" sz="1800" dirty="0"/>
              <a:t> Agent </a:t>
            </a:r>
            <a:r>
              <a:rPr lang="en-ID" sz="1800" dirty="0" err="1"/>
              <a:t>berbeda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Chat </a:t>
            </a:r>
            <a:r>
              <a:rPr lang="en-ID" sz="1800" dirty="0" err="1"/>
              <a:t>biasa</a:t>
            </a:r>
            <a:r>
              <a:rPr lang="en-ID" sz="1800" dirty="0"/>
              <a:t>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8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D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CB85C-2EF0-F20D-E314-3F633DB3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798466"/>
            <a:ext cx="7772400" cy="372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323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BCA8-8CC8-3457-2BE8-7C8805A0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1AAA-EB55-C042-4FB9-234A0F61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Prompting </a:t>
            </a:r>
            <a:r>
              <a:rPr lang="en-ID" b="1" dirty="0" err="1"/>
              <a:t>Efektif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Coding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FD8603-F18E-6893-BF8E-F55CEB643302}"/>
              </a:ext>
            </a:extLst>
          </p:cNvPr>
          <p:cNvSpPr txBox="1">
            <a:spLocks/>
          </p:cNvSpPr>
          <p:nvPr/>
        </p:nvSpPr>
        <p:spPr>
          <a:xfrm>
            <a:off x="319177" y="1526866"/>
            <a:ext cx="11144690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D" sz="1800" b="1" dirty="0"/>
              <a:t>1. Tiga </a:t>
            </a:r>
            <a:r>
              <a:rPr lang="en-ID" sz="1800" b="1" dirty="0" err="1"/>
              <a:t>komponen</a:t>
            </a:r>
            <a:r>
              <a:rPr lang="en-ID" sz="1800" b="1" dirty="0"/>
              <a:t> </a:t>
            </a:r>
            <a:r>
              <a:rPr lang="en-ID" sz="1800" b="1" dirty="0" err="1"/>
              <a:t>Promt</a:t>
            </a:r>
            <a:r>
              <a:rPr lang="en-ID" sz="1800" b="1" dirty="0"/>
              <a:t> yang </a:t>
            </a:r>
            <a:r>
              <a:rPr lang="en-ID" sz="1800" b="1" dirty="0" err="1"/>
              <a:t>baik</a:t>
            </a:r>
            <a:r>
              <a:rPr lang="en-ID" sz="1800" b="1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68ED4-31C5-127A-141F-4046E6ACD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09" y="2212468"/>
            <a:ext cx="7772400" cy="160220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7A5730-3061-47D0-9798-DA9BB8DB4C3F}"/>
              </a:ext>
            </a:extLst>
          </p:cNvPr>
          <p:cNvSpPr txBox="1">
            <a:spLocks/>
          </p:cNvSpPr>
          <p:nvPr/>
        </p:nvSpPr>
        <p:spPr>
          <a:xfrm>
            <a:off x="319177" y="3749806"/>
            <a:ext cx="11144690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D" sz="1800" b="1" dirty="0"/>
              <a:t>2. </a:t>
            </a:r>
            <a:r>
              <a:rPr lang="en-ID" sz="1800" b="1" dirty="0" err="1"/>
              <a:t>Prinsip</a:t>
            </a:r>
            <a:r>
              <a:rPr lang="en-ID" sz="1800" b="1" dirty="0"/>
              <a:t> "One Concept Per Prompt"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18FD6-347C-7D9C-A041-D58886CAC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64" y="4427413"/>
            <a:ext cx="9904170" cy="184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755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D349-3FAE-16FC-CBB0-C83798E94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76DA-1793-5BB7-3317-CAC7CFD2C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Prompting </a:t>
            </a:r>
            <a:r>
              <a:rPr lang="en-ID" b="1" dirty="0" err="1"/>
              <a:t>Efektif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Coding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1DF381-42E1-15EE-21C6-56D11C2EACAC}"/>
              </a:ext>
            </a:extLst>
          </p:cNvPr>
          <p:cNvSpPr txBox="1">
            <a:spLocks/>
          </p:cNvSpPr>
          <p:nvPr/>
        </p:nvSpPr>
        <p:spPr>
          <a:xfrm>
            <a:off x="319177" y="1526866"/>
            <a:ext cx="11144690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D" sz="1800" b="1" dirty="0"/>
              <a:t>3. Pola "Show, Don't Tell” : </a:t>
            </a:r>
            <a:r>
              <a:rPr lang="en-ID" sz="1800" dirty="0" err="1"/>
              <a:t>Apabila</a:t>
            </a:r>
            <a:r>
              <a:rPr lang="en-ID" sz="1800" dirty="0"/>
              <a:t> Anda punya </a:t>
            </a:r>
            <a:r>
              <a:rPr lang="en-ID" sz="1800" dirty="0" err="1"/>
              <a:t>contoh</a:t>
            </a:r>
            <a:r>
              <a:rPr lang="en-ID" sz="1800" dirty="0"/>
              <a:t> </a:t>
            </a:r>
            <a:r>
              <a:rPr lang="en-ID" sz="1800" dirty="0" err="1"/>
              <a:t>konkret</a:t>
            </a:r>
            <a:r>
              <a:rPr lang="en-ID" sz="1800" dirty="0"/>
              <a:t> </a:t>
            </a:r>
            <a:r>
              <a:rPr lang="en-ID" sz="1800" dirty="0" err="1"/>
              <a:t>dari</a:t>
            </a:r>
            <a:r>
              <a:rPr lang="en-ID" sz="1800" dirty="0"/>
              <a:t> output yang </a:t>
            </a:r>
            <a:r>
              <a:rPr lang="en-ID" sz="1800" dirty="0" err="1"/>
              <a:t>diinginkan</a:t>
            </a:r>
            <a:r>
              <a:rPr lang="en-ID" sz="1800" dirty="0"/>
              <a:t>, </a:t>
            </a:r>
            <a:r>
              <a:rPr lang="en-ID" sz="1800" dirty="0" err="1"/>
              <a:t>berikan</a:t>
            </a:r>
            <a:r>
              <a:rPr lang="en-ID" sz="1800" dirty="0"/>
              <a:t> </a:t>
            </a:r>
            <a:r>
              <a:rPr lang="en-ID" sz="1800" dirty="0" err="1"/>
              <a:t>langsung</a:t>
            </a:r>
            <a:r>
              <a:rPr lang="en-ID" sz="1800" dirty="0"/>
              <a:t> </a:t>
            </a:r>
            <a:r>
              <a:rPr lang="en-ID" sz="1800" dirty="0" err="1"/>
              <a:t>daripada</a:t>
            </a:r>
            <a:r>
              <a:rPr lang="en-ID" sz="1800" dirty="0"/>
              <a:t> </a:t>
            </a:r>
            <a:r>
              <a:rPr lang="en-ID" sz="1800" dirty="0" err="1"/>
              <a:t>mendeskripsikannya</a:t>
            </a:r>
            <a:r>
              <a:rPr lang="en-ID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009D7B-8C91-A574-5C39-581E3280206A}"/>
              </a:ext>
            </a:extLst>
          </p:cNvPr>
          <p:cNvSpPr txBox="1">
            <a:spLocks/>
          </p:cNvSpPr>
          <p:nvPr/>
        </p:nvSpPr>
        <p:spPr>
          <a:xfrm>
            <a:off x="319177" y="4197072"/>
            <a:ext cx="11144690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D" sz="1800" b="1" dirty="0"/>
              <a:t>2. Pola "</a:t>
            </a:r>
            <a:r>
              <a:rPr lang="en-ID" sz="1800" b="1" dirty="0" err="1"/>
              <a:t>Iteratif</a:t>
            </a:r>
            <a:r>
              <a:rPr lang="en-ID" sz="1800" b="1" dirty="0"/>
              <a:t>, </a:t>
            </a:r>
            <a:r>
              <a:rPr lang="en-ID" sz="1800" b="1" dirty="0" err="1"/>
              <a:t>Bukan</a:t>
            </a:r>
            <a:r>
              <a:rPr lang="en-ID" sz="1800" b="1" dirty="0"/>
              <a:t> </a:t>
            </a:r>
            <a:r>
              <a:rPr lang="en-ID" sz="1800" b="1" dirty="0" err="1"/>
              <a:t>Sekali</a:t>
            </a:r>
            <a:r>
              <a:rPr lang="en-ID" sz="1800" b="1" dirty="0"/>
              <a:t> </a:t>
            </a:r>
            <a:r>
              <a:rPr lang="en-ID" sz="1800" b="1" dirty="0" err="1"/>
              <a:t>Tembak</a:t>
            </a:r>
            <a:r>
              <a:rPr lang="en-ID" sz="1800" b="1" dirty="0"/>
              <a:t>"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CD6CF4-EA6A-44BE-5E4A-725E7055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4" y="2637485"/>
            <a:ext cx="9187220" cy="1722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B1C101-355B-902A-94DE-753E0431C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64" y="4867707"/>
            <a:ext cx="6472369" cy="163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9905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8C69A-F11C-83EE-F8C3-ADFFB41E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60AB-E7CA-3846-C423-26052F7E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Code Understanding </a:t>
            </a:r>
            <a:r>
              <a:rPr lang="en-ID" b="1" dirty="0" err="1"/>
              <a:t>Memakan</a:t>
            </a:r>
            <a:r>
              <a:rPr lang="en-ID" b="1" dirty="0"/>
              <a:t> Waktu?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E97E87-8711-0FC5-F820-55CF8F16ABB3}"/>
              </a:ext>
            </a:extLst>
          </p:cNvPr>
          <p:cNvSpPr txBox="1">
            <a:spLocks/>
          </p:cNvSpPr>
          <p:nvPr/>
        </p:nvSpPr>
        <p:spPr>
          <a:xfrm>
            <a:off x="319175" y="1476527"/>
            <a:ext cx="11328181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Studi internal </a:t>
            </a:r>
            <a:r>
              <a:rPr lang="en-ID" sz="1800" dirty="0" err="1"/>
              <a:t>beberapa</a:t>
            </a:r>
            <a:r>
              <a:rPr lang="en-ID" sz="1800" dirty="0"/>
              <a:t> </a:t>
            </a:r>
            <a:r>
              <a:rPr lang="en-ID" sz="1800" dirty="0" err="1"/>
              <a:t>tim</a:t>
            </a:r>
            <a:r>
              <a:rPr lang="en-ID" sz="1800" dirty="0"/>
              <a:t> engineering </a:t>
            </a:r>
            <a:r>
              <a:rPr lang="en-ID" sz="1800" dirty="0" err="1"/>
              <a:t>menunjukkan</a:t>
            </a:r>
            <a:r>
              <a:rPr lang="en-ID" sz="1800" dirty="0"/>
              <a:t> ~58% </a:t>
            </a:r>
            <a:r>
              <a:rPr lang="en-ID" sz="1800" dirty="0" err="1"/>
              <a:t>waktu</a:t>
            </a:r>
            <a:r>
              <a:rPr lang="en-ID" sz="1800" dirty="0"/>
              <a:t> developer </a:t>
            </a:r>
            <a:r>
              <a:rPr lang="en-ID" sz="1800" dirty="0" err="1"/>
              <a:t>dihabiskan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membaca</a:t>
            </a:r>
            <a:r>
              <a:rPr lang="en-ID" sz="1800" dirty="0"/>
              <a:t> </a:t>
            </a:r>
            <a:r>
              <a:rPr lang="en-ID" sz="1800" dirty="0" err="1"/>
              <a:t>kode</a:t>
            </a:r>
            <a:r>
              <a:rPr lang="en-ID" sz="1800" dirty="0"/>
              <a:t> (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menulis</a:t>
            </a:r>
            <a:r>
              <a:rPr lang="en-ID" sz="1800" dirty="0"/>
              <a:t>). 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ID" sz="1800" dirty="0"/>
              <a:t>Naming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konsisten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</a:t>
            </a:r>
            <a:r>
              <a:rPr lang="en-ID" sz="1800" dirty="0" err="1"/>
              <a:t>modul</a:t>
            </a:r>
            <a:r>
              <a:rPr lang="en-ID" sz="1800" dirty="0"/>
              <a:t>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ID" sz="1800" dirty="0"/>
              <a:t>Implicit contract </a:t>
            </a:r>
            <a:r>
              <a:rPr lang="en-ID" sz="1800" dirty="0" err="1"/>
              <a:t>antar</a:t>
            </a:r>
            <a:r>
              <a:rPr lang="en-ID" sz="1800" dirty="0"/>
              <a:t> service (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 interface </a:t>
            </a:r>
            <a:r>
              <a:rPr lang="en-ID" sz="1800" dirty="0" err="1"/>
              <a:t>eksplisit</a:t>
            </a:r>
            <a:r>
              <a:rPr lang="en-ID" sz="1800" dirty="0"/>
              <a:t>).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ID" sz="1800" dirty="0" err="1"/>
              <a:t>Dokumentasi</a:t>
            </a:r>
            <a:r>
              <a:rPr lang="en-ID" sz="1800" dirty="0"/>
              <a:t> yang outdated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hilang</a:t>
            </a:r>
            <a:r>
              <a:rPr lang="en-ID" sz="1800" dirty="0"/>
              <a:t>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ID" sz="1800" dirty="0"/>
              <a:t>Cross-cutting concern (auth, logging, transaction) yang </a:t>
            </a:r>
            <a:r>
              <a:rPr lang="en-ID" sz="1800" dirty="0" err="1"/>
              <a:t>tersebar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AI </a:t>
            </a:r>
            <a:r>
              <a:rPr lang="en-ID" sz="1800" dirty="0" err="1"/>
              <a:t>membantu</a:t>
            </a:r>
            <a:r>
              <a:rPr lang="en-ID" sz="1800" dirty="0"/>
              <a:t> </a:t>
            </a:r>
            <a:r>
              <a:rPr lang="en-ID" sz="1800" dirty="0" err="1"/>
              <a:t>memotong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</a:t>
            </a:r>
            <a:r>
              <a:rPr lang="en-ID" sz="1800" dirty="0" err="1"/>
              <a:t>eksplorasi</a:t>
            </a:r>
            <a:r>
              <a:rPr lang="en-ID" sz="1800" dirty="0"/>
              <a:t> </a:t>
            </a:r>
            <a:r>
              <a:rPr lang="en-ID" sz="1800" dirty="0" err="1"/>
              <a:t>awal</a:t>
            </a:r>
            <a:r>
              <a:rPr lang="en-ID" sz="1800" dirty="0"/>
              <a:t>, </a:t>
            </a:r>
            <a:r>
              <a:rPr lang="en-ID" sz="1800" dirty="0" err="1"/>
              <a:t>namun</a:t>
            </a:r>
            <a:r>
              <a:rPr lang="en-ID" sz="1800" dirty="0"/>
              <a:t> </a:t>
            </a:r>
            <a:r>
              <a:rPr lang="en-ID" sz="1800" b="1" dirty="0" err="1"/>
              <a:t>tidak</a:t>
            </a:r>
            <a:r>
              <a:rPr lang="en-ID" sz="1800" b="1" dirty="0"/>
              <a:t> </a:t>
            </a:r>
            <a:r>
              <a:rPr lang="en-ID" sz="1800" b="1" dirty="0" err="1"/>
              <a:t>menggantikan</a:t>
            </a:r>
            <a:r>
              <a:rPr lang="en-ID" sz="1800" b="1" dirty="0"/>
              <a:t> </a:t>
            </a:r>
            <a:r>
              <a:rPr lang="en-ID" sz="1800" b="1" dirty="0" err="1"/>
              <a:t>verifikasi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5916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EABD-F47F-6200-AE4D-AA06806A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602B-E562-5DF8-AB5C-66CB50874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Tiga Lapis </a:t>
            </a:r>
            <a:r>
              <a:rPr lang="en-ID" b="1" dirty="0" err="1"/>
              <a:t>Pemahaman</a:t>
            </a:r>
            <a:r>
              <a:rPr lang="en-ID" b="1" dirty="0"/>
              <a:t> Kode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1A2E20-0F46-2D24-C9ED-416D6CBBBE73}"/>
              </a:ext>
            </a:extLst>
          </p:cNvPr>
          <p:cNvSpPr txBox="1">
            <a:spLocks/>
          </p:cNvSpPr>
          <p:nvPr/>
        </p:nvSpPr>
        <p:spPr>
          <a:xfrm>
            <a:off x="319177" y="1135004"/>
            <a:ext cx="11328181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>
              <a:buNone/>
            </a:pPr>
            <a:r>
              <a:rPr lang="en-ID" sz="1800" dirty="0"/>
              <a:t>Prompt yang </a:t>
            </a:r>
            <a:r>
              <a:rPr lang="en-ID" sz="1800" dirty="0" err="1"/>
              <a:t>baik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eksplorasi</a:t>
            </a:r>
            <a:r>
              <a:rPr lang="en-ID" sz="1800" dirty="0"/>
              <a:t> </a:t>
            </a:r>
            <a:r>
              <a:rPr lang="en-ID" sz="1800" dirty="0" err="1"/>
              <a:t>memiliki</a:t>
            </a:r>
            <a:r>
              <a:rPr lang="en-ID" sz="1800" dirty="0"/>
              <a:t> 4 </a:t>
            </a:r>
            <a:r>
              <a:rPr lang="en-ID" sz="1800" dirty="0" err="1"/>
              <a:t>elemen</a:t>
            </a:r>
            <a:r>
              <a:rPr lang="en-ID" sz="1800" dirty="0"/>
              <a:t>:</a:t>
            </a:r>
          </a:p>
          <a:p>
            <a:r>
              <a:rPr lang="en-ID" sz="1800" b="1" dirty="0"/>
              <a:t>Scope</a:t>
            </a:r>
            <a:r>
              <a:rPr lang="en-ID" sz="1800" dirty="0"/>
              <a:t>: </a:t>
            </a:r>
            <a:r>
              <a:rPr lang="en-ID" sz="1800" dirty="0" err="1"/>
              <a:t>tentukan</a:t>
            </a:r>
            <a:r>
              <a:rPr lang="en-ID" sz="1800" dirty="0"/>
              <a:t> @-context (file/folder/codebase).</a:t>
            </a:r>
          </a:p>
          <a:p>
            <a:r>
              <a:rPr lang="en-ID" sz="1800" b="1" dirty="0" err="1"/>
              <a:t>Pertanyaan</a:t>
            </a:r>
            <a:r>
              <a:rPr lang="en-ID" sz="1800" b="1" dirty="0"/>
              <a:t> </a:t>
            </a:r>
            <a:r>
              <a:rPr lang="en-ID" sz="1800" b="1" dirty="0" err="1"/>
              <a:t>spesifik</a:t>
            </a:r>
            <a:r>
              <a:rPr lang="en-ID" sz="1800" dirty="0"/>
              <a:t>: </a:t>
            </a:r>
            <a:r>
              <a:rPr lang="en-ID" sz="1800" dirty="0" err="1"/>
              <a:t>bukan</a:t>
            </a:r>
            <a:r>
              <a:rPr lang="en-ID" sz="1800" dirty="0"/>
              <a:t> "</a:t>
            </a:r>
            <a:r>
              <a:rPr lang="en-ID" sz="1800" dirty="0" err="1"/>
              <a:t>jelaskan</a:t>
            </a:r>
            <a:r>
              <a:rPr lang="en-ID" sz="1800" dirty="0"/>
              <a:t> </a:t>
            </a:r>
            <a:r>
              <a:rPr lang="en-ID" sz="1800" dirty="0" err="1"/>
              <a:t>kode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" </a:t>
            </a:r>
            <a:r>
              <a:rPr lang="en-ID" sz="1800" dirty="0" err="1"/>
              <a:t>tapi</a:t>
            </a:r>
            <a:r>
              <a:rPr lang="en-ID" sz="1800" dirty="0"/>
              <a:t> "</a:t>
            </a:r>
            <a:r>
              <a:rPr lang="en-ID" sz="1800" dirty="0" err="1"/>
              <a:t>petakan</a:t>
            </a:r>
            <a:r>
              <a:rPr lang="en-ID" sz="1800" dirty="0"/>
              <a:t> flow </a:t>
            </a:r>
            <a:r>
              <a:rPr lang="en-ID" sz="1800" dirty="0" err="1"/>
              <a:t>dari</a:t>
            </a:r>
            <a:r>
              <a:rPr lang="en-ID" sz="1800" dirty="0"/>
              <a:t> endpoint POST /orders </a:t>
            </a:r>
            <a:r>
              <a:rPr lang="en-ID" sz="1800" dirty="0" err="1"/>
              <a:t>sampai</a:t>
            </a:r>
            <a:r>
              <a:rPr lang="en-ID" sz="1800" dirty="0"/>
              <a:t> DB write".</a:t>
            </a:r>
          </a:p>
          <a:p>
            <a:r>
              <a:rPr lang="en-ID" sz="1800" b="1" dirty="0"/>
              <a:t>Format output</a:t>
            </a:r>
            <a:r>
              <a:rPr lang="en-ID" sz="1800" dirty="0"/>
              <a:t>: bullet, </a:t>
            </a:r>
            <a:r>
              <a:rPr lang="en-ID" sz="1800" dirty="0" err="1"/>
              <a:t>tabel</a:t>
            </a:r>
            <a:r>
              <a:rPr lang="en-ID" sz="1800" dirty="0"/>
              <a:t>, mermaid,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prosa</a:t>
            </a:r>
            <a:r>
              <a:rPr lang="en-ID" sz="1800" dirty="0"/>
              <a:t>.</a:t>
            </a:r>
          </a:p>
          <a:p>
            <a:r>
              <a:rPr lang="en-ID" sz="1800" b="1" dirty="0"/>
              <a:t>Verification hook</a:t>
            </a:r>
            <a:r>
              <a:rPr lang="en-ID" sz="1800" dirty="0"/>
              <a:t>: </a:t>
            </a:r>
            <a:r>
              <a:rPr lang="en-ID" sz="1800" dirty="0" err="1"/>
              <a:t>minta</a:t>
            </a:r>
            <a:r>
              <a:rPr lang="en-ID" sz="1800" dirty="0"/>
              <a:t> AI </a:t>
            </a:r>
            <a:r>
              <a:rPr lang="en-ID" sz="1800" dirty="0" err="1"/>
              <a:t>menyebut</a:t>
            </a:r>
            <a:r>
              <a:rPr lang="en-ID" sz="1800" dirty="0"/>
              <a:t> </a:t>
            </a:r>
            <a:r>
              <a:rPr lang="en-ID" sz="1800" dirty="0" err="1"/>
              <a:t>nomor</a:t>
            </a:r>
            <a:r>
              <a:rPr lang="en-ID" sz="1800" dirty="0"/>
              <a:t> baris / nama </a:t>
            </a:r>
            <a:r>
              <a:rPr lang="en-ID" sz="1800" dirty="0" err="1"/>
              <a:t>fungsi</a:t>
            </a:r>
            <a:r>
              <a:rPr lang="en-ID" sz="1800" dirty="0"/>
              <a:t> yang </a:t>
            </a:r>
            <a:r>
              <a:rPr lang="en-ID" sz="1800" dirty="0" err="1"/>
              <a:t>menjadi</a:t>
            </a:r>
            <a:r>
              <a:rPr lang="en-ID" sz="1800" dirty="0"/>
              <a:t> </a:t>
            </a:r>
            <a:r>
              <a:rPr lang="en-ID" sz="1800" dirty="0" err="1"/>
              <a:t>sumber</a:t>
            </a:r>
            <a:r>
              <a:rPr lang="en-ID" sz="1800" dirty="0"/>
              <a:t> </a:t>
            </a:r>
            <a:r>
              <a:rPr lang="en-ID" sz="1800" dirty="0" err="1"/>
              <a:t>klaimnya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32B681-AC43-37EF-4E1B-58122BAF7460}"/>
              </a:ext>
            </a:extLst>
          </p:cNvPr>
          <p:cNvGraphicFramePr>
            <a:graphicFrameLocks noGrp="1"/>
          </p:cNvGraphicFramePr>
          <p:nvPr/>
        </p:nvGraphicFramePr>
        <p:xfrm>
          <a:off x="429657" y="1690688"/>
          <a:ext cx="10972800" cy="2103120"/>
        </p:xfrm>
        <a:graphic>
          <a:graphicData uri="http://schemas.openxmlformats.org/drawingml/2006/table">
            <a:tbl>
              <a:tblPr/>
              <a:tblGrid>
                <a:gridCol w="1795750">
                  <a:extLst>
                    <a:ext uri="{9D8B030D-6E8A-4147-A177-3AD203B41FA5}">
                      <a16:colId xmlns:a16="http://schemas.microsoft.com/office/drawing/2014/main" val="3543789628"/>
                    </a:ext>
                  </a:extLst>
                </a:gridCol>
                <a:gridCol w="5519450">
                  <a:extLst>
                    <a:ext uri="{9D8B030D-6E8A-4147-A177-3AD203B41FA5}">
                      <a16:colId xmlns:a16="http://schemas.microsoft.com/office/drawing/2014/main" val="12897114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039457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Lapis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Pertanyaan Kunci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Tool Cursor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0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Struktural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Apa </a:t>
                      </a:r>
                      <a:r>
                        <a:rPr lang="en-ID" dirty="0" err="1">
                          <a:effectLst/>
                        </a:rPr>
                        <a:t>modul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utama</a:t>
                      </a:r>
                      <a:r>
                        <a:rPr lang="en-ID" dirty="0">
                          <a:effectLst/>
                        </a:rPr>
                        <a:t>? </a:t>
                      </a:r>
                      <a:r>
                        <a:rPr lang="en-ID" dirty="0" err="1">
                          <a:effectLst/>
                        </a:rPr>
                        <a:t>Bagaimana</a:t>
                      </a:r>
                      <a:r>
                        <a:rPr lang="en-ID" dirty="0">
                          <a:effectLst/>
                        </a:rPr>
                        <a:t> folder </a:t>
                      </a:r>
                      <a:r>
                        <a:rPr lang="en-ID" dirty="0" err="1">
                          <a:effectLst/>
                        </a:rPr>
                        <a:t>dipetakan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ke</a:t>
                      </a:r>
                      <a:r>
                        <a:rPr lang="en-ID" dirty="0">
                          <a:effectLst/>
                        </a:rPr>
                        <a:t> domain?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  <a:latin typeface="var(--fontStack-monospace,ui-monospace, SFMono-Regular, SF Mono, Menlo, Consolas, Liberation Mono, monospace)"/>
                        </a:rPr>
                        <a:t>@folder</a:t>
                      </a:r>
                      <a:r>
                        <a:rPr lang="en-ID">
                          <a:effectLst/>
                        </a:rPr>
                        <a:t>, file tree, mermaid diagram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062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Behavioral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Apa yang </a:t>
                      </a:r>
                      <a:r>
                        <a:rPr lang="en-ID" dirty="0" err="1">
                          <a:effectLst/>
                        </a:rPr>
                        <a:t>terjadi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ketika</a:t>
                      </a:r>
                      <a:r>
                        <a:rPr lang="en-ID" dirty="0">
                          <a:effectLst/>
                        </a:rPr>
                        <a:t> user </a:t>
                      </a:r>
                      <a:r>
                        <a:rPr lang="en-ID" dirty="0" err="1">
                          <a:effectLst/>
                        </a:rPr>
                        <a:t>melakukan</a:t>
                      </a:r>
                      <a:r>
                        <a:rPr lang="en-ID" dirty="0">
                          <a:effectLst/>
                        </a:rPr>
                        <a:t> X?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  <a:latin typeface="var(--fontStack-monospace,ui-monospace, SFMono-Regular, SF Mono, Menlo, Consolas, Liberation Mono, monospace)"/>
                        </a:rPr>
                        <a:t>@codebase</a:t>
                      </a:r>
                      <a:r>
                        <a:rPr lang="en-ID" dirty="0">
                          <a:effectLst/>
                        </a:rPr>
                        <a:t> + chain-of-flow prompt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719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Evolusional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Mengapa kode begini? Apa trade-off historisnya?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  <a:latin typeface="var(--fontStack-monospace,ui-monospace, SFMono-Regular, SF Mono, Menlo, Consolas, Liberation Mono, monospace)"/>
                        </a:rPr>
                        <a:t>git log</a:t>
                      </a:r>
                      <a:r>
                        <a:rPr lang="en-ID" dirty="0">
                          <a:effectLst/>
                        </a:rPr>
                        <a:t>, </a:t>
                      </a:r>
                      <a:r>
                        <a:rPr lang="en-ID" dirty="0">
                          <a:effectLst/>
                          <a:latin typeface="var(--fontStack-monospace,ui-monospace, SFMono-Regular, SF Mono, Menlo, Consolas, Liberation Mono, monospace)"/>
                        </a:rPr>
                        <a:t>@git</a:t>
                      </a:r>
                      <a:r>
                        <a:rPr lang="en-ID" dirty="0">
                          <a:effectLst/>
                        </a:rPr>
                        <a:t>, ADR generator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42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3520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29D3-0D1E-9F45-2991-0946077D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C938F-A778-70BF-A12E-2B8ACA11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Dokumentasi</a:t>
            </a:r>
            <a:r>
              <a:rPr lang="en-ID" b="1" dirty="0"/>
              <a:t> yang </a:t>
            </a:r>
            <a:r>
              <a:rPr lang="en-ID" b="1" dirty="0" err="1"/>
              <a:t>Dihasilkan</a:t>
            </a:r>
            <a:r>
              <a:rPr lang="en-ID" b="1" dirty="0"/>
              <a:t> AI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A74FA9-DABA-F34D-5109-DB12CCDDBA5D}"/>
              </a:ext>
            </a:extLst>
          </p:cNvPr>
          <p:cNvSpPr txBox="1">
            <a:spLocks/>
          </p:cNvSpPr>
          <p:nvPr/>
        </p:nvSpPr>
        <p:spPr>
          <a:xfrm>
            <a:off x="319177" y="1135004"/>
            <a:ext cx="11328181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7AB9DA-3BF2-3ECA-2738-452D33E39407}"/>
              </a:ext>
            </a:extLst>
          </p:cNvPr>
          <p:cNvGraphicFramePr>
            <a:graphicFrameLocks noGrp="1"/>
          </p:cNvGraphicFramePr>
          <p:nvPr/>
        </p:nvGraphicFramePr>
        <p:xfrm>
          <a:off x="318998" y="1567898"/>
          <a:ext cx="11553825" cy="1554480"/>
        </p:xfrm>
        <a:graphic>
          <a:graphicData uri="http://schemas.openxmlformats.org/drawingml/2006/table">
            <a:tbl>
              <a:tblPr/>
              <a:tblGrid>
                <a:gridCol w="3851275">
                  <a:extLst>
                    <a:ext uri="{9D8B030D-6E8A-4147-A177-3AD203B41FA5}">
                      <a16:colId xmlns:a16="http://schemas.microsoft.com/office/drawing/2014/main" val="1412901786"/>
                    </a:ext>
                  </a:extLst>
                </a:gridCol>
                <a:gridCol w="3851275">
                  <a:extLst>
                    <a:ext uri="{9D8B030D-6E8A-4147-A177-3AD203B41FA5}">
                      <a16:colId xmlns:a16="http://schemas.microsoft.com/office/drawing/2014/main" val="2183930735"/>
                    </a:ext>
                  </a:extLst>
                </a:gridCol>
                <a:gridCol w="3851275">
                  <a:extLst>
                    <a:ext uri="{9D8B030D-6E8A-4147-A177-3AD203B41FA5}">
                      <a16:colId xmlns:a16="http://schemas.microsoft.com/office/drawing/2014/main" val="3256887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>
                          <a:effectLst/>
                        </a:rPr>
                        <a:t>Bentuk</a:t>
                      </a:r>
                      <a:endParaRPr lang="en-ID" b="1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Tujuan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effectLst/>
                        </a:rPr>
                        <a:t>Risiko Utama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990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README </a:t>
                      </a:r>
                      <a:r>
                        <a:rPr lang="en-ID" dirty="0" err="1">
                          <a:effectLst/>
                        </a:rPr>
                        <a:t>modul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Onboarding </a:t>
                      </a:r>
                      <a:r>
                        <a:rPr lang="en-ID" dirty="0" err="1">
                          <a:effectLst/>
                        </a:rPr>
                        <a:t>cepat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>
                          <a:effectLst/>
                        </a:rPr>
                        <a:t>Misinterpretasi</a:t>
                      </a:r>
                      <a:r>
                        <a:rPr lang="en-ID" dirty="0">
                          <a:effectLst/>
                        </a:rPr>
                        <a:t> domain term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56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Sequence diagram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Memvisualisasi flow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Step yang di-skip / di-hallucinate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481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API reference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>
                          <a:effectLst/>
                        </a:rPr>
                        <a:t>Dokumentasi kontrak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>
                          <a:effectLst/>
                        </a:rPr>
                        <a:t>Drift </a:t>
                      </a:r>
                      <a:r>
                        <a:rPr lang="en-ID" dirty="0" err="1">
                          <a:effectLst/>
                        </a:rPr>
                        <a:t>dengan</a:t>
                      </a:r>
                      <a:r>
                        <a:rPr lang="en-ID" dirty="0">
                          <a:effectLst/>
                        </a:rPr>
                        <a:t> </a:t>
                      </a:r>
                      <a:r>
                        <a:rPr lang="en-ID" dirty="0" err="1">
                          <a:effectLst/>
                        </a:rPr>
                        <a:t>implementasi</a:t>
                      </a:r>
                      <a:endParaRPr lang="en-ID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225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5914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B6B24-FF5F-8702-2D5C-A256DB2F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397CCC-5D72-E654-2260-082A587DB0AC}"/>
              </a:ext>
            </a:extLst>
          </p:cNvPr>
          <p:cNvSpPr txBox="1"/>
          <p:nvPr/>
        </p:nvSpPr>
        <p:spPr>
          <a:xfrm>
            <a:off x="806774" y="1646103"/>
            <a:ext cx="68831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UI Chatbot</a:t>
            </a:r>
          </a:p>
          <a:p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985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6925-E32B-3551-5B4B-AC597AFD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D710-6C1A-E971-93CB-B7B92FDD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UI 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10CA4-87F2-D652-1137-D14CCE66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6" y="1433738"/>
            <a:ext cx="5776823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Pada </a:t>
            </a:r>
            <a:r>
              <a:rPr lang="en-ID" sz="1600" dirty="0" err="1"/>
              <a:t>materi</a:t>
            </a:r>
            <a:r>
              <a:rPr lang="en-ID" sz="1600" dirty="0"/>
              <a:t> </a:t>
            </a:r>
            <a:r>
              <a:rPr lang="en-ID" sz="1600" dirty="0" err="1"/>
              <a:t>sebelumnya</a:t>
            </a:r>
            <a:r>
              <a:rPr lang="en-ID" sz="1600" dirty="0"/>
              <a:t>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membuktikan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NALA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menjawab</a:t>
            </a:r>
            <a:r>
              <a:rPr lang="en-ID" sz="1600" dirty="0"/>
              <a:t> </a:t>
            </a:r>
            <a:r>
              <a:rPr lang="en-ID" sz="1600" dirty="0" err="1"/>
              <a:t>lewat</a:t>
            </a:r>
            <a:r>
              <a:rPr lang="en-ID" sz="1600" dirty="0"/>
              <a:t> curl — </a:t>
            </a:r>
            <a:r>
              <a:rPr lang="en-ID" sz="1600" dirty="0" err="1"/>
              <a:t>tapi</a:t>
            </a:r>
            <a:r>
              <a:rPr lang="en-ID" sz="1600" dirty="0"/>
              <a:t> curl 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sesuatu</a:t>
            </a:r>
            <a:r>
              <a:rPr lang="en-ID" sz="1600" dirty="0"/>
              <a:t> yang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dipakai</a:t>
            </a:r>
            <a:r>
              <a:rPr lang="en-ID" sz="1600" dirty="0"/>
              <a:t> oleh user </a:t>
            </a:r>
            <a:r>
              <a:rPr lang="en-ID" sz="1600" dirty="0" err="1"/>
              <a:t>umum</a:t>
            </a:r>
            <a:r>
              <a:rPr lang="en-ID" sz="1600" dirty="0"/>
              <a:t>. Langkah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sekarang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memastikan</a:t>
            </a:r>
            <a:r>
              <a:rPr lang="en-ID" sz="1600" dirty="0"/>
              <a:t> NALA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diakses</a:t>
            </a:r>
            <a:r>
              <a:rPr lang="en-ID" sz="1600" dirty="0"/>
              <a:t> </a:t>
            </a:r>
            <a:r>
              <a:rPr lang="en-ID" sz="1600" dirty="0" err="1"/>
              <a:t>lewat</a:t>
            </a:r>
            <a:r>
              <a:rPr lang="en-ID" sz="1600" dirty="0"/>
              <a:t> </a:t>
            </a:r>
            <a:r>
              <a:rPr lang="en-ID" sz="1600" b="1" dirty="0" err="1"/>
              <a:t>antarmuka</a:t>
            </a:r>
            <a:r>
              <a:rPr lang="en-ID" sz="1600" b="1" dirty="0"/>
              <a:t> web</a:t>
            </a:r>
            <a:r>
              <a:rPr lang="en-ID" sz="1600" dirty="0"/>
              <a:t> yang </a:t>
            </a:r>
            <a:r>
              <a:rPr lang="en-ID" sz="1600" dirty="0" err="1"/>
              <a:t>sama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Untuk</a:t>
            </a:r>
            <a:r>
              <a:rPr lang="en-ID" sz="1600" dirty="0"/>
              <a:t> templating </a:t>
            </a:r>
            <a:r>
              <a:rPr lang="en-ID" sz="1600" dirty="0" err="1"/>
              <a:t>halaman</a:t>
            </a:r>
            <a:r>
              <a:rPr lang="en-ID" sz="1600" dirty="0"/>
              <a:t> chatbot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mengunakan</a:t>
            </a:r>
            <a:r>
              <a:rPr lang="en-ID" sz="16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6A15EB-04D3-23F0-92E1-579AE676C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23" y="1027906"/>
            <a:ext cx="2912991" cy="5167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3733F-C07C-584F-ABB8-18A453D2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12" y="4121487"/>
            <a:ext cx="1376441" cy="51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902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78A9-8CF8-D688-184F-BE90633D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B20-487B-DC11-43EB-99EF69270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Tambahkan</a:t>
            </a:r>
            <a:r>
              <a:rPr lang="en-ID" b="1" dirty="0"/>
              <a:t> File </a:t>
            </a:r>
            <a:r>
              <a:rPr lang="en-ID" b="1" dirty="0" err="1"/>
              <a:t>chat.html</a:t>
            </a:r>
            <a:r>
              <a:rPr lang="en-ID" b="1" dirty="0"/>
              <a:t> dan </a:t>
            </a:r>
            <a:r>
              <a:rPr lang="en-ID" b="1" dirty="0" err="1"/>
              <a:t>style.css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1644-EC74-07D0-D7C0-3D44FFD60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2275978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Buat folder </a:t>
            </a:r>
            <a:r>
              <a:rPr lang="en-ID" sz="1600" b="1" dirty="0"/>
              <a:t>static </a:t>
            </a:r>
            <a:r>
              <a:rPr lang="en-ID" sz="1600" dirty="0"/>
              <a:t> dan </a:t>
            </a:r>
            <a:r>
              <a:rPr lang="en-ID" sz="1600" b="1" dirty="0"/>
              <a:t>templates, </a:t>
            </a:r>
            <a:r>
              <a:rPr lang="en-ID" sz="1600" b="1" dirty="0" err="1"/>
              <a:t>lalu</a:t>
            </a:r>
            <a:r>
              <a:rPr lang="en-ID" sz="1600" b="1" dirty="0"/>
              <a:t> buat file </a:t>
            </a:r>
            <a:r>
              <a:rPr lang="en-ID" sz="1600" b="1" dirty="0" err="1"/>
              <a:t>chat.html</a:t>
            </a:r>
            <a:r>
              <a:rPr lang="en-ID" sz="1600" b="1" dirty="0"/>
              <a:t> dan </a:t>
            </a:r>
            <a:r>
              <a:rPr lang="en-ID" sz="1600" b="1" dirty="0" err="1"/>
              <a:t>style.css</a:t>
            </a:r>
            <a:endParaRPr lang="en-ID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5912-94A9-C8E1-6A91-BD740D6C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00" y="1433738"/>
            <a:ext cx="4362994" cy="5132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9A75EB-E9E6-210E-B9F8-DEEF04021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918" y="1390295"/>
            <a:ext cx="2070952" cy="50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974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EBAD0-0FFC-B07F-0DBE-63A4FCC6B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6D63C-743F-827A-79B7-3E300783D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Hubungkan</a:t>
            </a:r>
            <a:r>
              <a:rPr lang="en-ID" b="1" dirty="0"/>
              <a:t> File Templates dan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918D0-5862-9E6A-8165-FF4E1A79A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069716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Ubah </a:t>
            </a:r>
            <a:r>
              <a:rPr lang="en-ID" sz="1600" b="1" dirty="0" err="1"/>
              <a:t>kode</a:t>
            </a:r>
            <a:r>
              <a:rPr lang="en-ID" sz="1600" b="1" dirty="0"/>
              <a:t> di </a:t>
            </a:r>
            <a:r>
              <a:rPr lang="en-ID" sz="1600" b="1" dirty="0" err="1"/>
              <a:t>main.py</a:t>
            </a: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Tambahkan</a:t>
            </a:r>
            <a:r>
              <a:rPr lang="en-ID" sz="1600" b="1" dirty="0"/>
              <a:t> endpoint Get yang </a:t>
            </a:r>
            <a:r>
              <a:rPr lang="en-ID" sz="1600" b="1" dirty="0" err="1"/>
              <a:t>merender</a:t>
            </a:r>
            <a:r>
              <a:rPr lang="en-ID" sz="1600" b="1" dirty="0"/>
              <a:t> </a:t>
            </a:r>
            <a:r>
              <a:rPr lang="en-ID" sz="1600" b="1" dirty="0" err="1"/>
              <a:t>chat.html</a:t>
            </a:r>
            <a:endParaRPr lang="en-ID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F2781-8B71-3D8F-FB98-B6D79EB07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1433738"/>
            <a:ext cx="7772400" cy="16611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E0FE9E-1ED9-D7E8-4A4C-B1DC020B8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3521016"/>
            <a:ext cx="7137400" cy="101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138699-9BCC-EE79-2F76-67FCF8EEF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77" y="4963111"/>
            <a:ext cx="6264503" cy="146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882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3396-524C-3BE3-577A-49C9A0B0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5432F0-5C70-F4C9-3315-87C7EDCF7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805" y="365125"/>
            <a:ext cx="6401183" cy="586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DE89D5-6611-B524-4D7F-8C939C33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5502503" cy="1325563"/>
          </a:xfrm>
        </p:spPr>
        <p:txBody>
          <a:bodyPr>
            <a:normAutofit/>
          </a:bodyPr>
          <a:lstStyle/>
          <a:p>
            <a:r>
              <a:rPr lang="en-ID" b="1" dirty="0"/>
              <a:t>Streaming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0D7E6-BAAE-63A5-0016-8AB7A6A16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336366"/>
            <a:ext cx="3780383" cy="4500554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Streaming </a:t>
            </a:r>
            <a:r>
              <a:rPr lang="en-ID" sz="1800" dirty="0" err="1"/>
              <a:t>bertujuan</a:t>
            </a:r>
            <a:r>
              <a:rPr lang="en-ID" sz="1800" dirty="0"/>
              <a:t> </a:t>
            </a:r>
            <a:r>
              <a:rPr lang="en-ID" sz="1800" dirty="0" err="1"/>
              <a:t>mengubah</a:t>
            </a:r>
            <a:r>
              <a:rPr lang="en-ID" sz="1800" dirty="0"/>
              <a:t> </a:t>
            </a:r>
            <a:r>
              <a:rPr lang="en-ID" sz="1800" dirty="0" err="1"/>
              <a:t>respons</a:t>
            </a:r>
            <a:r>
              <a:rPr lang="en-ID" sz="1800" dirty="0"/>
              <a:t> "</a:t>
            </a:r>
            <a:r>
              <a:rPr lang="en-ID" sz="1800" dirty="0" err="1"/>
              <a:t>tunggu</a:t>
            </a:r>
            <a:r>
              <a:rPr lang="en-ID" sz="1800" dirty="0"/>
              <a:t> lama → </a:t>
            </a:r>
            <a:r>
              <a:rPr lang="en-ID" sz="1800" dirty="0" err="1"/>
              <a:t>muncul</a:t>
            </a:r>
            <a:r>
              <a:rPr lang="en-ID" sz="1800" dirty="0"/>
              <a:t> </a:t>
            </a:r>
            <a:r>
              <a:rPr lang="en-ID" sz="1800" dirty="0" err="1"/>
              <a:t>sekaligus</a:t>
            </a:r>
            <a:r>
              <a:rPr lang="en-ID" sz="1800" dirty="0"/>
              <a:t>" </a:t>
            </a:r>
            <a:r>
              <a:rPr lang="en-ID" sz="1800" dirty="0" err="1"/>
              <a:t>menjadi</a:t>
            </a:r>
            <a:r>
              <a:rPr lang="en-ID" sz="1800" dirty="0"/>
              <a:t> streaming kata-demi-kata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pengalaman</a:t>
            </a:r>
            <a:r>
              <a:rPr lang="en-ID" sz="1800" dirty="0"/>
              <a:t> chat modern (ChatGPT, </a:t>
            </a:r>
            <a:r>
              <a:rPr lang="en-ID" sz="1800" dirty="0" err="1"/>
              <a:t>Claude.ai</a:t>
            </a:r>
            <a:r>
              <a:rPr lang="en-ID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423667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059C-7572-3DD7-E741-7707E180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D8D3-31A8-F6A3-1D9E-7EE691733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11419977" cy="1325563"/>
          </a:xfrm>
        </p:spPr>
        <p:txBody>
          <a:bodyPr>
            <a:normAutofit/>
          </a:bodyPr>
          <a:lstStyle/>
          <a:p>
            <a:r>
              <a:rPr lang="en-ID" sz="2600" b="1" dirty="0" err="1"/>
              <a:t>Tahap</a:t>
            </a:r>
            <a:r>
              <a:rPr lang="en-ID" sz="2600" b="1" dirty="0"/>
              <a:t> A - </a:t>
            </a:r>
            <a:r>
              <a:rPr lang="en-ID" sz="2600" b="1" dirty="0" err="1"/>
              <a:t>Tambah</a:t>
            </a:r>
            <a:r>
              <a:rPr lang="en-ID" sz="2600" b="1" dirty="0"/>
              <a:t> Endpoint /chat/stream </a:t>
            </a:r>
            <a:r>
              <a:rPr lang="en-ID" sz="2600" b="1" dirty="0" err="1"/>
              <a:t>baru</a:t>
            </a:r>
            <a:r>
              <a:rPr lang="en-ID" sz="2600" b="1" dirty="0"/>
              <a:t> di app/</a:t>
            </a:r>
            <a:r>
              <a:rPr lang="en-ID" sz="2600" b="1" dirty="0" err="1"/>
              <a:t>main.py</a:t>
            </a:r>
            <a:endParaRPr lang="en-ID" sz="26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6DAE1-267C-AAE5-5930-70ADFD78F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20C63-7397-52BA-68F4-97A7E05F6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1512116"/>
            <a:ext cx="7772400" cy="43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617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703E-6E32-E4AC-7D47-6CB038D9C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DD23-6E7E-F0F4-E6B3-B9B75DFC0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11419977" cy="1325563"/>
          </a:xfrm>
        </p:spPr>
        <p:txBody>
          <a:bodyPr>
            <a:normAutofit/>
          </a:bodyPr>
          <a:lstStyle/>
          <a:p>
            <a:r>
              <a:rPr lang="en-ID" sz="3500" b="1" dirty="0" err="1"/>
              <a:t>Tahap</a:t>
            </a:r>
            <a:r>
              <a:rPr lang="en-ID" sz="3500" b="1" dirty="0"/>
              <a:t> B - </a:t>
            </a:r>
            <a:r>
              <a:rPr lang="en-ID" sz="3500" b="1" dirty="0" err="1"/>
              <a:t>Tambah</a:t>
            </a:r>
            <a:r>
              <a:rPr lang="en-ID" sz="3500" b="1" dirty="0"/>
              <a:t> </a:t>
            </a:r>
            <a:r>
              <a:rPr lang="en-ID" sz="3500" b="1" dirty="0" err="1"/>
              <a:t>chat_stream</a:t>
            </a:r>
            <a:r>
              <a:rPr lang="en-ID" sz="3500" b="1" dirty="0"/>
              <a:t>() di app/</a:t>
            </a:r>
            <a:r>
              <a:rPr lang="en-ID" sz="3500" b="1" dirty="0" err="1"/>
              <a:t>ollama_client.py</a:t>
            </a:r>
            <a:endParaRPr lang="en-ID" sz="35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0DC91-EC1B-5FBA-2EBA-3786D337A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Tambah</a:t>
            </a:r>
            <a:r>
              <a:rPr lang="en-US" sz="1600" b="1" dirty="0"/>
              <a:t> Import Baru			     </a:t>
            </a:r>
            <a:r>
              <a:rPr lang="en-ID" sz="1600" b="1" dirty="0" err="1"/>
              <a:t>Tambah</a:t>
            </a:r>
            <a:r>
              <a:rPr lang="en-ID" sz="1600" b="1" dirty="0"/>
              <a:t> endpoint POST /chat/stream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ID" sz="1600" b="1" dirty="0"/>
              <a:t> </a:t>
            </a:r>
            <a:r>
              <a:rPr lang="en-ID" sz="1600" b="1" dirty="0" err="1"/>
              <a:t>Tambah</a:t>
            </a:r>
            <a:r>
              <a:rPr lang="en-ID" sz="1600" b="1" dirty="0"/>
              <a:t> </a:t>
            </a:r>
            <a:r>
              <a:rPr lang="en-ID" sz="1600" b="1" dirty="0" err="1"/>
              <a:t>Pydantic</a:t>
            </a:r>
            <a:r>
              <a:rPr lang="en-ID" sz="1600" b="1" dirty="0"/>
              <a:t> models dan HISTORY_WINDOW</a:t>
            </a:r>
            <a:endParaRPr lang="en-US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C7B86F-7E06-167D-B843-BC6B03A8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2248989"/>
            <a:ext cx="4654267" cy="807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7AB26D-B93B-BE1D-3005-98E2CF08D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2" y="3640181"/>
            <a:ext cx="3168032" cy="2370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287968-2DF5-016D-2E2E-EB56685F1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182" y="2248989"/>
            <a:ext cx="6188129" cy="308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322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7765-1CA0-5669-CB7D-B946A3908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2D7C-3EC8-A940-CC32-608DA6824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11419977" cy="1325563"/>
          </a:xfrm>
        </p:spPr>
        <p:txBody>
          <a:bodyPr>
            <a:normAutofit/>
          </a:bodyPr>
          <a:lstStyle/>
          <a:p>
            <a:r>
              <a:rPr lang="en-ID" sz="3500" b="1" dirty="0" err="1"/>
              <a:t>Tahap</a:t>
            </a:r>
            <a:r>
              <a:rPr lang="en-ID" sz="3500" b="1" dirty="0"/>
              <a:t> C — Frontend: </a:t>
            </a:r>
            <a:r>
              <a:rPr lang="en-ID" sz="3500" b="1" dirty="0" err="1"/>
              <a:t>baca</a:t>
            </a:r>
            <a:r>
              <a:rPr lang="en-ID" sz="3500" b="1" dirty="0"/>
              <a:t> stream + </a:t>
            </a:r>
            <a:r>
              <a:rPr lang="en-ID" sz="3500" b="1" dirty="0" err="1"/>
              <a:t>ingat</a:t>
            </a:r>
            <a:r>
              <a:rPr lang="en-ID" sz="3500" b="1" dirty="0"/>
              <a:t> </a:t>
            </a:r>
            <a:r>
              <a:rPr lang="en-ID" sz="3500" b="1" dirty="0" err="1"/>
              <a:t>riwayat</a:t>
            </a:r>
            <a:r>
              <a:rPr lang="en-ID" sz="3500" b="1" dirty="0"/>
              <a:t> </a:t>
            </a:r>
            <a:r>
              <a:rPr lang="en-ID" sz="3500" b="1" dirty="0" err="1"/>
              <a:t>percakapan</a:t>
            </a:r>
            <a:endParaRPr lang="en-ID" sz="35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DC69F-1BF7-DAAD-4CB9-C7D2ED125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1600" b="1" dirty="0"/>
              <a:t>Langkah 5 — Ubah </a:t>
            </a:r>
            <a:r>
              <a:rPr lang="en-ID" sz="1600" b="1" dirty="0" err="1"/>
              <a:t>chat.html</a:t>
            </a:r>
            <a:r>
              <a:rPr lang="en-ID" sz="1600" b="1" dirty="0"/>
              <a:t> </a:t>
            </a:r>
            <a:r>
              <a:rPr lang="en-ID" sz="1600" b="1" dirty="0" err="1"/>
              <a:t>supaya</a:t>
            </a:r>
            <a:r>
              <a:rPr lang="en-ID" sz="1600" b="1" dirty="0"/>
              <a:t> </a:t>
            </a:r>
            <a:r>
              <a:rPr lang="en-ID" sz="1600" b="1" dirty="0" err="1"/>
              <a:t>memanggil</a:t>
            </a:r>
            <a:r>
              <a:rPr lang="en-ID" sz="1600" b="1" dirty="0"/>
              <a:t> /chat/stream dan </a:t>
            </a:r>
            <a:r>
              <a:rPr lang="en-ID" sz="1600" b="1" dirty="0" err="1"/>
              <a:t>membaca</a:t>
            </a:r>
            <a:r>
              <a:rPr lang="en-ID" sz="1600" b="1" dirty="0"/>
              <a:t> token </a:t>
            </a:r>
            <a:r>
              <a:rPr lang="en-ID" sz="1600" b="1" dirty="0" err="1"/>
              <a:t>bertahap</a:t>
            </a:r>
            <a:endParaRPr lang="en-US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3FAF36-9424-585B-3114-3C28092B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7" y="2215478"/>
            <a:ext cx="4932092" cy="42008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F43B38-0F95-0AE8-8459-7ED436E4B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692" y="2213300"/>
            <a:ext cx="5492286" cy="243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97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F3533-CD78-9224-57DE-A9B08A25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B0723-F69D-B31D-85CF-6DEC0EAC2215}"/>
              </a:ext>
            </a:extLst>
          </p:cNvPr>
          <p:cNvSpPr txBox="1"/>
          <p:nvPr/>
        </p:nvSpPr>
        <p:spPr>
          <a:xfrm>
            <a:off x="806774" y="1646104"/>
            <a:ext cx="4712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Retrieval Augmented Generation</a:t>
            </a: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3350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5727-AD97-7116-AF26-9E686F34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D3C1-4F3B-E7E3-859C-4DCA9FDF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Kelemahan</a:t>
            </a:r>
            <a:r>
              <a:rPr lang="en-ID" b="1" dirty="0"/>
              <a:t> </a:t>
            </a:r>
            <a:r>
              <a:rPr lang="en-ID" b="1" dirty="0" err="1"/>
              <a:t>Terbesar</a:t>
            </a:r>
            <a:r>
              <a:rPr lang="en-ID" b="1" dirty="0"/>
              <a:t> LLM: </a:t>
            </a:r>
            <a:r>
              <a:rPr lang="en-ID" b="1" dirty="0" err="1"/>
              <a:t>Halusinasi</a:t>
            </a:r>
            <a:endParaRPr lang="en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42CC7-A890-AFA7-A996-0FF07359A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11009223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Saat Anda </a:t>
            </a:r>
            <a:r>
              <a:rPr lang="en-ID" sz="1800" dirty="0" err="1"/>
              <a:t>mengembangkan</a:t>
            </a:r>
            <a:r>
              <a:rPr lang="en-ID" sz="1800" dirty="0"/>
              <a:t> </a:t>
            </a:r>
            <a:r>
              <a:rPr lang="en-ID" sz="1800" dirty="0" err="1"/>
              <a:t>aplikasi</a:t>
            </a:r>
            <a:r>
              <a:rPr lang="en-ID" sz="1800" dirty="0"/>
              <a:t> </a:t>
            </a:r>
            <a:r>
              <a:rPr lang="en-ID" sz="1800" dirty="0" err="1"/>
              <a:t>berbasis</a:t>
            </a:r>
            <a:r>
              <a:rPr lang="en-ID" sz="1800" dirty="0"/>
              <a:t> LLM, </a:t>
            </a:r>
            <a:r>
              <a:rPr lang="en-ID" sz="1800" b="1" dirty="0" err="1"/>
              <a:t>musuh</a:t>
            </a:r>
            <a:r>
              <a:rPr lang="en-ID" sz="1800" b="1" dirty="0"/>
              <a:t> </a:t>
            </a:r>
            <a:r>
              <a:rPr lang="en-ID" sz="1800" b="1" dirty="0" err="1"/>
              <a:t>nomor</a:t>
            </a:r>
            <a:r>
              <a:rPr lang="en-ID" sz="1800" b="1" dirty="0"/>
              <a:t> </a:t>
            </a:r>
            <a:r>
              <a:rPr lang="en-ID" sz="1800" b="1" dirty="0" err="1"/>
              <a:t>satu</a:t>
            </a:r>
            <a:r>
              <a:rPr lang="en-ID" sz="1800" dirty="0"/>
              <a:t> Anda </a:t>
            </a:r>
            <a:r>
              <a:rPr lang="en-ID" sz="1800" dirty="0" err="1"/>
              <a:t>adalah</a:t>
            </a:r>
            <a:r>
              <a:rPr lang="en-ID" sz="1800" dirty="0"/>
              <a:t> </a:t>
            </a:r>
            <a:r>
              <a:rPr lang="en-ID" sz="1800" b="1" dirty="0" err="1"/>
              <a:t>halusinasi</a:t>
            </a:r>
            <a:r>
              <a:rPr lang="en-ID" sz="1800" dirty="0"/>
              <a:t> — </a:t>
            </a:r>
            <a:r>
              <a:rPr lang="en-ID" sz="1800" dirty="0" err="1"/>
              <a:t>kondisi</a:t>
            </a:r>
            <a:r>
              <a:rPr lang="en-ID" sz="1800" dirty="0"/>
              <a:t> di mana model </a:t>
            </a:r>
            <a:r>
              <a:rPr lang="en-ID" sz="1800" dirty="0" err="1"/>
              <a:t>menghasilkan</a:t>
            </a:r>
            <a:r>
              <a:rPr lang="en-ID" sz="1800" dirty="0"/>
              <a:t> </a:t>
            </a:r>
            <a:r>
              <a:rPr lang="en-ID" sz="1800" dirty="0" err="1"/>
              <a:t>respons</a:t>
            </a:r>
            <a:r>
              <a:rPr lang="en-ID" sz="1800" dirty="0"/>
              <a:t> yang </a:t>
            </a:r>
            <a:r>
              <a:rPr lang="en-ID" sz="1800" b="1" dirty="0" err="1"/>
              <a:t>terdengar</a:t>
            </a:r>
            <a:r>
              <a:rPr lang="en-ID" sz="1800" b="1" dirty="0"/>
              <a:t> </a:t>
            </a:r>
            <a:r>
              <a:rPr lang="en-ID" sz="1800" b="1" dirty="0" err="1"/>
              <a:t>meyakinkan</a:t>
            </a:r>
            <a:r>
              <a:rPr lang="en-ID" sz="1800" b="1" dirty="0"/>
              <a:t> </a:t>
            </a:r>
            <a:r>
              <a:rPr lang="en-ID" sz="1800" b="1" dirty="0" err="1"/>
              <a:t>tetapi</a:t>
            </a:r>
            <a:r>
              <a:rPr lang="en-ID" sz="1800" b="1" dirty="0"/>
              <a:t> salah</a:t>
            </a:r>
            <a:r>
              <a:rPr lang="en-ID" sz="1800" dirty="0"/>
              <a:t>. Angka yang </a:t>
            </a:r>
            <a:r>
              <a:rPr lang="en-ID" sz="1800" dirty="0" err="1"/>
              <a:t>dikarang</a:t>
            </a:r>
            <a:r>
              <a:rPr lang="en-ID" sz="1800" dirty="0"/>
              <a:t>, </a:t>
            </a:r>
            <a:r>
              <a:rPr lang="en-ID" sz="1800" dirty="0" err="1"/>
              <a:t>fakta</a:t>
            </a:r>
            <a:r>
              <a:rPr lang="en-ID" sz="1800" dirty="0"/>
              <a:t> yang </a:t>
            </a:r>
            <a:r>
              <a:rPr lang="en-ID" sz="1800" dirty="0" err="1"/>
              <a:t>dibuat</a:t>
            </a:r>
            <a:r>
              <a:rPr lang="en-ID" sz="1800" dirty="0"/>
              <a:t>-buat, nama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pernah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, </a:t>
            </a:r>
            <a:r>
              <a:rPr lang="en-ID" sz="1800" dirty="0" err="1"/>
              <a:t>kebijakan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pernah</a:t>
            </a:r>
            <a:r>
              <a:rPr lang="en-ID" sz="1800" dirty="0"/>
              <a:t> </a:t>
            </a:r>
            <a:r>
              <a:rPr lang="en-ID" sz="1800" dirty="0" err="1"/>
              <a:t>dibuat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F41618-F947-B9A7-26CC-370808820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2953346"/>
            <a:ext cx="9906000" cy="300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054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217B-7642-BC24-ED6D-D730CFF6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402C-B9D7-16C0-3424-CDCB928B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Analogi</a:t>
            </a:r>
            <a:r>
              <a:rPr lang="en-ID" b="1" dirty="0"/>
              <a:t>: </a:t>
            </a:r>
            <a:r>
              <a:rPr lang="en-ID" b="1" dirty="0" err="1"/>
              <a:t>Ujian</a:t>
            </a:r>
            <a:r>
              <a:rPr lang="en-ID" b="1" dirty="0"/>
              <a:t> Closed Book vs Open Book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3B100-659F-A33E-6C43-908C1CA87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4"/>
            <a:ext cx="11009223" cy="463867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 err="1"/>
              <a:t>Tanpa</a:t>
            </a:r>
            <a:r>
              <a:rPr lang="en-ID" sz="1800" b="1" dirty="0"/>
              <a:t> RAG</a:t>
            </a:r>
            <a:r>
              <a:rPr lang="en-ID" sz="1800" dirty="0"/>
              <a:t>, LLM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siswa</a:t>
            </a:r>
            <a:r>
              <a:rPr lang="en-ID" sz="1800" dirty="0"/>
              <a:t> closed book — </a:t>
            </a:r>
            <a:r>
              <a:rPr lang="en-ID" sz="1800" dirty="0" err="1"/>
              <a:t>pengetahuannya</a:t>
            </a:r>
            <a:r>
              <a:rPr lang="en-ID" sz="1800" dirty="0"/>
              <a:t> </a:t>
            </a:r>
            <a:r>
              <a:rPr lang="en-ID" sz="1800" dirty="0" err="1"/>
              <a:t>beku</a:t>
            </a:r>
            <a:r>
              <a:rPr lang="en-ID" sz="1800" dirty="0"/>
              <a:t> di training cut-off, dan </a:t>
            </a:r>
            <a:r>
              <a:rPr lang="en-ID" sz="1800" dirty="0" err="1"/>
              <a:t>apa</a:t>
            </a:r>
            <a:r>
              <a:rPr lang="en-ID" sz="1800" dirty="0"/>
              <a:t>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 di "</a:t>
            </a:r>
            <a:r>
              <a:rPr lang="en-ID" sz="1800" dirty="0" err="1"/>
              <a:t>kepala</a:t>
            </a:r>
            <a:r>
              <a:rPr lang="en-ID" sz="1800" dirty="0"/>
              <a:t>"-</a:t>
            </a:r>
            <a:r>
              <a:rPr lang="en-ID" sz="1800" dirty="0" err="1"/>
              <a:t>nya</a:t>
            </a:r>
            <a:r>
              <a:rPr lang="en-ID" sz="1800" dirty="0"/>
              <a:t> </a:t>
            </a:r>
            <a:r>
              <a:rPr lang="en-ID" sz="1800" dirty="0" err="1"/>
              <a:t>akan</a:t>
            </a:r>
            <a:r>
              <a:rPr lang="en-ID" sz="1800" dirty="0"/>
              <a:t> </a:t>
            </a:r>
            <a:r>
              <a:rPr lang="en-ID" sz="1800" dirty="0" err="1"/>
              <a:t>diisi</a:t>
            </a:r>
            <a:r>
              <a:rPr lang="en-ID" sz="1800" dirty="0"/>
              <a:t> </a:t>
            </a:r>
            <a:r>
              <a:rPr lang="en-ID" sz="1800" dirty="0" err="1"/>
              <a:t>tebakan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/>
              <a:t>Dengan RAG</a:t>
            </a:r>
            <a:r>
              <a:rPr lang="en-ID" sz="1800" dirty="0"/>
              <a:t>, LLM </a:t>
            </a:r>
            <a:r>
              <a:rPr lang="en-ID" sz="1800" dirty="0" err="1"/>
              <a:t>jadi</a:t>
            </a:r>
            <a:r>
              <a:rPr lang="en-ID" sz="1800" dirty="0"/>
              <a:t> </a:t>
            </a:r>
            <a:r>
              <a:rPr lang="en-ID" sz="1800" dirty="0" err="1"/>
              <a:t>siswa</a:t>
            </a:r>
            <a:r>
              <a:rPr lang="en-ID" sz="1800" dirty="0"/>
              <a:t> open book — </a:t>
            </a:r>
            <a:r>
              <a:rPr lang="en-ID" sz="1800" dirty="0" err="1"/>
              <a:t>sebelum</a:t>
            </a:r>
            <a:r>
              <a:rPr lang="en-ID" sz="1800" dirty="0"/>
              <a:t> </a:t>
            </a:r>
            <a:r>
              <a:rPr lang="en-ID" sz="1800" dirty="0" err="1"/>
              <a:t>menjawab</a:t>
            </a:r>
            <a:r>
              <a:rPr lang="en-ID" sz="1800" dirty="0"/>
              <a:t>, </a:t>
            </a:r>
            <a:r>
              <a:rPr lang="en-ID" sz="1800" dirty="0" err="1"/>
              <a:t>ia</a:t>
            </a:r>
            <a:r>
              <a:rPr lang="en-ID" sz="1800" dirty="0"/>
              <a:t> "</a:t>
            </a:r>
            <a:r>
              <a:rPr lang="en-ID" sz="1800" dirty="0" err="1"/>
              <a:t>buka</a:t>
            </a:r>
            <a:r>
              <a:rPr lang="en-ID" sz="1800" dirty="0"/>
              <a:t> </a:t>
            </a:r>
            <a:r>
              <a:rPr lang="en-ID" sz="1800" dirty="0" err="1"/>
              <a:t>catatan</a:t>
            </a:r>
            <a:r>
              <a:rPr lang="en-ID" sz="1800" dirty="0"/>
              <a:t>" Anda (knowledge base), </a:t>
            </a:r>
            <a:r>
              <a:rPr lang="en-ID" sz="1800" dirty="0" err="1"/>
              <a:t>baca</a:t>
            </a:r>
            <a:r>
              <a:rPr lang="en-ID" sz="1800" dirty="0"/>
              <a:t> yang </a:t>
            </a:r>
            <a:r>
              <a:rPr lang="en-ID" sz="1800" dirty="0" err="1"/>
              <a:t>relevan</a:t>
            </a:r>
            <a:r>
              <a:rPr lang="en-ID" sz="1800" dirty="0"/>
              <a:t>, </a:t>
            </a:r>
            <a:r>
              <a:rPr lang="en-ID" sz="1800" dirty="0" err="1"/>
              <a:t>baru</a:t>
            </a:r>
            <a:r>
              <a:rPr lang="en-ID" sz="1800" dirty="0"/>
              <a:t> </a:t>
            </a:r>
            <a:r>
              <a:rPr lang="en-ID" sz="1800" dirty="0" err="1"/>
              <a:t>menjawab</a:t>
            </a:r>
            <a:r>
              <a:rPr lang="en-ID" sz="1800" dirty="0"/>
              <a:t> </a:t>
            </a:r>
            <a:r>
              <a:rPr lang="en-ID" sz="1800" dirty="0" err="1"/>
              <a:t>berdasarkan</a:t>
            </a:r>
            <a:r>
              <a:rPr lang="en-ID" sz="1800" dirty="0"/>
              <a:t> </a:t>
            </a:r>
            <a:r>
              <a:rPr lang="en-ID" sz="1800" dirty="0" err="1"/>
              <a:t>apa</a:t>
            </a:r>
            <a:r>
              <a:rPr lang="en-ID" sz="1800" dirty="0"/>
              <a:t> yang </a:t>
            </a:r>
            <a:r>
              <a:rPr lang="en-ID" sz="1800" dirty="0" err="1"/>
              <a:t>ada</a:t>
            </a:r>
            <a:r>
              <a:rPr lang="en-ID" sz="1800" dirty="0"/>
              <a:t> di sana.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E1FF4-B6B2-2CA8-8EF7-EA87C3A3C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1431924"/>
            <a:ext cx="9018761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496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1478E-42BB-3EDB-BB98-70E65409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2E4A-E5CA-92C0-8A72-00FED95A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RAG?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537EB-CA33-4D03-9924-37B9D240A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4"/>
            <a:ext cx="11009223" cy="46386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RAG (Retrieval Augmented Generation) 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pola</a:t>
            </a:r>
            <a:r>
              <a:rPr lang="en-ID" sz="1800" dirty="0"/>
              <a:t> </a:t>
            </a:r>
            <a:r>
              <a:rPr lang="en-ID" sz="1800" dirty="0" err="1"/>
              <a:t>arsitektur</a:t>
            </a:r>
            <a:r>
              <a:rPr lang="en-ID" sz="1800" dirty="0"/>
              <a:t> di mana LLM </a:t>
            </a:r>
            <a:r>
              <a:rPr lang="en-ID" sz="1800" dirty="0" err="1"/>
              <a:t>diberi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 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sumber</a:t>
            </a:r>
            <a:r>
              <a:rPr lang="en-ID" sz="1800" dirty="0"/>
              <a:t> data </a:t>
            </a:r>
            <a:r>
              <a:rPr lang="en-ID" sz="1800" dirty="0" err="1"/>
              <a:t>eksternal</a:t>
            </a:r>
            <a:r>
              <a:rPr lang="en-ID" sz="1800" dirty="0"/>
              <a:t> </a:t>
            </a:r>
            <a:r>
              <a:rPr lang="en-ID" sz="1800" dirty="0" err="1"/>
              <a:t>sebelum</a:t>
            </a:r>
            <a:r>
              <a:rPr lang="en-ID" sz="1800" dirty="0"/>
              <a:t> </a:t>
            </a:r>
            <a:r>
              <a:rPr lang="en-ID" sz="1800" dirty="0" err="1"/>
              <a:t>menjawab</a:t>
            </a:r>
            <a:r>
              <a:rPr lang="en-ID" sz="1800" dirty="0"/>
              <a:t>. Tiga </a:t>
            </a:r>
            <a:r>
              <a:rPr lang="en-ID" sz="1800" dirty="0" err="1"/>
              <a:t>komponen</a:t>
            </a:r>
            <a:r>
              <a:rPr lang="en-ID" sz="1800" dirty="0"/>
              <a:t> </a:t>
            </a:r>
            <a:r>
              <a:rPr lang="en-ID" sz="1800" dirty="0" err="1"/>
              <a:t>intinya</a:t>
            </a:r>
            <a:r>
              <a:rPr lang="en-ID" sz="1800" dirty="0"/>
              <a:t>, </a:t>
            </a:r>
            <a:r>
              <a:rPr lang="en-ID" sz="1800" dirty="0" err="1"/>
              <a:t>tercermin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namanya</a:t>
            </a:r>
            <a:r>
              <a:rPr lang="en-ID" sz="1800" dirty="0"/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800" b="1" dirty="0"/>
              <a:t>Retrieval</a:t>
            </a:r>
            <a:r>
              <a:rPr lang="en-ID" sz="1800" dirty="0"/>
              <a:t> — </a:t>
            </a:r>
            <a:r>
              <a:rPr lang="en-ID" sz="1800" dirty="0" err="1"/>
              <a:t>cari</a:t>
            </a:r>
            <a:r>
              <a:rPr lang="en-ID" sz="1800" dirty="0"/>
              <a:t> </a:t>
            </a:r>
            <a:r>
              <a:rPr lang="en-ID" sz="1800" dirty="0" err="1"/>
              <a:t>potongan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paling </a:t>
            </a:r>
            <a:r>
              <a:rPr lang="en-ID" sz="1800" dirty="0" err="1"/>
              <a:t>relevan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knowledge base (vector DB, </a:t>
            </a:r>
            <a:r>
              <a:rPr lang="en-ID" sz="1800" dirty="0" err="1"/>
              <a:t>dokumen</a:t>
            </a:r>
            <a:r>
              <a:rPr lang="en-ID" sz="1800" dirty="0"/>
              <a:t>, </a:t>
            </a:r>
            <a:r>
              <a:rPr lang="en-ID" sz="1800" dirty="0" err="1"/>
              <a:t>dll</a:t>
            </a:r>
            <a:r>
              <a:rPr lang="en-ID" sz="1800" dirty="0"/>
              <a:t>.)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800" b="1" dirty="0"/>
              <a:t>Augmented</a:t>
            </a:r>
            <a:r>
              <a:rPr lang="en-ID" sz="1800" dirty="0"/>
              <a:t> — </a:t>
            </a:r>
            <a:r>
              <a:rPr lang="en-ID" sz="1800" dirty="0" err="1"/>
              <a:t>sisipkan</a:t>
            </a:r>
            <a:r>
              <a:rPr lang="en-ID" sz="1800" dirty="0"/>
              <a:t> </a:t>
            </a:r>
            <a:r>
              <a:rPr lang="en-ID" sz="1800" dirty="0" err="1"/>
              <a:t>informasi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 prompt model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D" sz="1800" b="1" dirty="0"/>
              <a:t>Generation</a:t>
            </a:r>
            <a:r>
              <a:rPr lang="en-ID" sz="1800" dirty="0"/>
              <a:t> — model </a:t>
            </a:r>
            <a:r>
              <a:rPr lang="en-ID" sz="1800" dirty="0" err="1"/>
              <a:t>menjawab</a:t>
            </a:r>
            <a:r>
              <a:rPr lang="en-ID" sz="1800" dirty="0"/>
              <a:t> </a:t>
            </a:r>
            <a:r>
              <a:rPr lang="en-ID" sz="1800" dirty="0" err="1"/>
              <a:t>pertanyaan</a:t>
            </a:r>
            <a:r>
              <a:rPr lang="en-ID" sz="1800" dirty="0"/>
              <a:t> user </a:t>
            </a:r>
            <a:r>
              <a:rPr lang="en-ID" sz="1800" dirty="0" err="1"/>
              <a:t>dengan</a:t>
            </a:r>
            <a:r>
              <a:rPr lang="en-ID" sz="1800" dirty="0"/>
              <a:t> </a:t>
            </a:r>
            <a:r>
              <a:rPr lang="en-ID" sz="1800" b="1" dirty="0" err="1"/>
              <a:t>berlandaskan</a:t>
            </a:r>
            <a:r>
              <a:rPr lang="en-ID" sz="1800" dirty="0"/>
              <a:t> </a:t>
            </a:r>
            <a:r>
              <a:rPr lang="en-ID" sz="1800" dirty="0" err="1"/>
              <a:t>informasi</a:t>
            </a:r>
            <a:r>
              <a:rPr lang="en-ID" sz="1800" dirty="0"/>
              <a:t> yang </a:t>
            </a:r>
            <a:r>
              <a:rPr lang="en-ID" sz="1800" dirty="0" err="1"/>
              <a:t>sudah</a:t>
            </a:r>
            <a:r>
              <a:rPr lang="en-ID" sz="1800" dirty="0"/>
              <a:t> </a:t>
            </a:r>
            <a:r>
              <a:rPr lang="en-ID" sz="1800" dirty="0" err="1"/>
              <a:t>disisipkan</a:t>
            </a: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900" dirty="0"/>
              <a:t>RAG </a:t>
            </a:r>
            <a:r>
              <a:rPr lang="en-ID" sz="1900" b="1" dirty="0" err="1"/>
              <a:t>tidak</a:t>
            </a:r>
            <a:r>
              <a:rPr lang="en-ID" sz="1900" b="1" dirty="0"/>
              <a:t> </a:t>
            </a:r>
            <a:r>
              <a:rPr lang="en-ID" sz="1900" b="1" dirty="0" err="1"/>
              <a:t>mengubah</a:t>
            </a:r>
            <a:r>
              <a:rPr lang="en-ID" sz="1900" b="1" dirty="0"/>
              <a:t> model</a:t>
            </a:r>
            <a:r>
              <a:rPr lang="en-ID" sz="1900" dirty="0"/>
              <a:t>. Ia </a:t>
            </a:r>
            <a:r>
              <a:rPr lang="en-ID" sz="1900" dirty="0" err="1"/>
              <a:t>hanya</a:t>
            </a:r>
            <a:r>
              <a:rPr lang="en-ID" sz="1900" dirty="0"/>
              <a:t> </a:t>
            </a:r>
            <a:r>
              <a:rPr lang="en-ID" sz="1900" dirty="0" err="1"/>
              <a:t>mengubah</a:t>
            </a:r>
            <a:r>
              <a:rPr lang="en-ID" sz="1900" dirty="0"/>
              <a:t> </a:t>
            </a:r>
            <a:r>
              <a:rPr lang="en-ID" sz="1900" b="1" dirty="0" err="1"/>
              <a:t>konteks</a:t>
            </a:r>
            <a:r>
              <a:rPr lang="en-ID" sz="1900" b="1" dirty="0"/>
              <a:t> yang </a:t>
            </a:r>
            <a:r>
              <a:rPr lang="en-ID" sz="1900" b="1" dirty="0" err="1"/>
              <a:t>dikirim</a:t>
            </a:r>
            <a:r>
              <a:rPr lang="en-ID" sz="1900" b="1" dirty="0"/>
              <a:t> </a:t>
            </a:r>
            <a:r>
              <a:rPr lang="en-ID" sz="1900" b="1" dirty="0" err="1"/>
              <a:t>ke</a:t>
            </a:r>
            <a:r>
              <a:rPr lang="en-ID" sz="1900" b="1" dirty="0"/>
              <a:t> model</a:t>
            </a:r>
            <a:r>
              <a:rPr lang="en-ID" sz="1900" dirty="0"/>
              <a:t> </a:t>
            </a:r>
            <a:r>
              <a:rPr lang="en-ID" sz="1900" dirty="0" err="1"/>
              <a:t>setiap</a:t>
            </a:r>
            <a:r>
              <a:rPr lang="en-ID" sz="1900" dirty="0"/>
              <a:t> query. </a:t>
            </a:r>
            <a:r>
              <a:rPr lang="en-ID" sz="1900" dirty="0" err="1"/>
              <a:t>Itulah</a:t>
            </a:r>
            <a:r>
              <a:rPr lang="en-ID" sz="1900" dirty="0"/>
              <a:t> </a:t>
            </a:r>
            <a:r>
              <a:rPr lang="en-ID" sz="1900" dirty="0" err="1"/>
              <a:t>mengapa</a:t>
            </a:r>
            <a:r>
              <a:rPr lang="en-ID" sz="1900" dirty="0"/>
              <a:t> </a:t>
            </a:r>
            <a:r>
              <a:rPr lang="en-ID" sz="1900" dirty="0" err="1"/>
              <a:t>pendekatan</a:t>
            </a:r>
            <a:r>
              <a:rPr lang="en-ID" sz="1900" dirty="0"/>
              <a:t> </a:t>
            </a:r>
            <a:r>
              <a:rPr lang="en-ID" sz="1900" dirty="0" err="1"/>
              <a:t>ini</a:t>
            </a:r>
            <a:r>
              <a:rPr lang="en-ID" sz="1900" dirty="0"/>
              <a:t> </a:t>
            </a:r>
            <a:r>
              <a:rPr lang="en-ID" sz="1900" dirty="0" err="1"/>
              <a:t>elegan</a:t>
            </a:r>
            <a:r>
              <a:rPr lang="en-ID" sz="1900" dirty="0"/>
              <a:t> dan </a:t>
            </a:r>
            <a:r>
              <a:rPr lang="en-ID" sz="1900" dirty="0" err="1"/>
              <a:t>praktis</a:t>
            </a:r>
            <a:r>
              <a:rPr lang="en-ID" sz="1900" dirty="0"/>
              <a:t>  Anda </a:t>
            </a:r>
            <a:r>
              <a:rPr lang="en-ID" sz="1900" dirty="0" err="1"/>
              <a:t>dapat</a:t>
            </a:r>
            <a:r>
              <a:rPr lang="en-ID" sz="1900" dirty="0"/>
              <a:t> update knowledge base </a:t>
            </a:r>
            <a:r>
              <a:rPr lang="en-ID" sz="1900" dirty="0" err="1"/>
              <a:t>kapan</a:t>
            </a:r>
            <a:r>
              <a:rPr lang="en-ID" sz="1900" dirty="0"/>
              <a:t> </a:t>
            </a:r>
            <a:r>
              <a:rPr lang="en-ID" sz="1900" dirty="0" err="1"/>
              <a:t>saja</a:t>
            </a:r>
            <a:r>
              <a:rPr lang="en-ID" sz="1900" dirty="0"/>
              <a:t> </a:t>
            </a:r>
            <a:r>
              <a:rPr lang="en-ID" sz="1900" dirty="0" err="1"/>
              <a:t>tanpa</a:t>
            </a:r>
            <a:r>
              <a:rPr lang="en-ID" sz="1900" dirty="0"/>
              <a:t> retrain </a:t>
            </a:r>
            <a:r>
              <a:rPr lang="en-ID" sz="1900" dirty="0" err="1"/>
              <a:t>apa</a:t>
            </a:r>
            <a:r>
              <a:rPr lang="en-ID" sz="1900" dirty="0"/>
              <a:t> pun.</a:t>
            </a:r>
          </a:p>
        </p:txBody>
      </p:sp>
    </p:spTree>
    <p:extLst>
      <p:ext uri="{BB962C8B-B14F-4D97-AF65-F5344CB8AC3E}">
        <p14:creationId xmlns:p14="http://schemas.microsoft.com/office/powerpoint/2010/main" val="39628817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CEDA8-79A4-748A-9F43-29F3E255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4263-9E6C-4D66-7101-21ED3253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Alur RAG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EB141-5000-A708-75A5-D41D923E4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03045"/>
            <a:ext cx="4100423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Retrieval : </a:t>
            </a:r>
            <a:r>
              <a:rPr lang="en-ID" sz="1600" dirty="0" err="1"/>
              <a:t>pertanyaan</a:t>
            </a:r>
            <a:r>
              <a:rPr lang="en-ID" sz="1600" dirty="0"/>
              <a:t> user </a:t>
            </a:r>
            <a:r>
              <a:rPr lang="en-ID" sz="1600" dirty="0" err="1"/>
              <a:t>diubah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vektor</a:t>
            </a:r>
            <a:r>
              <a:rPr lang="en-ID" sz="1600" dirty="0"/>
              <a:t> </a:t>
            </a:r>
            <a:r>
              <a:rPr lang="en-ID" sz="1600" dirty="0" err="1"/>
              <a:t>numerik</a:t>
            </a:r>
            <a:r>
              <a:rPr lang="en-ID" sz="1600" dirty="0"/>
              <a:t> (embedding). Vektor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dibandingkan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vektor</a:t>
            </a:r>
            <a:r>
              <a:rPr lang="en-ID" sz="1600" dirty="0"/>
              <a:t> chunks di database, </a:t>
            </a:r>
            <a:r>
              <a:rPr lang="en-ID" sz="1600" dirty="0" err="1"/>
              <a:t>ambil</a:t>
            </a:r>
            <a:r>
              <a:rPr lang="en-ID" sz="1600" dirty="0"/>
              <a:t> top-K yang paling </a:t>
            </a:r>
            <a:r>
              <a:rPr lang="en-ID" sz="1600" b="1" dirty="0" err="1"/>
              <a:t>mirip</a:t>
            </a:r>
            <a:r>
              <a:rPr lang="en-ID" sz="1600" b="1" dirty="0"/>
              <a:t> </a:t>
            </a:r>
            <a:r>
              <a:rPr lang="en-ID" sz="1600" b="1" dirty="0" err="1"/>
              <a:t>secara</a:t>
            </a:r>
            <a:r>
              <a:rPr lang="en-ID" sz="1600" b="1" dirty="0"/>
              <a:t> semantic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Augmented</a:t>
            </a:r>
            <a:r>
              <a:rPr lang="en-ID" sz="1600" dirty="0"/>
              <a:t>: chunks yang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diambil</a:t>
            </a:r>
            <a:r>
              <a:rPr lang="en-ID" sz="1600" dirty="0"/>
              <a:t> </a:t>
            </a:r>
            <a:r>
              <a:rPr lang="en-ID" sz="1600" b="1" dirty="0" err="1"/>
              <a:t>disisipkan</a:t>
            </a:r>
            <a:r>
              <a:rPr lang="en-ID" sz="1600" b="1" dirty="0"/>
              <a:t> </a:t>
            </a:r>
            <a:r>
              <a:rPr lang="en-ID" sz="1600" b="1" dirty="0" err="1"/>
              <a:t>ke</a:t>
            </a:r>
            <a:r>
              <a:rPr lang="en-ID" sz="1600" b="1" dirty="0"/>
              <a:t> system prompt</a:t>
            </a:r>
            <a:r>
              <a:rPr lang="en-ID" sz="1600" dirty="0"/>
              <a:t> </a:t>
            </a:r>
            <a:r>
              <a:rPr lang="en-ID" sz="1600" dirty="0" err="1"/>
              <a:t>sebelum</a:t>
            </a:r>
            <a:r>
              <a:rPr lang="en-ID" sz="1600" dirty="0"/>
              <a:t> </a:t>
            </a:r>
            <a:r>
              <a:rPr lang="en-ID" sz="1600" dirty="0" err="1"/>
              <a:t>dikirim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LLM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Generation</a:t>
            </a:r>
            <a:r>
              <a:rPr lang="en-ID" sz="1600" dirty="0"/>
              <a:t>: LLM </a:t>
            </a:r>
            <a:r>
              <a:rPr lang="en-ID" sz="1600" dirty="0" err="1"/>
              <a:t>menerima</a:t>
            </a:r>
            <a:r>
              <a:rPr lang="en-ID" sz="1600" dirty="0"/>
              <a:t> system prompt + user message dan </a:t>
            </a:r>
            <a:r>
              <a:rPr lang="en-ID" sz="1600" dirty="0" err="1"/>
              <a:t>menyusun</a:t>
            </a:r>
            <a:r>
              <a:rPr lang="en-ID" sz="1600" dirty="0"/>
              <a:t> </a:t>
            </a:r>
            <a:r>
              <a:rPr lang="en-ID" sz="1600" dirty="0" err="1"/>
              <a:t>jawaban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0B5B8-68D9-D604-BBC2-72A16ACE8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247" y="1227894"/>
            <a:ext cx="6607835" cy="494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999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5E80-8924-7AF8-333B-1F106D30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89C7-C51D-38DE-41B3-D29D5E43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Kapan RAG TIDAK </a:t>
            </a:r>
            <a:r>
              <a:rPr lang="en-ID" b="1" dirty="0" err="1"/>
              <a:t>Tepat</a:t>
            </a:r>
            <a:r>
              <a:rPr lang="en-ID" b="1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BF061-6751-DF58-A7E0-103B2EDCD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4"/>
            <a:ext cx="11009223" cy="46386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RAG </a:t>
            </a:r>
            <a:r>
              <a:rPr lang="en-ID" sz="1800" dirty="0" err="1"/>
              <a:t>bukan</a:t>
            </a:r>
            <a:r>
              <a:rPr lang="en-ID" sz="1800" dirty="0"/>
              <a:t> silver bullet. </a:t>
            </a:r>
            <a:r>
              <a:rPr lang="en-ID" sz="1800" dirty="0" err="1"/>
              <a:t>Hindari</a:t>
            </a:r>
            <a:r>
              <a:rPr lang="en-ID" sz="1800" dirty="0"/>
              <a:t> </a:t>
            </a:r>
            <a:r>
              <a:rPr lang="en-ID" sz="1800" dirty="0" err="1"/>
              <a:t>kalau</a:t>
            </a:r>
            <a:r>
              <a:rPr lang="en-ID" sz="1800" dirty="0"/>
              <a:t>:</a:t>
            </a:r>
          </a:p>
          <a:p>
            <a:pPr>
              <a:lnSpc>
                <a:spcPct val="150000"/>
              </a:lnSpc>
            </a:pPr>
            <a:r>
              <a:rPr lang="en-ID" sz="1800" dirty="0" err="1"/>
              <a:t>Pertanyaan</a:t>
            </a:r>
            <a:r>
              <a:rPr lang="en-ID" sz="1800" dirty="0"/>
              <a:t>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dijawab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 </a:t>
            </a:r>
            <a:r>
              <a:rPr lang="en-ID" sz="1800" b="1" dirty="0"/>
              <a:t>training data LLM</a:t>
            </a:r>
            <a:r>
              <a:rPr lang="en-ID" sz="1800" dirty="0"/>
              <a:t> (mis. </a:t>
            </a:r>
            <a:r>
              <a:rPr lang="en-ID" sz="1800" i="1" dirty="0"/>
              <a:t>"Apa </a:t>
            </a:r>
            <a:r>
              <a:rPr lang="en-ID" sz="1800" i="1" dirty="0" err="1"/>
              <a:t>itu</a:t>
            </a:r>
            <a:r>
              <a:rPr lang="en-ID" sz="1800" i="1" dirty="0"/>
              <a:t> </a:t>
            </a:r>
            <a:r>
              <a:rPr lang="en-ID" sz="1800" i="1" dirty="0" err="1"/>
              <a:t>inflasi</a:t>
            </a:r>
            <a:r>
              <a:rPr lang="en-ID" sz="1800" i="1" dirty="0"/>
              <a:t>?"</a:t>
            </a:r>
            <a:r>
              <a:rPr lang="en-ID" sz="1800" dirty="0"/>
              <a:t>) — RAG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menambah</a:t>
            </a:r>
            <a:r>
              <a:rPr lang="en-ID" sz="1800" dirty="0"/>
              <a:t> </a:t>
            </a:r>
            <a:r>
              <a:rPr lang="en-ID" sz="1800" dirty="0" err="1"/>
              <a:t>latensi</a:t>
            </a:r>
            <a:r>
              <a:rPr lang="en-ID" sz="1800" dirty="0"/>
              <a:t> </a:t>
            </a: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manfaat</a:t>
            </a:r>
            <a:r>
              <a:rPr lang="en-ID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ID" sz="1800" dirty="0" err="1"/>
              <a:t>Butuh</a:t>
            </a:r>
            <a:r>
              <a:rPr lang="en-ID" sz="1800" dirty="0"/>
              <a:t> </a:t>
            </a:r>
            <a:r>
              <a:rPr lang="en-ID" sz="1800" b="1" dirty="0" err="1"/>
              <a:t>komputasi</a:t>
            </a:r>
            <a:r>
              <a:rPr lang="en-ID" sz="1800" b="1" dirty="0"/>
              <a:t> </a:t>
            </a:r>
            <a:r>
              <a:rPr lang="en-ID" sz="1800" b="1" dirty="0" err="1"/>
              <a:t>terstruktur</a:t>
            </a:r>
            <a:r>
              <a:rPr lang="en-ID" sz="1800" dirty="0"/>
              <a:t> </a:t>
            </a:r>
            <a:r>
              <a:rPr lang="en-ID" sz="1800" dirty="0" err="1"/>
              <a:t>dari</a:t>
            </a:r>
            <a:r>
              <a:rPr lang="en-ID" sz="1800" dirty="0"/>
              <a:t> data user (mis. </a:t>
            </a:r>
            <a:r>
              <a:rPr lang="en-ID" sz="1800" i="1" dirty="0"/>
              <a:t>"</a:t>
            </a:r>
            <a:r>
              <a:rPr lang="en-ID" sz="1800" i="1" dirty="0" err="1"/>
              <a:t>Berapa</a:t>
            </a:r>
            <a:r>
              <a:rPr lang="en-ID" sz="1800" i="1" dirty="0"/>
              <a:t> SUM expense </a:t>
            </a:r>
            <a:r>
              <a:rPr lang="en-ID" sz="1800" i="1" dirty="0" err="1"/>
              <a:t>kategori</a:t>
            </a:r>
            <a:r>
              <a:rPr lang="en-ID" sz="1800" i="1" dirty="0"/>
              <a:t> food </a:t>
            </a:r>
            <a:r>
              <a:rPr lang="en-ID" sz="1800" i="1" dirty="0" err="1"/>
              <a:t>bulan</a:t>
            </a:r>
            <a:r>
              <a:rPr lang="en-ID" sz="1800" i="1" dirty="0"/>
              <a:t> </a:t>
            </a:r>
            <a:r>
              <a:rPr lang="en-ID" sz="1800" i="1" dirty="0" err="1"/>
              <a:t>ini</a:t>
            </a:r>
            <a:r>
              <a:rPr lang="en-ID" sz="1800" i="1" dirty="0"/>
              <a:t>?"</a:t>
            </a:r>
            <a:r>
              <a:rPr lang="en-ID" sz="1800" dirty="0"/>
              <a:t>) — </a:t>
            </a:r>
            <a:r>
              <a:rPr lang="en-ID" sz="1800" dirty="0" err="1"/>
              <a:t>pakai</a:t>
            </a:r>
            <a:r>
              <a:rPr lang="en-ID" sz="1800" dirty="0"/>
              <a:t> </a:t>
            </a:r>
            <a:r>
              <a:rPr lang="en-ID" sz="1800" b="1" dirty="0"/>
              <a:t>function calling</a:t>
            </a:r>
            <a:r>
              <a:rPr lang="en-ID" sz="1800" dirty="0"/>
              <a:t> yang query SQL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deterministik</a:t>
            </a:r>
            <a:r>
              <a:rPr lang="en-ID" sz="1800" dirty="0"/>
              <a:t>. RAG </a:t>
            </a:r>
            <a:r>
              <a:rPr lang="en-ID" sz="1800" dirty="0" err="1"/>
              <a:t>memberi</a:t>
            </a:r>
            <a:r>
              <a:rPr lang="en-ID" sz="1800" dirty="0"/>
              <a:t> chunks </a:t>
            </a:r>
            <a:r>
              <a:rPr lang="en-ID" sz="1800" dirty="0" err="1"/>
              <a:t>mirip</a:t>
            </a:r>
            <a:r>
              <a:rPr lang="en-ID" sz="1800" dirty="0"/>
              <a:t>, </a:t>
            </a:r>
            <a:r>
              <a:rPr lang="en-ID" sz="1800" dirty="0" err="1"/>
              <a:t>tapi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menjamin</a:t>
            </a:r>
            <a:r>
              <a:rPr lang="en-ID" sz="1800" dirty="0"/>
              <a:t> </a:t>
            </a:r>
            <a:r>
              <a:rPr lang="en-ID" sz="1800" dirty="0" err="1"/>
              <a:t>perhitungan</a:t>
            </a:r>
            <a:r>
              <a:rPr lang="en-ID" sz="1800" dirty="0"/>
              <a:t> </a:t>
            </a:r>
            <a:r>
              <a:rPr lang="en-ID" sz="1800" dirty="0" err="1"/>
              <a:t>numerik</a:t>
            </a:r>
            <a:r>
              <a:rPr lang="en-ID" sz="1800" dirty="0"/>
              <a:t> </a:t>
            </a:r>
            <a:r>
              <a:rPr lang="en-ID" sz="1800" dirty="0" err="1"/>
              <a:t>akurat</a:t>
            </a:r>
            <a:r>
              <a:rPr lang="en-ID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ID" sz="1800" dirty="0"/>
              <a:t>Use case </a:t>
            </a:r>
            <a:r>
              <a:rPr lang="en-ID" sz="1800" dirty="0" err="1"/>
              <a:t>butuh</a:t>
            </a:r>
            <a:r>
              <a:rPr lang="en-ID" sz="1800" dirty="0"/>
              <a:t> </a:t>
            </a:r>
            <a:r>
              <a:rPr lang="en-ID" sz="1800" b="1" dirty="0"/>
              <a:t>match </a:t>
            </a:r>
            <a:r>
              <a:rPr lang="en-ID" sz="1800" b="1" dirty="0" err="1"/>
              <a:t>eksak</a:t>
            </a:r>
            <a:r>
              <a:rPr lang="en-ID" sz="1800" dirty="0"/>
              <a:t>,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kemiripan</a:t>
            </a:r>
            <a:r>
              <a:rPr lang="en-ID" sz="1800" dirty="0"/>
              <a:t> </a:t>
            </a:r>
            <a:r>
              <a:rPr lang="en-ID" sz="1800" dirty="0" err="1"/>
              <a:t>semantik</a:t>
            </a:r>
            <a:r>
              <a:rPr lang="en-ID" sz="1800" dirty="0"/>
              <a:t> — keyword search </a:t>
            </a:r>
            <a:r>
              <a:rPr lang="en-ID" sz="1800" dirty="0" err="1"/>
              <a:t>biasa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tepat</a:t>
            </a:r>
            <a:r>
              <a:rPr lang="en-ID" sz="1800" dirty="0"/>
              <a:t> dan </a:t>
            </a:r>
            <a:r>
              <a:rPr lang="en-ID" sz="1800" dirty="0" err="1"/>
              <a:t>murah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1638869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64C1-AC3D-242A-A263-578069AE9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4807-90DB-0F8F-5AD0-B02366CF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77" y="365125"/>
            <a:ext cx="11419977" cy="1325563"/>
          </a:xfrm>
        </p:spPr>
        <p:txBody>
          <a:bodyPr>
            <a:normAutofit/>
          </a:bodyPr>
          <a:lstStyle/>
          <a:p>
            <a:r>
              <a:rPr lang="en-ID" b="1" dirty="0"/>
              <a:t>Setup Knowledge Base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2BFAE-B90E-1C03-1833-470CFFE5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94699"/>
            <a:ext cx="11553646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Knowledge base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kumpulan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,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berupa</a:t>
            </a:r>
            <a:r>
              <a:rPr lang="en-ID" sz="1600" dirty="0"/>
              <a:t> SOP, </a:t>
            </a:r>
            <a:r>
              <a:rPr lang="en-ID" sz="1600" dirty="0" err="1"/>
              <a:t>kebijakan</a:t>
            </a:r>
            <a:r>
              <a:rPr lang="en-ID" sz="1600" dirty="0"/>
              <a:t>, </a:t>
            </a:r>
            <a:r>
              <a:rPr lang="en-ID" sz="1600" dirty="0" err="1"/>
              <a:t>panduan</a:t>
            </a:r>
            <a:r>
              <a:rPr lang="en-ID" sz="1600" dirty="0"/>
              <a:t> internal  yang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satu-satunya</a:t>
            </a:r>
            <a:r>
              <a:rPr lang="en-ID" sz="1600" dirty="0"/>
              <a:t> </a:t>
            </a:r>
            <a:r>
              <a:rPr lang="en-ID" sz="1600" dirty="0" err="1"/>
              <a:t>bahan</a:t>
            </a:r>
            <a:r>
              <a:rPr lang="en-ID" sz="1600" dirty="0"/>
              <a:t> yang </a:t>
            </a:r>
            <a:r>
              <a:rPr lang="en-ID" sz="1600" dirty="0" err="1"/>
              <a:t>boleh</a:t>
            </a:r>
            <a:r>
              <a:rPr lang="en-ID" sz="1600" dirty="0"/>
              <a:t> </a:t>
            </a:r>
            <a:r>
              <a:rPr lang="en-ID" sz="1600" dirty="0" err="1"/>
              <a:t>dipakai</a:t>
            </a:r>
            <a:r>
              <a:rPr lang="en-ID" sz="1600" dirty="0"/>
              <a:t> AI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menjawab</a:t>
            </a:r>
            <a:r>
              <a:rPr lang="en-ID" sz="1600" dirty="0"/>
              <a:t> </a:t>
            </a:r>
            <a:r>
              <a:rPr lang="en-ID" sz="1600" dirty="0" err="1"/>
              <a:t>pertanyaan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ID" sz="1600" dirty="0"/>
              <a:t>Buat folder knowledge-base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menyimpan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, dan </a:t>
            </a:r>
            <a:r>
              <a:rPr lang="en-ID" sz="1600" dirty="0" err="1"/>
              <a:t>simpan</a:t>
            </a:r>
            <a:r>
              <a:rPr lang="en-ID" sz="1600" dirty="0"/>
              <a:t> </a:t>
            </a:r>
            <a:r>
              <a:rPr lang="en-ID" sz="1600" dirty="0" err="1"/>
              <a:t>contoh</a:t>
            </a:r>
            <a:r>
              <a:rPr lang="en-ID" sz="1600" dirty="0"/>
              <a:t> file di </a:t>
            </a:r>
            <a:r>
              <a:rPr lang="en-ID" sz="1600" dirty="0" err="1"/>
              <a:t>dalam</a:t>
            </a:r>
            <a:r>
              <a:rPr lang="en-ID" sz="1600" dirty="0"/>
              <a:t> folder </a:t>
            </a:r>
            <a:r>
              <a:rPr lang="en-ID" sz="1600" dirty="0" err="1"/>
              <a:t>tersebut</a:t>
            </a:r>
            <a:endParaRPr lang="en-ID" sz="1600" dirty="0"/>
          </a:p>
          <a:p>
            <a:pPr marL="342900" indent="-342900" algn="just">
              <a:buFont typeface="+mj-lt"/>
              <a:buAutoNum type="arabicPeriod"/>
            </a:pPr>
            <a:r>
              <a:rPr lang="en-ID" sz="1600" dirty="0" err="1"/>
              <a:t>Gunakan</a:t>
            </a:r>
            <a:r>
              <a:rPr lang="en-ID" sz="1600" dirty="0"/>
              <a:t> library </a:t>
            </a:r>
            <a:r>
              <a:rPr lang="en-ID" sz="1600" dirty="0" err="1"/>
              <a:t>pypdf</a:t>
            </a:r>
            <a:r>
              <a:rPr lang="en-ID" sz="1600" dirty="0"/>
              <a:t>==5.1.0 , </a:t>
            </a:r>
            <a:r>
              <a:rPr lang="en-ID" sz="1600" dirty="0" err="1"/>
              <a:t>tambahkan</a:t>
            </a:r>
            <a:r>
              <a:rPr lang="en-ID" sz="1600" dirty="0"/>
              <a:t> pada requirement text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ID" sz="1600" dirty="0"/>
              <a:t>Build </a:t>
            </a:r>
            <a:r>
              <a:rPr lang="en-ID" sz="1600" dirty="0" err="1"/>
              <a:t>ulang</a:t>
            </a:r>
            <a:r>
              <a:rPr lang="en-ID" sz="1600" dirty="0"/>
              <a:t> docker compose. Lalu uji </a:t>
            </a:r>
            <a:r>
              <a:rPr lang="en-ID" sz="1600" dirty="0" err="1"/>
              <a:t>coba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terbaca</a:t>
            </a:r>
            <a:r>
              <a:rPr lang="en-ID" sz="1600" dirty="0"/>
              <a:t>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EA292-1F2F-E711-0336-4655B77E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126" y="2612576"/>
            <a:ext cx="7772400" cy="115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861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00D45-09C0-F7F9-754A-32EC6E22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C3C7-B04D-C962-CCB0-2CA6F2D2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Embedding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170C1-8E8A-89B3-7E1C-C6616AB44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10971123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/>
              <a:t>Embedding</a:t>
            </a:r>
            <a:r>
              <a:rPr lang="en-ID" sz="1800" dirty="0"/>
              <a:t> 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fungsi</a:t>
            </a:r>
            <a:r>
              <a:rPr lang="en-ID" sz="1800" dirty="0"/>
              <a:t> yang </a:t>
            </a:r>
            <a:r>
              <a:rPr lang="en-ID" sz="1800" dirty="0" err="1"/>
              <a:t>memetakan</a:t>
            </a:r>
            <a:r>
              <a:rPr lang="en-ID" sz="1800" dirty="0"/>
              <a:t> input (</a:t>
            </a:r>
            <a:r>
              <a:rPr lang="en-ID" sz="1800" dirty="0" err="1"/>
              <a:t>teks</a:t>
            </a:r>
            <a:r>
              <a:rPr lang="en-ID" sz="1800" dirty="0"/>
              <a:t>, </a:t>
            </a:r>
            <a:r>
              <a:rPr lang="en-ID" sz="1800" dirty="0" err="1"/>
              <a:t>gambar</a:t>
            </a:r>
            <a:r>
              <a:rPr lang="en-ID" sz="1800" dirty="0"/>
              <a:t>, audio)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 </a:t>
            </a:r>
            <a:r>
              <a:rPr lang="en-ID" sz="1800" b="1" dirty="0" err="1"/>
              <a:t>vektor</a:t>
            </a:r>
            <a:r>
              <a:rPr lang="en-ID" sz="1800" b="1" dirty="0"/>
              <a:t> </a:t>
            </a:r>
            <a:r>
              <a:rPr lang="en-ID" sz="1800" b="1" dirty="0" err="1"/>
              <a:t>angka</a:t>
            </a:r>
            <a:r>
              <a:rPr lang="en-ID" sz="1800" b="1" dirty="0"/>
              <a:t> </a:t>
            </a:r>
            <a:r>
              <a:rPr lang="en-ID" sz="1800" b="1" dirty="0" err="1"/>
              <a:t>berdimensi</a:t>
            </a:r>
            <a:r>
              <a:rPr lang="en-ID" sz="1800" b="1" dirty="0"/>
              <a:t> </a:t>
            </a:r>
            <a:r>
              <a:rPr lang="en-ID" sz="1800" b="1" dirty="0" err="1"/>
              <a:t>tinggi</a:t>
            </a:r>
            <a:r>
              <a:rPr lang="en-ID" sz="1800" dirty="0"/>
              <a:t>.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teks</a:t>
            </a:r>
            <a:r>
              <a:rPr lang="en-ID" sz="1800" dirty="0"/>
              <a:t>, embedding model </a:t>
            </a:r>
            <a:r>
              <a:rPr lang="en-ID" sz="1800" dirty="0" err="1"/>
              <a:t>dilatih</a:t>
            </a:r>
            <a:r>
              <a:rPr lang="en-ID" sz="1800" dirty="0"/>
              <a:t> </a:t>
            </a:r>
            <a:r>
              <a:rPr lang="en-ID" sz="1800" dirty="0" err="1"/>
              <a:t>sedemikian</a:t>
            </a:r>
            <a:r>
              <a:rPr lang="en-ID" sz="1800" dirty="0"/>
              <a:t> </a:t>
            </a:r>
            <a:r>
              <a:rPr lang="en-ID" sz="1800" dirty="0" err="1"/>
              <a:t>rupa</a:t>
            </a:r>
            <a:r>
              <a:rPr lang="en-ID" sz="1800" dirty="0"/>
              <a:t> </a:t>
            </a:r>
            <a:r>
              <a:rPr lang="en-ID" sz="1800" dirty="0" err="1"/>
              <a:t>sehingga</a:t>
            </a:r>
            <a:r>
              <a:rPr lang="en-ID" sz="1800" dirty="0"/>
              <a:t> </a:t>
            </a:r>
            <a:r>
              <a:rPr lang="en-ID" sz="1800" b="1" dirty="0" err="1"/>
              <a:t>kalimat</a:t>
            </a:r>
            <a:r>
              <a:rPr lang="en-ID" sz="1800" b="1" dirty="0"/>
              <a:t> </a:t>
            </a:r>
            <a:r>
              <a:rPr lang="en-ID" sz="1800" b="1" dirty="0" err="1"/>
              <a:t>dengan</a:t>
            </a:r>
            <a:r>
              <a:rPr lang="en-ID" sz="1800" b="1" dirty="0"/>
              <a:t> </a:t>
            </a:r>
            <a:r>
              <a:rPr lang="en-ID" sz="1800" b="1" dirty="0" err="1"/>
              <a:t>makna</a:t>
            </a:r>
            <a:r>
              <a:rPr lang="en-ID" sz="1800" b="1" dirty="0"/>
              <a:t> </a:t>
            </a:r>
            <a:r>
              <a:rPr lang="en-ID" sz="1800" b="1" dirty="0" err="1"/>
              <a:t>mirip</a:t>
            </a:r>
            <a:r>
              <a:rPr lang="en-ID" sz="1800" b="1" dirty="0"/>
              <a:t> </a:t>
            </a:r>
            <a:r>
              <a:rPr lang="en-ID" sz="1800" b="1" dirty="0" err="1"/>
              <a:t>menghasilkan</a:t>
            </a:r>
            <a:r>
              <a:rPr lang="en-ID" sz="1800" b="1" dirty="0"/>
              <a:t> </a:t>
            </a:r>
            <a:r>
              <a:rPr lang="en-ID" sz="1800" b="1" dirty="0" err="1"/>
              <a:t>vektor</a:t>
            </a:r>
            <a:r>
              <a:rPr lang="en-ID" sz="1800" b="1" dirty="0"/>
              <a:t> yang </a:t>
            </a:r>
            <a:r>
              <a:rPr lang="en-ID" sz="1800" b="1" dirty="0" err="1"/>
              <a:t>berdekatan</a:t>
            </a:r>
            <a:r>
              <a:rPr lang="en-ID" sz="1800" dirty="0"/>
              <a:t> di </a:t>
            </a:r>
            <a:r>
              <a:rPr lang="en-ID" sz="1800" dirty="0" err="1"/>
              <a:t>ruang</a:t>
            </a:r>
            <a:r>
              <a:rPr lang="en-ID" sz="1800" dirty="0"/>
              <a:t> </a:t>
            </a:r>
            <a:r>
              <a:rPr lang="en-ID" sz="1800" dirty="0" err="1"/>
              <a:t>vektor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 err="1"/>
              <a:t>Anggap</a:t>
            </a:r>
            <a:r>
              <a:rPr lang="en-ID" sz="1800" dirty="0"/>
              <a:t> </a:t>
            </a:r>
            <a:r>
              <a:rPr lang="en-ID" sz="1800" dirty="0" err="1"/>
              <a:t>saja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 </a:t>
            </a:r>
            <a:r>
              <a:rPr lang="en-ID" sz="1800" b="1" dirty="0" err="1"/>
              <a:t>koordinat</a:t>
            </a:r>
            <a:r>
              <a:rPr lang="en-ID" sz="1800" b="1" dirty="0"/>
              <a:t> </a:t>
            </a:r>
            <a:r>
              <a:rPr lang="en-ID" sz="1800" b="1" dirty="0" err="1"/>
              <a:t>semantik</a:t>
            </a:r>
            <a:r>
              <a:rPr lang="en-ID" sz="1800" dirty="0"/>
              <a:t>. </a:t>
            </a:r>
            <a:r>
              <a:rPr lang="en-ID" sz="1800" dirty="0" err="1"/>
              <a:t>Apabila</a:t>
            </a:r>
            <a:r>
              <a:rPr lang="en-ID" sz="1800" dirty="0"/>
              <a:t> Anda punya </a:t>
            </a:r>
            <a:r>
              <a:rPr lang="en-ID" sz="1800" dirty="0" err="1"/>
              <a:t>peta</a:t>
            </a:r>
            <a:r>
              <a:rPr lang="en-ID" sz="1800" dirty="0"/>
              <a:t> dunia dua </a:t>
            </a:r>
            <a:r>
              <a:rPr lang="en-ID" sz="1800" dirty="0" err="1"/>
              <a:t>dimensi</a:t>
            </a:r>
            <a:r>
              <a:rPr lang="en-ID" sz="1800" dirty="0"/>
              <a:t> (latitude, longitude), </a:t>
            </a:r>
            <a:r>
              <a:rPr lang="en-ID" sz="1800" dirty="0" err="1"/>
              <a:t>kota-kota</a:t>
            </a:r>
            <a:r>
              <a:rPr lang="en-ID" sz="1800" dirty="0"/>
              <a:t> yang </a:t>
            </a:r>
            <a:r>
              <a:rPr lang="en-ID" sz="1800" dirty="0" err="1"/>
              <a:t>berdekatan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geografis</a:t>
            </a:r>
            <a:r>
              <a:rPr lang="en-ID" sz="1800" dirty="0"/>
              <a:t> </a:t>
            </a:r>
            <a:r>
              <a:rPr lang="en-ID" sz="1800" dirty="0" err="1"/>
              <a:t>akan</a:t>
            </a:r>
            <a:r>
              <a:rPr lang="en-ID" sz="1800" dirty="0"/>
              <a:t> punya </a:t>
            </a:r>
            <a:r>
              <a:rPr lang="en-ID" sz="1800" dirty="0" err="1"/>
              <a:t>koordinat</a:t>
            </a:r>
            <a:r>
              <a:rPr lang="en-ID" sz="1800" dirty="0"/>
              <a:t> yang </a:t>
            </a:r>
            <a:r>
              <a:rPr lang="en-ID" sz="1800" dirty="0" err="1"/>
              <a:t>mirip</a:t>
            </a:r>
            <a:r>
              <a:rPr lang="en-ID" sz="1800" dirty="0"/>
              <a:t>. Embedding </a:t>
            </a:r>
            <a:r>
              <a:rPr lang="en-ID" sz="1800" dirty="0" err="1"/>
              <a:t>melakukan</a:t>
            </a:r>
            <a:r>
              <a:rPr lang="en-ID" sz="1800" dirty="0"/>
              <a:t> </a:t>
            </a:r>
            <a:r>
              <a:rPr lang="en-ID" sz="1800" dirty="0" err="1"/>
              <a:t>hal</a:t>
            </a:r>
            <a:r>
              <a:rPr lang="en-ID" sz="1800" dirty="0"/>
              <a:t> </a:t>
            </a:r>
            <a:r>
              <a:rPr lang="en-ID" sz="1800" dirty="0" err="1"/>
              <a:t>serupa</a:t>
            </a:r>
            <a:r>
              <a:rPr lang="en-ID" sz="1800" dirty="0"/>
              <a:t>, </a:t>
            </a:r>
            <a:r>
              <a:rPr lang="en-ID" sz="1800" dirty="0" err="1"/>
              <a:t>tetapi</a:t>
            </a:r>
            <a:r>
              <a:rPr lang="en-ID" sz="1800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ID" sz="1800" b="1" dirty="0" err="1"/>
              <a:t>Bukan</a:t>
            </a:r>
            <a:r>
              <a:rPr lang="en-ID" sz="1800" b="1" dirty="0"/>
              <a:t> 2 </a:t>
            </a:r>
            <a:r>
              <a:rPr lang="en-ID" sz="1800" b="1" dirty="0" err="1"/>
              <a:t>dimensi</a:t>
            </a:r>
            <a:r>
              <a:rPr lang="en-ID" sz="1800" dirty="0"/>
              <a:t>, </a:t>
            </a:r>
            <a:r>
              <a:rPr lang="en-ID" sz="1800" dirty="0" err="1"/>
              <a:t>melainkan</a:t>
            </a:r>
            <a:r>
              <a:rPr lang="en-ID" sz="1800" dirty="0"/>
              <a:t> </a:t>
            </a:r>
            <a:r>
              <a:rPr lang="en-ID" sz="1800" b="1" dirty="0" err="1"/>
              <a:t>ratusan</a:t>
            </a:r>
            <a:r>
              <a:rPr lang="en-ID" sz="1800" b="1" dirty="0"/>
              <a:t> </a:t>
            </a:r>
            <a:r>
              <a:rPr lang="en-ID" sz="1800" b="1" dirty="0" err="1"/>
              <a:t>hingga</a:t>
            </a:r>
            <a:r>
              <a:rPr lang="en-ID" sz="1800" b="1" dirty="0"/>
              <a:t> </a:t>
            </a:r>
            <a:r>
              <a:rPr lang="en-ID" sz="1800" b="1" dirty="0" err="1"/>
              <a:t>ribuan</a:t>
            </a:r>
            <a:r>
              <a:rPr lang="en-ID" sz="1800" b="1" dirty="0"/>
              <a:t> </a:t>
            </a:r>
            <a:r>
              <a:rPr lang="en-ID" sz="1800" b="1" dirty="0" err="1"/>
              <a:t>dimensi</a:t>
            </a:r>
            <a:r>
              <a:rPr lang="en-ID" sz="1800" dirty="0"/>
              <a:t> .</a:t>
            </a:r>
          </a:p>
          <a:p>
            <a:pPr algn="just">
              <a:lnSpc>
                <a:spcPct val="150000"/>
              </a:lnSpc>
            </a:pPr>
            <a:r>
              <a:rPr lang="en-ID" sz="1800" b="1" dirty="0" err="1"/>
              <a:t>Bukan</a:t>
            </a:r>
            <a:r>
              <a:rPr lang="en-ID" sz="1800" b="1" dirty="0"/>
              <a:t> </a:t>
            </a:r>
            <a:r>
              <a:rPr lang="en-ID" sz="1800" b="1" dirty="0" err="1"/>
              <a:t>posisi</a:t>
            </a:r>
            <a:r>
              <a:rPr lang="en-ID" sz="1800" b="1" dirty="0"/>
              <a:t> </a:t>
            </a:r>
            <a:r>
              <a:rPr lang="en-ID" sz="1800" b="1" dirty="0" err="1"/>
              <a:t>geografis</a:t>
            </a:r>
            <a:r>
              <a:rPr lang="en-ID" sz="1800" dirty="0"/>
              <a:t>, </a:t>
            </a:r>
            <a:r>
              <a:rPr lang="en-ID" sz="1800" dirty="0" err="1"/>
              <a:t>melainkan</a:t>
            </a:r>
            <a:r>
              <a:rPr lang="en-ID" sz="1800" dirty="0"/>
              <a:t> </a:t>
            </a:r>
            <a:r>
              <a:rPr lang="en-ID" sz="1800" b="1" dirty="0" err="1"/>
              <a:t>posisi</a:t>
            </a:r>
            <a:r>
              <a:rPr lang="en-ID" sz="1800" b="1" dirty="0"/>
              <a:t> </a:t>
            </a:r>
            <a:r>
              <a:rPr lang="en-ID" sz="1800" b="1" dirty="0" err="1"/>
              <a:t>makna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95026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4B65-84DC-A85F-B7E9-3334F689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465B9-7D2B-AFB2-C1CA-52F69D14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Konsep</a:t>
            </a:r>
            <a:r>
              <a:rPr lang="en-ID" b="1" dirty="0"/>
              <a:t> Embedding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6EE95-9B4D-D34D-BD81-544BE020F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5268823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dirty="0" err="1"/>
              <a:t>Bayangkan</a:t>
            </a:r>
            <a:r>
              <a:rPr lang="en-ID" sz="1800" dirty="0"/>
              <a:t> </a:t>
            </a:r>
            <a:r>
              <a:rPr lang="en-ID" sz="1800" dirty="0" err="1"/>
              <a:t>tiga</a:t>
            </a:r>
            <a:r>
              <a:rPr lang="en-ID" sz="1800" dirty="0"/>
              <a:t> </a:t>
            </a:r>
            <a:r>
              <a:rPr lang="en-ID" sz="1800" dirty="0" err="1"/>
              <a:t>teks</a:t>
            </a:r>
            <a:r>
              <a:rPr lang="en-ID" sz="1800" dirty="0"/>
              <a:t> </a:t>
            </a:r>
            <a:r>
              <a:rPr lang="en-ID" sz="1800" dirty="0" err="1"/>
              <a:t>transaksi</a:t>
            </a:r>
            <a:r>
              <a:rPr lang="en-ID" sz="1800" dirty="0"/>
              <a:t> di Fin-App:</a:t>
            </a:r>
          </a:p>
          <a:p>
            <a:pPr>
              <a:lnSpc>
                <a:spcPct val="100000"/>
              </a:lnSpc>
            </a:pPr>
            <a:r>
              <a:rPr lang="en-ID" sz="1800" dirty="0"/>
              <a:t>A: "Beli kopi di Starbucks"</a:t>
            </a:r>
          </a:p>
          <a:p>
            <a:pPr>
              <a:lnSpc>
                <a:spcPct val="100000"/>
              </a:lnSpc>
            </a:pPr>
            <a:r>
              <a:rPr lang="en-ID" sz="1800" dirty="0"/>
              <a:t>B: "Bayar </a:t>
            </a:r>
            <a:r>
              <a:rPr lang="en-ID" sz="1800" dirty="0" err="1"/>
              <a:t>minuman</a:t>
            </a:r>
            <a:r>
              <a:rPr lang="en-ID" sz="1800" dirty="0"/>
              <a:t> di </a:t>
            </a:r>
            <a:r>
              <a:rPr lang="en-ID" sz="1800" dirty="0" err="1"/>
              <a:t>kafe</a:t>
            </a:r>
            <a:r>
              <a:rPr lang="en-ID" sz="1800" dirty="0"/>
              <a:t>"</a:t>
            </a:r>
          </a:p>
          <a:p>
            <a:pPr>
              <a:lnSpc>
                <a:spcPct val="100000"/>
              </a:lnSpc>
            </a:pPr>
            <a:r>
              <a:rPr lang="en-ID" sz="1800" dirty="0"/>
              <a:t>C: "</a:t>
            </a:r>
            <a:r>
              <a:rPr lang="en-ID" sz="1800" dirty="0" err="1"/>
              <a:t>Setor</a:t>
            </a:r>
            <a:r>
              <a:rPr lang="en-ID" sz="1800" dirty="0"/>
              <a:t> </a:t>
            </a:r>
            <a:r>
              <a:rPr lang="en-ID" sz="1800" dirty="0" err="1"/>
              <a:t>tabungan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bank"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 err="1"/>
              <a:t>Secara</a:t>
            </a:r>
            <a:r>
              <a:rPr lang="en-ID" sz="1800" dirty="0"/>
              <a:t> </a:t>
            </a:r>
            <a:r>
              <a:rPr lang="en-ID" sz="1800" b="1" dirty="0"/>
              <a:t>keyword matching</a:t>
            </a:r>
            <a:r>
              <a:rPr lang="en-ID" sz="1800" dirty="0"/>
              <a:t> (LIKE %kopi%), A dan B </a:t>
            </a:r>
            <a:r>
              <a:rPr lang="en-ID" sz="1800" dirty="0" err="1"/>
              <a:t>tidak</a:t>
            </a:r>
            <a:r>
              <a:rPr lang="en-ID" sz="1800" dirty="0"/>
              <a:t> match — </a:t>
            </a:r>
            <a:r>
              <a:rPr lang="en-ID" sz="1800" dirty="0" err="1"/>
              <a:t>beda</a:t>
            </a:r>
            <a:r>
              <a:rPr lang="en-ID" sz="1800" dirty="0"/>
              <a:t> kata. </a:t>
            </a:r>
            <a:r>
              <a:rPr lang="en-ID" sz="1800" dirty="0" err="1"/>
              <a:t>Tetapi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 </a:t>
            </a:r>
            <a:r>
              <a:rPr lang="en-ID" sz="1800" b="1" dirty="0" err="1"/>
              <a:t>makna</a:t>
            </a:r>
            <a:r>
              <a:rPr lang="en-ID" sz="1800" dirty="0"/>
              <a:t>, A dan B </a:t>
            </a:r>
            <a:r>
              <a:rPr lang="en-ID" sz="1800" dirty="0" err="1"/>
              <a:t>nyaris</a:t>
            </a:r>
            <a:r>
              <a:rPr lang="en-ID" sz="1800" dirty="0"/>
              <a:t> </a:t>
            </a:r>
            <a:r>
              <a:rPr lang="en-ID" sz="1800" dirty="0" err="1"/>
              <a:t>identik</a:t>
            </a:r>
            <a:r>
              <a:rPr lang="en-ID" sz="1800" dirty="0"/>
              <a:t>, </a:t>
            </a:r>
            <a:r>
              <a:rPr lang="en-ID" sz="1800" dirty="0" err="1"/>
              <a:t>sementara</a:t>
            </a:r>
            <a:r>
              <a:rPr lang="en-ID" sz="1800" dirty="0"/>
              <a:t> C </a:t>
            </a:r>
            <a:r>
              <a:rPr lang="en-ID" sz="1800" dirty="0" err="1"/>
              <a:t>berbeda</a:t>
            </a:r>
            <a:r>
              <a:rPr lang="en-ID" sz="1800" dirty="0"/>
              <a:t> </a:t>
            </a:r>
            <a:r>
              <a:rPr lang="en-ID" sz="1800" dirty="0" err="1"/>
              <a:t>jauh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Embedding </a:t>
            </a:r>
            <a:r>
              <a:rPr lang="en-ID" sz="1800" dirty="0" err="1"/>
              <a:t>menangkap</a:t>
            </a:r>
            <a:r>
              <a:rPr lang="en-ID" sz="1800" dirty="0"/>
              <a:t>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. Kalau Anda embed </a:t>
            </a:r>
            <a:r>
              <a:rPr lang="en-ID" sz="1800" dirty="0" err="1"/>
              <a:t>ketiganya</a:t>
            </a:r>
            <a:r>
              <a:rPr lang="en-ID" sz="1800" dirty="0"/>
              <a:t> dan </a:t>
            </a:r>
            <a:r>
              <a:rPr lang="en-ID" sz="1800" dirty="0" err="1"/>
              <a:t>visualisasikan</a:t>
            </a:r>
            <a:r>
              <a:rPr lang="en-ID" sz="1800" dirty="0"/>
              <a:t> (</a:t>
            </a:r>
            <a:r>
              <a:rPr lang="en-ID" sz="1800" dirty="0" err="1"/>
              <a:t>disederhanakan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2D), </a:t>
            </a:r>
            <a:r>
              <a:rPr lang="en-ID" sz="1800" dirty="0" err="1"/>
              <a:t>hasilnya</a:t>
            </a:r>
            <a:r>
              <a:rPr lang="en-ID" sz="1800" dirty="0"/>
              <a:t> </a:t>
            </a:r>
            <a:r>
              <a:rPr lang="en-ID" sz="1800" dirty="0" err="1"/>
              <a:t>kira-kira</a:t>
            </a:r>
            <a:r>
              <a:rPr lang="en-ID" sz="1800" dirty="0"/>
              <a:t>: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0603A-1646-5A3C-0BAB-08AD8B52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711" y="2751521"/>
            <a:ext cx="5359400" cy="157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4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9007-C3C8-FBCC-2544-AFEC417D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D58B-D0DC-4F3C-626A-8B42081C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Instalasi</a:t>
            </a:r>
            <a:r>
              <a:rPr lang="en-ID" b="1" dirty="0"/>
              <a:t> Model Embedding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1B096-136C-CBBB-FD90-67EF310AF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1113259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600" b="1" dirty="0"/>
              <a:t>Nomic-embed-text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 model embedding open-source yang </a:t>
            </a:r>
            <a:r>
              <a:rPr lang="en-ID" sz="1600" dirty="0" err="1"/>
              <a:t>dirancang</a:t>
            </a:r>
            <a:r>
              <a:rPr lang="en-ID" sz="1600" dirty="0"/>
              <a:t> </a:t>
            </a:r>
            <a:r>
              <a:rPr lang="en-ID" sz="1600" dirty="0" err="1"/>
              <a:t>menghasilkan</a:t>
            </a:r>
            <a:r>
              <a:rPr lang="en-ID" sz="1600" dirty="0"/>
              <a:t> </a:t>
            </a:r>
            <a:r>
              <a:rPr lang="en-ID" sz="1600" dirty="0" err="1"/>
              <a:t>vektor</a:t>
            </a:r>
            <a:r>
              <a:rPr lang="en-ID" sz="1600" dirty="0"/>
              <a:t> </a:t>
            </a:r>
            <a:r>
              <a:rPr lang="en-ID" sz="1600" dirty="0" err="1"/>
              <a:t>berkualitas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footprint </a:t>
            </a:r>
            <a:r>
              <a:rPr lang="en-ID" sz="1600" dirty="0" err="1"/>
              <a:t>kecil</a:t>
            </a:r>
            <a:r>
              <a:rPr lang="en-ID" sz="1600" dirty="0"/>
              <a:t>, </a:t>
            </a:r>
            <a:r>
              <a:rPr lang="en-ID" sz="1600" dirty="0" err="1"/>
              <a:t>dijalankan</a:t>
            </a:r>
            <a:r>
              <a:rPr lang="en-ID" sz="1600" dirty="0"/>
              <a:t> 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lokal</a:t>
            </a:r>
            <a:r>
              <a:rPr lang="en-ID" sz="1600" dirty="0"/>
              <a:t> </a:t>
            </a:r>
            <a:r>
              <a:rPr lang="en-ID" sz="1600" dirty="0" err="1"/>
              <a:t>lewat</a:t>
            </a:r>
            <a:r>
              <a:rPr lang="en-ID" sz="1600" dirty="0"/>
              <a:t> </a:t>
            </a:r>
            <a:r>
              <a:rPr lang="en-ID" sz="1600" dirty="0" err="1"/>
              <a:t>Ollama</a:t>
            </a:r>
            <a:r>
              <a:rPr lang="en-ID" sz="1600" dirty="0"/>
              <a:t> —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API </a:t>
            </a:r>
            <a:r>
              <a:rPr lang="en-ID" sz="1600" dirty="0" err="1"/>
              <a:t>pihak</a:t>
            </a:r>
            <a:r>
              <a:rPr lang="en-ID" sz="1600" dirty="0"/>
              <a:t> </a:t>
            </a:r>
            <a:r>
              <a:rPr lang="en-ID" sz="1600" dirty="0" err="1"/>
              <a:t>ketiga</a:t>
            </a:r>
            <a:r>
              <a:rPr lang="en-ID" sz="1600" dirty="0"/>
              <a:t> 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600" dirty="0"/>
          </a:p>
          <a:p>
            <a:pPr marL="0" indent="0">
              <a:buNone/>
            </a:pPr>
            <a:r>
              <a:rPr lang="en-ID" sz="1600" b="1" dirty="0"/>
              <a:t>Pull model nomic-embed-text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8E177-41E2-B48F-B1AE-05EB4E1CD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74" y="3173277"/>
            <a:ext cx="5638800" cy="71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CB1B33-6742-9BEF-774A-C168FC2FA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77" y="4057100"/>
            <a:ext cx="7772400" cy="108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361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D67BD-5B82-78B3-21CE-C0B91AD9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1A18-C89F-D0F2-905E-CB029CAC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Database Vector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8E5F8-0B7D-D339-A60A-DDF850B02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11009223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800" dirty="0"/>
              <a:t>Vector database </a:t>
            </a:r>
            <a:r>
              <a:rPr lang="en-ID" sz="1800" dirty="0" err="1"/>
              <a:t>adalah</a:t>
            </a:r>
            <a:r>
              <a:rPr lang="en-ID" sz="1800" dirty="0"/>
              <a:t> database yang </a:t>
            </a:r>
            <a:r>
              <a:rPr lang="en-ID" sz="1800" b="1" dirty="0" err="1"/>
              <a:t>mengoptimalkan</a:t>
            </a:r>
            <a:r>
              <a:rPr lang="en-ID" sz="1800" b="1" dirty="0"/>
              <a:t> </a:t>
            </a:r>
            <a:r>
              <a:rPr lang="en-ID" sz="1800" b="1" dirty="0" err="1"/>
              <a:t>penyimpanan</a:t>
            </a:r>
            <a:r>
              <a:rPr lang="en-ID" sz="1800" b="1" dirty="0"/>
              <a:t> dan query </a:t>
            </a:r>
            <a:r>
              <a:rPr lang="en-ID" sz="1800" b="1" dirty="0" err="1"/>
              <a:t>vektor</a:t>
            </a:r>
            <a:r>
              <a:rPr lang="en-ID" sz="1800" b="1" dirty="0"/>
              <a:t> </a:t>
            </a:r>
            <a:r>
              <a:rPr lang="en-ID" sz="1800" b="1" dirty="0" err="1"/>
              <a:t>berdimensi</a:t>
            </a:r>
            <a:r>
              <a:rPr lang="en-ID" sz="1800" b="1" dirty="0"/>
              <a:t> </a:t>
            </a:r>
            <a:r>
              <a:rPr lang="en-ID" sz="1800" b="1" dirty="0" err="1"/>
              <a:t>tinggi</a:t>
            </a:r>
            <a:r>
              <a:rPr lang="en-ID" sz="1800" dirty="0"/>
              <a:t>. </a:t>
            </a:r>
            <a:r>
              <a:rPr lang="en-ID" sz="1800" dirty="0" err="1"/>
              <a:t>Kemampuan</a:t>
            </a:r>
            <a:r>
              <a:rPr lang="en-ID" sz="1800" dirty="0"/>
              <a:t> </a:t>
            </a:r>
            <a:r>
              <a:rPr lang="en-ID" sz="1800" dirty="0" err="1"/>
              <a:t>utama</a:t>
            </a:r>
            <a:r>
              <a:rPr lang="en-ID" sz="18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800" b="1" dirty="0"/>
              <a:t>Storage</a:t>
            </a:r>
            <a:r>
              <a:rPr lang="en-ID" sz="1800" dirty="0"/>
              <a:t> — </a:t>
            </a:r>
            <a:r>
              <a:rPr lang="en-ID" sz="1800" dirty="0" err="1"/>
              <a:t>simpan</a:t>
            </a:r>
            <a:r>
              <a:rPr lang="en-ID" sz="1800" dirty="0"/>
              <a:t> </a:t>
            </a:r>
            <a:r>
              <a:rPr lang="en-ID" sz="1800" dirty="0" err="1"/>
              <a:t>vektor</a:t>
            </a:r>
            <a:r>
              <a:rPr lang="en-ID" sz="1800" dirty="0"/>
              <a:t> </a:t>
            </a:r>
            <a:r>
              <a:rPr lang="en-ID" sz="1800" dirty="0" err="1"/>
              <a:t>ribuan</a:t>
            </a:r>
            <a:r>
              <a:rPr lang="en-ID" sz="1800" dirty="0"/>
              <a:t> </a:t>
            </a:r>
            <a:r>
              <a:rPr lang="en-ID" sz="1800" dirty="0" err="1"/>
              <a:t>dimensi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efisien</a:t>
            </a:r>
            <a:r>
              <a:rPr lang="en-ID" sz="18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800" b="1" dirty="0"/>
              <a:t>Similarity search</a:t>
            </a:r>
            <a:r>
              <a:rPr lang="en-ID" sz="1800" dirty="0"/>
              <a:t> — </a:t>
            </a:r>
            <a:r>
              <a:rPr lang="en-ID" sz="1800" dirty="0" err="1"/>
              <a:t>cari</a:t>
            </a:r>
            <a:r>
              <a:rPr lang="en-ID" sz="1800" dirty="0"/>
              <a:t> top-K </a:t>
            </a:r>
            <a:r>
              <a:rPr lang="en-ID" sz="1800" dirty="0" err="1"/>
              <a:t>vektor</a:t>
            </a:r>
            <a:r>
              <a:rPr lang="en-ID" sz="1800" dirty="0"/>
              <a:t> </a:t>
            </a:r>
            <a:r>
              <a:rPr lang="en-ID" sz="1800" dirty="0" err="1"/>
              <a:t>terdekat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query vector,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latensi</a:t>
            </a:r>
            <a:r>
              <a:rPr lang="en-ID" sz="1800" dirty="0"/>
              <a:t> sub-</a:t>
            </a:r>
            <a:r>
              <a:rPr lang="en-ID" sz="1800" dirty="0" err="1"/>
              <a:t>detik</a:t>
            </a:r>
            <a:r>
              <a:rPr lang="en-ID" sz="1800" dirty="0"/>
              <a:t> </a:t>
            </a:r>
            <a:r>
              <a:rPr lang="en-ID" sz="1800" dirty="0" err="1"/>
              <a:t>bahkan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jutaan</a:t>
            </a:r>
            <a:r>
              <a:rPr lang="en-ID" sz="1800" dirty="0"/>
              <a:t> row.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1800" b="1" dirty="0"/>
              <a:t>Filter hybrid</a:t>
            </a:r>
            <a:r>
              <a:rPr lang="en-ID" sz="1800" dirty="0"/>
              <a:t> — </a:t>
            </a:r>
            <a:r>
              <a:rPr lang="en-ID" sz="1800" dirty="0" err="1"/>
              <a:t>kombinasi</a:t>
            </a:r>
            <a:r>
              <a:rPr lang="en-ID" sz="1800" dirty="0"/>
              <a:t> similarity + filter SQL </a:t>
            </a:r>
            <a:r>
              <a:rPr lang="en-ID" sz="1800" dirty="0" err="1"/>
              <a:t>biasa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A0872-4EB1-055F-ED35-D940CA74E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47" y="3896280"/>
            <a:ext cx="10095623" cy="228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162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F2BE-1E29-B5BD-5438-D5E5A039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C644-DB7E-8B35-53D9-809343A3A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OpenSearch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ADBA8-490F-A0F8-5855-DD60C9308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11009223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Bayangkan</a:t>
            </a:r>
            <a:r>
              <a:rPr lang="en-ID" sz="1600" dirty="0"/>
              <a:t> OpenSearch </a:t>
            </a:r>
            <a:r>
              <a:rPr lang="en-ID" sz="1600" dirty="0" err="1"/>
              <a:t>sebagai</a:t>
            </a:r>
            <a:r>
              <a:rPr lang="en-ID" sz="1600" dirty="0"/>
              <a:t> </a:t>
            </a:r>
            <a:r>
              <a:rPr lang="en-ID" sz="1600" b="1" dirty="0"/>
              <a:t>"</a:t>
            </a:r>
            <a:r>
              <a:rPr lang="en-ID" sz="1600" b="1" dirty="0" err="1"/>
              <a:t>mesin</a:t>
            </a:r>
            <a:r>
              <a:rPr lang="en-ID" sz="1600" b="1" dirty="0"/>
              <a:t> </a:t>
            </a:r>
            <a:r>
              <a:rPr lang="en-ID" sz="1600" b="1" dirty="0" err="1"/>
              <a:t>pencari</a:t>
            </a:r>
            <a:r>
              <a:rPr lang="en-ID" sz="1600" b="1" dirty="0"/>
              <a:t> </a:t>
            </a:r>
            <a:r>
              <a:rPr lang="en-ID" sz="1600" b="1" dirty="0" err="1"/>
              <a:t>pribadi</a:t>
            </a:r>
            <a:r>
              <a:rPr lang="en-ID" sz="1600" b="1" dirty="0"/>
              <a:t>"</a:t>
            </a:r>
            <a:r>
              <a:rPr lang="en-ID" sz="1600" dirty="0"/>
              <a:t> — </a:t>
            </a:r>
            <a:r>
              <a:rPr lang="en-ID" sz="1600" dirty="0" err="1"/>
              <a:t>seperti</a:t>
            </a:r>
            <a:r>
              <a:rPr lang="en-ID" sz="1600" dirty="0"/>
              <a:t> Google, </a:t>
            </a:r>
            <a:r>
              <a:rPr lang="en-ID" sz="1600" dirty="0" err="1"/>
              <a:t>tapi</a:t>
            </a:r>
            <a:r>
              <a:rPr lang="en-ID" sz="1600" dirty="0"/>
              <a:t>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mencari</a:t>
            </a:r>
            <a:r>
              <a:rPr lang="en-ID" sz="1600" dirty="0"/>
              <a:t> di </a:t>
            </a:r>
            <a:r>
              <a:rPr lang="en-ID" sz="1600" dirty="0" err="1"/>
              <a:t>seluruh</a:t>
            </a:r>
            <a:r>
              <a:rPr lang="en-ID" sz="1600" dirty="0"/>
              <a:t> internet, </a:t>
            </a:r>
            <a:r>
              <a:rPr lang="en-ID" sz="1600" dirty="0" err="1"/>
              <a:t>melainkan</a:t>
            </a:r>
            <a:r>
              <a:rPr lang="en-ID" sz="1600" dirty="0"/>
              <a:t> </a:t>
            </a:r>
            <a:r>
              <a:rPr lang="en-ID" sz="1600" dirty="0" err="1"/>
              <a:t>khusus</a:t>
            </a:r>
            <a:r>
              <a:rPr lang="en-ID" sz="1600" dirty="0"/>
              <a:t> </a:t>
            </a:r>
            <a:r>
              <a:rPr lang="en-ID" sz="1600" dirty="0" err="1"/>
              <a:t>mencari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dokumen-dokumen</a:t>
            </a:r>
            <a:r>
              <a:rPr lang="en-ID" sz="1600" dirty="0"/>
              <a:t> </a:t>
            </a:r>
            <a:r>
              <a:rPr lang="en-ID" sz="1600" dirty="0" err="1"/>
              <a:t>milik</a:t>
            </a:r>
            <a:r>
              <a:rPr lang="en-ID" sz="1600" dirty="0"/>
              <a:t>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sendiri</a:t>
            </a:r>
            <a:r>
              <a:rPr lang="en-ID" sz="1600" dirty="0"/>
              <a:t>. </a:t>
            </a:r>
            <a:r>
              <a:rPr lang="en-ID" sz="1600" dirty="0" err="1"/>
              <a:t>Tugas</a:t>
            </a:r>
            <a:r>
              <a:rPr lang="en-ID" sz="1600" dirty="0"/>
              <a:t> </a:t>
            </a:r>
            <a:r>
              <a:rPr lang="en-ID" sz="1600" dirty="0" err="1"/>
              <a:t>utamanya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dulu</a:t>
            </a:r>
            <a:r>
              <a:rPr lang="en-ID" sz="1600" dirty="0"/>
              <a:t> </a:t>
            </a:r>
            <a:r>
              <a:rPr lang="en-ID" sz="1600" dirty="0" err="1"/>
              <a:t>sampai</a:t>
            </a:r>
            <a:r>
              <a:rPr lang="en-ID" sz="1600" dirty="0"/>
              <a:t> </a:t>
            </a:r>
            <a:r>
              <a:rPr lang="en-ID" sz="1600" dirty="0" err="1"/>
              <a:t>sekarang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: </a:t>
            </a:r>
            <a:r>
              <a:rPr lang="en-ID" sz="1600" dirty="0" err="1"/>
              <a:t>menerima</a:t>
            </a:r>
            <a:r>
              <a:rPr lang="en-ID" sz="1600" dirty="0"/>
              <a:t> </a:t>
            </a:r>
            <a:r>
              <a:rPr lang="en-ID" sz="1600" dirty="0" err="1"/>
              <a:t>jutaan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, </a:t>
            </a:r>
            <a:r>
              <a:rPr lang="en-ID" sz="1600" dirty="0" err="1"/>
              <a:t>lalu</a:t>
            </a:r>
            <a:r>
              <a:rPr lang="en-ID" sz="1600" dirty="0"/>
              <a:t> </a:t>
            </a:r>
            <a:r>
              <a:rPr lang="en-ID" sz="1600" dirty="0" err="1"/>
              <a:t>menemukan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cepat</a:t>
            </a:r>
            <a:r>
              <a:rPr lang="en-ID" sz="1600" dirty="0"/>
              <a:t> mana yang paling </a:t>
            </a:r>
            <a:r>
              <a:rPr lang="en-ID" sz="1600" dirty="0" err="1"/>
              <a:t>relevan</a:t>
            </a:r>
            <a:r>
              <a:rPr lang="en-ID" sz="1600" dirty="0"/>
              <a:t> </a:t>
            </a:r>
            <a:r>
              <a:rPr lang="en-ID" sz="1600" dirty="0" err="1"/>
              <a:t>begitu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pertanyaan</a:t>
            </a:r>
            <a:r>
              <a:rPr lang="en-ID" sz="1600" dirty="0"/>
              <a:t> </a:t>
            </a:r>
            <a:r>
              <a:rPr lang="en-ID" sz="1600" dirty="0" err="1"/>
              <a:t>masuk</a:t>
            </a:r>
            <a:r>
              <a:rPr lang="en-ID" sz="16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Kemampuan</a:t>
            </a:r>
            <a:r>
              <a:rPr lang="en-ID" sz="1600" dirty="0"/>
              <a:t> "</a:t>
            </a:r>
            <a:r>
              <a:rPr lang="en-ID" sz="1600" dirty="0" err="1"/>
              <a:t>mencari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kemiripan</a:t>
            </a:r>
            <a:r>
              <a:rPr lang="en-ID" sz="1600" dirty="0"/>
              <a:t> </a:t>
            </a:r>
            <a:r>
              <a:rPr lang="en-ID" sz="1600" dirty="0" err="1"/>
              <a:t>makna</a:t>
            </a:r>
            <a:r>
              <a:rPr lang="en-ID" sz="1600" dirty="0"/>
              <a:t>" (vector search) yang </a:t>
            </a:r>
            <a:r>
              <a:rPr lang="en-ID" sz="1600" dirty="0" err="1"/>
              <a:t>dipakai</a:t>
            </a:r>
            <a:r>
              <a:rPr lang="en-ID" sz="1600" dirty="0"/>
              <a:t> di module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sebenarnya</a:t>
            </a:r>
            <a:r>
              <a:rPr lang="en-ID" sz="1600" dirty="0"/>
              <a:t> </a:t>
            </a:r>
            <a:r>
              <a:rPr lang="en-ID" sz="1600" b="1" dirty="0" err="1"/>
              <a:t>fitur</a:t>
            </a:r>
            <a:r>
              <a:rPr lang="en-ID" sz="1600" b="1" dirty="0"/>
              <a:t> </a:t>
            </a:r>
            <a:r>
              <a:rPr lang="en-ID" sz="1600" b="1" dirty="0" err="1"/>
              <a:t>tambahan</a:t>
            </a:r>
            <a:r>
              <a:rPr lang="en-ID" sz="1600" dirty="0"/>
              <a:t> — </a:t>
            </a:r>
            <a:r>
              <a:rPr lang="en-ID" sz="1600" dirty="0" err="1"/>
              <a:t>kemampuan</a:t>
            </a:r>
            <a:r>
              <a:rPr lang="en-ID" sz="1600" dirty="0"/>
              <a:t> </a:t>
            </a:r>
            <a:r>
              <a:rPr lang="en-ID" sz="1600" dirty="0" err="1"/>
              <a:t>aslinya</a:t>
            </a:r>
            <a:r>
              <a:rPr lang="en-ID" sz="1600" dirty="0"/>
              <a:t>, </a:t>
            </a:r>
            <a:r>
              <a:rPr lang="en-ID" sz="1600" dirty="0" err="1"/>
              <a:t>sejak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dibuat</a:t>
            </a:r>
            <a:r>
              <a:rPr lang="en-ID" sz="1600" dirty="0"/>
              <a:t>,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mencari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 </a:t>
            </a:r>
            <a:r>
              <a:rPr lang="en-ID" sz="1600" b="1" dirty="0"/>
              <a:t>kata </a:t>
            </a:r>
            <a:r>
              <a:rPr lang="en-ID" sz="1600" b="1" dirty="0" err="1"/>
              <a:t>kunci</a:t>
            </a:r>
            <a:r>
              <a:rPr lang="en-ID" sz="1600" dirty="0"/>
              <a:t> yang </a:t>
            </a:r>
            <a:r>
              <a:rPr lang="en-ID" sz="1600" dirty="0" err="1"/>
              <a:t>persis</a:t>
            </a:r>
            <a:r>
              <a:rPr lang="en-ID" sz="1600" dirty="0"/>
              <a:t> </a:t>
            </a:r>
            <a:r>
              <a:rPr lang="en-ID" sz="1600" dirty="0" err="1"/>
              <a:t>disebut</a:t>
            </a:r>
            <a:r>
              <a:rPr lang="en-ID" sz="1600" dirty="0"/>
              <a:t>, </a:t>
            </a:r>
            <a:r>
              <a:rPr lang="en-ID" sz="1600" dirty="0" err="1"/>
              <a:t>mirip</a:t>
            </a:r>
            <a:r>
              <a:rPr lang="en-ID" sz="1600" dirty="0"/>
              <a:t>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 </a:t>
            </a:r>
            <a:r>
              <a:rPr lang="en-ID" sz="1600" dirty="0" err="1"/>
              <a:t>kolom</a:t>
            </a:r>
            <a:r>
              <a:rPr lang="en-ID" sz="1600" dirty="0"/>
              <a:t> </a:t>
            </a:r>
            <a:r>
              <a:rPr lang="en-ID" sz="1600" dirty="0" err="1"/>
              <a:t>pencarian</a:t>
            </a:r>
            <a:r>
              <a:rPr lang="en-ID" sz="1600" dirty="0"/>
              <a:t> di situs </a:t>
            </a:r>
            <a:r>
              <a:rPr lang="en-ID" sz="1600" dirty="0" err="1"/>
              <a:t>berita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marketplace. Nama </a:t>
            </a:r>
            <a:r>
              <a:rPr lang="en-ID" sz="1600" dirty="0" err="1"/>
              <a:t>teknis</a:t>
            </a:r>
            <a:r>
              <a:rPr lang="en-ID" sz="1600" dirty="0"/>
              <a:t> "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menilai</a:t>
            </a:r>
            <a:r>
              <a:rPr lang="en-ID" sz="1600" dirty="0"/>
              <a:t> </a:t>
            </a:r>
            <a:r>
              <a:rPr lang="en-ID" sz="1600" dirty="0" err="1"/>
              <a:t>kecocokan</a:t>
            </a:r>
            <a:r>
              <a:rPr lang="en-ID" sz="1600" dirty="0"/>
              <a:t> kata </a:t>
            </a:r>
            <a:r>
              <a:rPr lang="en-ID" sz="1600" dirty="0" err="1"/>
              <a:t>kunci</a:t>
            </a:r>
            <a:r>
              <a:rPr lang="en-ID" sz="1600" dirty="0"/>
              <a:t>"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 </a:t>
            </a:r>
            <a:r>
              <a:rPr lang="en-ID" sz="1600" b="1" dirty="0"/>
              <a:t>BM25</a:t>
            </a:r>
            <a:r>
              <a:rPr lang="en-ID" sz="1600" dirty="0"/>
              <a:t> —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rumus</a:t>
            </a:r>
            <a:r>
              <a:rPr lang="en-ID" sz="1600" dirty="0"/>
              <a:t> yang </a:t>
            </a:r>
            <a:r>
              <a:rPr lang="en-ID" sz="1600" dirty="0" err="1"/>
              <a:t>menghitung</a:t>
            </a:r>
            <a:r>
              <a:rPr lang="en-ID" sz="1600" dirty="0"/>
              <a:t> </a:t>
            </a:r>
            <a:r>
              <a:rPr lang="en-ID" sz="1600" dirty="0" err="1"/>
              <a:t>skor</a:t>
            </a:r>
            <a:r>
              <a:rPr lang="en-ID" sz="1600" dirty="0"/>
              <a:t> </a:t>
            </a:r>
            <a:r>
              <a:rPr lang="en-ID" sz="1600" dirty="0" err="1"/>
              <a:t>relevansi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seberapa</a:t>
            </a:r>
            <a:r>
              <a:rPr lang="en-ID" sz="1600" dirty="0"/>
              <a:t> </a:t>
            </a:r>
            <a:r>
              <a:rPr lang="en-ID" sz="1600" dirty="0" err="1"/>
              <a:t>sering</a:t>
            </a:r>
            <a:r>
              <a:rPr lang="en-ID" sz="1600" dirty="0"/>
              <a:t> dan </a:t>
            </a:r>
            <a:r>
              <a:rPr lang="en-ID" sz="1600" dirty="0" err="1"/>
              <a:t>seberapa</a:t>
            </a:r>
            <a:r>
              <a:rPr lang="en-ID" sz="1600" dirty="0"/>
              <a:t> "</a:t>
            </a:r>
            <a:r>
              <a:rPr lang="en-ID" sz="1600" dirty="0" err="1"/>
              <a:t>penting</a:t>
            </a:r>
            <a:r>
              <a:rPr lang="en-ID" sz="1600" dirty="0"/>
              <a:t>" kata-kata </a:t>
            </a:r>
            <a:r>
              <a:rPr lang="en-ID" sz="1600" dirty="0" err="1"/>
              <a:t>pencarian</a:t>
            </a:r>
            <a:r>
              <a:rPr lang="en-ID" sz="1600" dirty="0"/>
              <a:t> </a:t>
            </a:r>
            <a:r>
              <a:rPr lang="en-ID" sz="1600" dirty="0" err="1"/>
              <a:t>muncul</a:t>
            </a:r>
            <a:r>
              <a:rPr lang="en-ID" sz="1600" dirty="0"/>
              <a:t> di </a:t>
            </a:r>
            <a:r>
              <a:rPr lang="en-ID" sz="1600" dirty="0" err="1"/>
              <a:t>dalamnya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870375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3B6C-33AE-C5D1-8819-A3957F1A7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72605-0D47-18CC-8938-D1999B8A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Semantic 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0B074-A3FA-3915-668B-61EEE86C3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11009223" cy="435133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AutoNum type="alphaLcPeriod"/>
            </a:pPr>
            <a:r>
              <a:rPr lang="en-ID" sz="1600" b="1" dirty="0"/>
              <a:t>Cosine Similarity</a:t>
            </a:r>
            <a:r>
              <a:rPr lang="en-US" sz="1600" b="1" dirty="0"/>
              <a:t> </a:t>
            </a:r>
            <a:r>
              <a:rPr lang="en-US" sz="1600" b="1" dirty="0">
                <a:sym typeface="Wingdings" pitchFamily="2" charset="2"/>
              </a:rPr>
              <a:t> </a:t>
            </a:r>
            <a:r>
              <a:rPr lang="en-ID" sz="1600" dirty="0" err="1"/>
              <a:t>Mengukur</a:t>
            </a:r>
            <a:r>
              <a:rPr lang="en-ID" sz="1600" dirty="0"/>
              <a:t> </a:t>
            </a:r>
            <a:r>
              <a:rPr lang="en-ID" sz="1600" b="1" dirty="0" err="1"/>
              <a:t>sudut</a:t>
            </a:r>
            <a:r>
              <a:rPr lang="en-ID" sz="1600" dirty="0"/>
              <a:t> </a:t>
            </a:r>
            <a:r>
              <a:rPr lang="en-ID" sz="1600" dirty="0" err="1"/>
              <a:t>antara</a:t>
            </a:r>
            <a:r>
              <a:rPr lang="en-ID" sz="1600" dirty="0"/>
              <a:t> dua </a:t>
            </a:r>
            <a:r>
              <a:rPr lang="en-ID" sz="1600" dirty="0" err="1"/>
              <a:t>vektor</a:t>
            </a:r>
            <a:r>
              <a:rPr lang="en-ID" sz="1600" dirty="0"/>
              <a:t>, </a:t>
            </a:r>
            <a:r>
              <a:rPr lang="en-ID" sz="1600" dirty="0" err="1"/>
              <a:t>mengabaikan</a:t>
            </a:r>
            <a:r>
              <a:rPr lang="en-ID" sz="1600" dirty="0"/>
              <a:t> </a:t>
            </a:r>
            <a:r>
              <a:rPr lang="en-ID" sz="1600" dirty="0" err="1"/>
              <a:t>panjangnya</a:t>
            </a:r>
            <a:r>
              <a:rPr lang="en-ID" sz="1600" dirty="0"/>
              <a:t>  cosine similarity </a:t>
            </a:r>
            <a:r>
              <a:rPr lang="en-ID" sz="1600" b="1" dirty="0" err="1"/>
              <a:t>tidak</a:t>
            </a:r>
            <a:r>
              <a:rPr lang="en-ID" sz="1600" b="1" dirty="0"/>
              <a:t> </a:t>
            </a:r>
            <a:r>
              <a:rPr lang="en-ID" sz="1600" b="1" dirty="0" err="1"/>
              <a:t>peduli</a:t>
            </a:r>
            <a:r>
              <a:rPr lang="en-ID" sz="1600" b="1" dirty="0"/>
              <a:t> </a:t>
            </a:r>
            <a:r>
              <a:rPr lang="en-ID" sz="1600" b="1" dirty="0" err="1"/>
              <a:t>panjang</a:t>
            </a:r>
            <a:r>
              <a:rPr lang="en-ID" sz="1600" b="1" dirty="0"/>
              <a:t> </a:t>
            </a:r>
            <a:r>
              <a:rPr lang="en-ID" sz="1600" b="1" dirty="0" err="1"/>
              <a:t>vektor</a:t>
            </a:r>
            <a:r>
              <a:rPr lang="en-ID" sz="1600" dirty="0"/>
              <a:t>, </a:t>
            </a:r>
            <a:r>
              <a:rPr lang="en-ID" sz="1600" dirty="0" err="1"/>
              <a:t>cuma</a:t>
            </a:r>
            <a:r>
              <a:rPr lang="en-ID" sz="1600" dirty="0"/>
              <a:t> </a:t>
            </a:r>
            <a:r>
              <a:rPr lang="en-ID" sz="1600" dirty="0" err="1"/>
              <a:t>arahnya</a:t>
            </a:r>
            <a:r>
              <a:rPr lang="en-ID" sz="1600" dirty="0"/>
              <a:t>. Dua </a:t>
            </a:r>
            <a:r>
              <a:rPr lang="en-ID" sz="1600" dirty="0" err="1"/>
              <a:t>kalimat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makna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 </a:t>
            </a:r>
            <a:r>
              <a:rPr lang="en-ID" sz="1600" dirty="0" err="1"/>
              <a:t>tapi</a:t>
            </a:r>
            <a:r>
              <a:rPr lang="en-ID" sz="1600" dirty="0"/>
              <a:t> </a:t>
            </a:r>
            <a:r>
              <a:rPr lang="en-ID" sz="1600" dirty="0" err="1"/>
              <a:t>panjang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 </a:t>
            </a:r>
            <a:r>
              <a:rPr lang="en-ID" sz="1600" dirty="0" err="1"/>
              <a:t>berbeda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saja</a:t>
            </a:r>
            <a:r>
              <a:rPr lang="en-ID" sz="1600" dirty="0"/>
              <a:t> </a:t>
            </a:r>
            <a:r>
              <a:rPr lang="en-ID" sz="1600" dirty="0" err="1"/>
              <a:t>menghasilkan</a:t>
            </a:r>
            <a:r>
              <a:rPr lang="en-ID" sz="1600" dirty="0"/>
              <a:t> </a:t>
            </a:r>
            <a:r>
              <a:rPr lang="en-ID" sz="1600" dirty="0" err="1"/>
              <a:t>vektor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panjang</a:t>
            </a:r>
            <a:r>
              <a:rPr lang="en-ID" sz="1600" dirty="0"/>
              <a:t> </a:t>
            </a:r>
            <a:r>
              <a:rPr lang="en-ID" sz="1600" dirty="0" err="1"/>
              <a:t>berbeda</a:t>
            </a:r>
            <a:r>
              <a:rPr lang="en-ID" sz="1600" dirty="0"/>
              <a:t>, </a:t>
            </a:r>
            <a:r>
              <a:rPr lang="en-ID" sz="1600" dirty="0" err="1"/>
              <a:t>tapi</a:t>
            </a:r>
            <a:r>
              <a:rPr lang="en-ID" sz="1600" dirty="0"/>
              <a:t> </a:t>
            </a:r>
            <a:r>
              <a:rPr lang="en-ID" sz="1600" dirty="0" err="1"/>
              <a:t>kalau</a:t>
            </a:r>
            <a:r>
              <a:rPr lang="en-ID" sz="1600" dirty="0"/>
              <a:t> </a:t>
            </a:r>
            <a:r>
              <a:rPr lang="en-ID" sz="1600" dirty="0" err="1"/>
              <a:t>arahnya</a:t>
            </a:r>
            <a:r>
              <a:rPr lang="en-ID" sz="1600" dirty="0"/>
              <a:t> </a:t>
            </a:r>
            <a:r>
              <a:rPr lang="en-ID" sz="1600" dirty="0" err="1"/>
              <a:t>mirip</a:t>
            </a:r>
            <a:r>
              <a:rPr lang="en-ID" sz="1600" dirty="0"/>
              <a:t>, cosine similarity-</a:t>
            </a:r>
            <a:r>
              <a:rPr lang="en-ID" sz="1600" dirty="0" err="1"/>
              <a:t>nya</a:t>
            </a:r>
            <a:r>
              <a:rPr lang="en-ID" sz="1600" dirty="0"/>
              <a:t> </a:t>
            </a:r>
            <a:r>
              <a:rPr lang="en-ID" sz="1600" dirty="0" err="1"/>
              <a:t>tetap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 — pas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kasus</a:t>
            </a:r>
            <a:r>
              <a:rPr lang="en-ID" sz="1600" dirty="0"/>
              <a:t> "</a:t>
            </a:r>
            <a:r>
              <a:rPr lang="en-ID" sz="1600" dirty="0" err="1"/>
              <a:t>makna</a:t>
            </a:r>
            <a:r>
              <a:rPr lang="en-ID" sz="1600" dirty="0"/>
              <a:t> </a:t>
            </a:r>
            <a:r>
              <a:rPr lang="en-ID" sz="1600" dirty="0" err="1"/>
              <a:t>serupa</a:t>
            </a:r>
            <a:r>
              <a:rPr lang="en-ID" sz="1600" dirty="0"/>
              <a:t>, </a:t>
            </a:r>
            <a:r>
              <a:rPr lang="en-ID" sz="1600" dirty="0" err="1"/>
              <a:t>panjang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 </a:t>
            </a:r>
            <a:r>
              <a:rPr lang="en-ID" sz="1600" dirty="0" err="1"/>
              <a:t>beda</a:t>
            </a:r>
            <a:r>
              <a:rPr lang="en-ID" sz="1600" dirty="0"/>
              <a:t>".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lphaLcPeriod"/>
            </a:pPr>
            <a:r>
              <a:rPr lang="en-ID" sz="1600" b="1" dirty="0"/>
              <a:t>Euclidean Distance (L2) </a:t>
            </a:r>
            <a:r>
              <a:rPr lang="en-ID" sz="1600" b="1" dirty="0">
                <a:sym typeface="Wingdings" pitchFamily="2" charset="2"/>
              </a:rPr>
              <a:t> </a:t>
            </a:r>
            <a:r>
              <a:rPr lang="en-ID" sz="1600" dirty="0" err="1"/>
              <a:t>Mengukur</a:t>
            </a:r>
            <a:r>
              <a:rPr lang="en-ID" sz="1600" dirty="0"/>
              <a:t> </a:t>
            </a:r>
            <a:r>
              <a:rPr lang="en-ID" sz="1600" b="1" dirty="0" err="1"/>
              <a:t>jarak</a:t>
            </a:r>
            <a:r>
              <a:rPr lang="en-ID" sz="1600" b="1" dirty="0"/>
              <a:t> </a:t>
            </a:r>
            <a:r>
              <a:rPr lang="en-ID" sz="1600" b="1" dirty="0" err="1"/>
              <a:t>geometris</a:t>
            </a:r>
            <a:r>
              <a:rPr lang="en-ID" sz="1600" dirty="0"/>
              <a:t> </a:t>
            </a:r>
            <a:r>
              <a:rPr lang="en-ID" sz="1600" dirty="0" err="1"/>
              <a:t>antar</a:t>
            </a:r>
            <a:r>
              <a:rPr lang="en-ID" sz="1600" dirty="0"/>
              <a:t> dua </a:t>
            </a:r>
            <a:r>
              <a:rPr lang="en-ID" sz="1600" dirty="0" err="1"/>
              <a:t>titik</a:t>
            </a:r>
            <a:r>
              <a:rPr lang="en-ID" sz="1600" dirty="0"/>
              <a:t> di </a:t>
            </a:r>
            <a:r>
              <a:rPr lang="en-ID" sz="1600" dirty="0" err="1"/>
              <a:t>ruang</a:t>
            </a:r>
            <a:r>
              <a:rPr lang="en-ID" sz="1600" dirty="0"/>
              <a:t> </a:t>
            </a:r>
            <a:r>
              <a:rPr lang="en-ID" sz="1600" dirty="0" err="1"/>
              <a:t>vektor</a:t>
            </a:r>
            <a:r>
              <a:rPr lang="en-ID" sz="1600" dirty="0"/>
              <a:t> — </a:t>
            </a:r>
            <a:r>
              <a:rPr lang="en-ID" sz="1600" dirty="0" err="1"/>
              <a:t>sama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 </a:t>
            </a:r>
            <a:r>
              <a:rPr lang="en-ID" sz="1600" dirty="0" err="1"/>
              <a:t>rumus</a:t>
            </a:r>
            <a:r>
              <a:rPr lang="en-ID" sz="1600" dirty="0"/>
              <a:t> </a:t>
            </a:r>
            <a:r>
              <a:rPr lang="en-ID" sz="1600" dirty="0" err="1"/>
              <a:t>jarak</a:t>
            </a:r>
            <a:r>
              <a:rPr lang="en-ID" sz="1600" dirty="0"/>
              <a:t>, </a:t>
            </a:r>
            <a:r>
              <a:rPr lang="en-ID" sz="1600" dirty="0" err="1"/>
              <a:t>cuma</a:t>
            </a:r>
            <a:r>
              <a:rPr lang="en-ID" sz="1600" dirty="0"/>
              <a:t> </a:t>
            </a:r>
            <a:r>
              <a:rPr lang="en-ID" sz="1600" dirty="0" err="1"/>
              <a:t>diperluas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banyak</a:t>
            </a:r>
            <a:r>
              <a:rPr lang="en-ID" sz="1600" dirty="0"/>
              <a:t> </a:t>
            </a:r>
            <a:r>
              <a:rPr lang="en-ID" sz="1600" dirty="0" err="1"/>
              <a:t>dimensi</a:t>
            </a:r>
            <a:r>
              <a:rPr lang="en-ID" sz="1600" dirty="0"/>
              <a:t> (768, </a:t>
            </a:r>
            <a:r>
              <a:rPr lang="en-ID" sz="1600" dirty="0" err="1"/>
              <a:t>untuk</a:t>
            </a:r>
            <a:r>
              <a:rPr lang="en-ID" sz="1600" dirty="0"/>
              <a:t> nomic-embed-text). 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lphaLcPeriod"/>
            </a:pPr>
            <a:r>
              <a:rPr lang="en-ID" sz="1600" b="1" dirty="0"/>
              <a:t>Dot product </a:t>
            </a:r>
            <a:r>
              <a:rPr lang="en-ID" sz="1600" b="1" dirty="0">
                <a:sym typeface="Wingdings" pitchFamily="2" charset="2"/>
              </a:rPr>
              <a:t></a:t>
            </a:r>
            <a:r>
              <a:rPr lang="en-ID" sz="1600" b="1" dirty="0"/>
              <a:t> </a:t>
            </a:r>
            <a:r>
              <a:rPr lang="en-ID" sz="1600" b="1" dirty="0" err="1"/>
              <a:t>secara</a:t>
            </a:r>
            <a:r>
              <a:rPr lang="en-ID" sz="1600" b="1" dirty="0"/>
              <a:t> </a:t>
            </a:r>
            <a:r>
              <a:rPr lang="en-ID" sz="1600" b="1" dirty="0" err="1"/>
              <a:t>matematis</a:t>
            </a:r>
            <a:r>
              <a:rPr lang="en-ID" sz="1600" b="1" dirty="0"/>
              <a:t> </a:t>
            </a:r>
            <a:r>
              <a:rPr lang="en-ID" sz="1600" b="1" dirty="0" err="1"/>
              <a:t>identik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cosine similarity — pas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kasus</a:t>
            </a:r>
            <a:r>
              <a:rPr lang="en-ID" sz="1600" dirty="0"/>
              <a:t> di mana embedding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dinormalisasi</a:t>
            </a:r>
            <a:r>
              <a:rPr lang="en-ID" sz="1600" dirty="0"/>
              <a:t> </a:t>
            </a:r>
            <a:r>
              <a:rPr lang="en-ID" sz="1600" dirty="0" err="1"/>
              <a:t>terlebih</a:t>
            </a:r>
            <a:r>
              <a:rPr lang="en-ID" sz="1600" dirty="0"/>
              <a:t> </a:t>
            </a:r>
            <a:r>
              <a:rPr lang="en-ID" sz="1600" dirty="0" err="1"/>
              <a:t>dulu</a:t>
            </a:r>
            <a:r>
              <a:rPr lang="en-ID" sz="1600" dirty="0"/>
              <a:t> (</a:t>
            </a:r>
            <a:r>
              <a:rPr lang="en-ID" sz="1600" dirty="0" err="1"/>
              <a:t>seperti</a:t>
            </a:r>
            <a:r>
              <a:rPr lang="en-ID" sz="1600" dirty="0"/>
              <a:t> nomic-embed-text),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hasilnya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 </a:t>
            </a:r>
            <a:r>
              <a:rPr lang="en-ID" sz="1600" dirty="0" err="1"/>
              <a:t>tapi</a:t>
            </a:r>
            <a:r>
              <a:rPr lang="en-ID" sz="1600" dirty="0"/>
              <a:t> </a:t>
            </a:r>
            <a:r>
              <a:rPr lang="en-ID" sz="1600" dirty="0" err="1"/>
              <a:t>hitungannya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murah</a:t>
            </a:r>
            <a:r>
              <a:rPr lang="en-ID" sz="16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AutoNum type="alphaLcPeriod"/>
            </a:pPr>
            <a:endParaRPr lang="en-ID" sz="1600" b="1" dirty="0"/>
          </a:p>
          <a:p>
            <a:pPr marL="342900" indent="-342900" algn="just">
              <a:lnSpc>
                <a:spcPct val="150000"/>
              </a:lnSpc>
              <a:buAutoNum type="alphaLcPeriod"/>
            </a:pP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b="1" dirty="0"/>
          </a:p>
        </p:txBody>
      </p:sp>
    </p:spTree>
    <p:extLst>
      <p:ext uri="{BB962C8B-B14F-4D97-AF65-F5344CB8AC3E}">
        <p14:creationId xmlns:p14="http://schemas.microsoft.com/office/powerpoint/2010/main" val="39574812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044B-7182-D22C-0787-7C53577C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B876-00F9-2990-16CD-5655B2E8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Chunking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36C92-B71B-A779-F147-5913DDD91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504530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600" b="1" dirty="0"/>
              <a:t>Chunk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potongan</a:t>
            </a:r>
            <a:r>
              <a:rPr lang="en-ID" sz="1600" dirty="0"/>
              <a:t> </a:t>
            </a:r>
            <a:r>
              <a:rPr lang="en-ID" sz="1600" dirty="0" err="1"/>
              <a:t>kecil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—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kalimat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bagian</a:t>
            </a:r>
            <a:r>
              <a:rPr lang="en-ID" sz="1600" dirty="0"/>
              <a:t> SOP,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sekaligus</a:t>
            </a:r>
            <a:r>
              <a:rPr lang="en-ID" sz="1600" dirty="0"/>
              <a:t>. Proses </a:t>
            </a:r>
            <a:r>
              <a:rPr lang="en-ID" sz="1600" dirty="0" err="1"/>
              <a:t>memecah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chunk-chunk </a:t>
            </a:r>
            <a:r>
              <a:rPr lang="en-ID" sz="1600" dirty="0" err="1"/>
              <a:t>seperti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disebut</a:t>
            </a:r>
            <a:r>
              <a:rPr lang="en-ID" sz="1600" dirty="0"/>
              <a:t> </a:t>
            </a:r>
            <a:r>
              <a:rPr lang="en-ID" sz="1600" b="1" dirty="0"/>
              <a:t>chunking</a:t>
            </a:r>
            <a:r>
              <a:rPr lang="en-ID" sz="1600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D" sz="1600" dirty="0"/>
              <a:t>Supaya </a:t>
            </a:r>
            <a:r>
              <a:rPr lang="en-ID" sz="1600" dirty="0" err="1"/>
              <a:t>kalimat</a:t>
            </a:r>
            <a:r>
              <a:rPr lang="en-ID" sz="1600" dirty="0"/>
              <a:t> </a:t>
            </a:r>
            <a:r>
              <a:rPr lang="en-ID" sz="1600" dirty="0" err="1"/>
              <a:t>penting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terputus</a:t>
            </a:r>
            <a:r>
              <a:rPr lang="en-ID" sz="1600" dirty="0"/>
              <a:t> </a:t>
            </a:r>
            <a:r>
              <a:rPr lang="en-ID" sz="1600" dirty="0" err="1"/>
              <a:t>persis</a:t>
            </a:r>
            <a:r>
              <a:rPr lang="en-ID" sz="1600" dirty="0"/>
              <a:t> di batas </a:t>
            </a:r>
            <a:r>
              <a:rPr lang="en-ID" sz="1600" dirty="0" err="1"/>
              <a:t>antar</a:t>
            </a:r>
            <a:r>
              <a:rPr lang="en-ID" sz="1600" dirty="0"/>
              <a:t> </a:t>
            </a:r>
            <a:r>
              <a:rPr lang="en-ID" sz="1600" dirty="0" err="1"/>
              <a:t>potongan</a:t>
            </a:r>
            <a:r>
              <a:rPr lang="en-ID" sz="1600" dirty="0"/>
              <a:t>, </a:t>
            </a:r>
            <a:r>
              <a:rPr lang="en-ID" sz="1600" dirty="0" err="1"/>
              <a:t>dipakai</a:t>
            </a:r>
            <a:r>
              <a:rPr lang="en-ID" sz="1600" dirty="0"/>
              <a:t> </a:t>
            </a:r>
            <a:r>
              <a:rPr lang="en-ID" sz="1600" b="1" dirty="0"/>
              <a:t>overlap</a:t>
            </a:r>
            <a:r>
              <a:rPr lang="en-ID" sz="1600" dirty="0"/>
              <a:t> — </a:t>
            </a:r>
            <a:r>
              <a:rPr lang="en-ID" sz="1600" dirty="0" err="1"/>
              <a:t>sejumlah</a:t>
            </a:r>
            <a:r>
              <a:rPr lang="en-ID" sz="1600" dirty="0"/>
              <a:t> </a:t>
            </a:r>
            <a:r>
              <a:rPr lang="en-ID" sz="1600" dirty="0" err="1"/>
              <a:t>karakter</a:t>
            </a:r>
            <a:r>
              <a:rPr lang="en-ID" sz="1600" dirty="0"/>
              <a:t> yang </a:t>
            </a:r>
            <a:r>
              <a:rPr lang="en-ID" sz="1600" dirty="0" err="1"/>
              <a:t>sengaja</a:t>
            </a:r>
            <a:r>
              <a:rPr lang="en-ID" sz="1600" dirty="0"/>
              <a:t> </a:t>
            </a:r>
            <a:r>
              <a:rPr lang="en-ID" sz="1600" dirty="0" err="1"/>
              <a:t>diulang</a:t>
            </a:r>
            <a:r>
              <a:rPr lang="en-ID" sz="1600" dirty="0"/>
              <a:t> di </a:t>
            </a:r>
            <a:r>
              <a:rPr lang="en-ID" sz="1600" dirty="0" err="1"/>
              <a:t>awal</a:t>
            </a:r>
            <a:r>
              <a:rPr lang="en-ID" sz="1600" dirty="0"/>
              <a:t> chunk </a:t>
            </a:r>
            <a:r>
              <a:rPr lang="en-ID" sz="1600" dirty="0" err="1"/>
              <a:t>berikutnya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akhir</a:t>
            </a:r>
            <a:r>
              <a:rPr lang="en-ID" sz="1600" dirty="0"/>
              <a:t> chunk </a:t>
            </a:r>
            <a:r>
              <a:rPr lang="en-ID" sz="1600" dirty="0" err="1"/>
              <a:t>sebelumnya</a:t>
            </a:r>
            <a:r>
              <a:rPr lang="en-ID" sz="1600" dirty="0"/>
              <a:t>, </a:t>
            </a:r>
            <a:r>
              <a:rPr lang="en-ID" sz="1600" dirty="0" err="1"/>
              <a:t>memastikan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di garis </a:t>
            </a:r>
            <a:r>
              <a:rPr lang="en-ID" sz="1600" dirty="0" err="1"/>
              <a:t>sambung</a:t>
            </a:r>
            <a:r>
              <a:rPr lang="en-ID" sz="1600" dirty="0"/>
              <a:t> dua chunk </a:t>
            </a:r>
            <a:r>
              <a:rPr lang="en-ID" sz="1600" dirty="0" err="1"/>
              <a:t>tetap</a:t>
            </a:r>
            <a:r>
              <a:rPr lang="en-ID" sz="1600" dirty="0"/>
              <a:t> </a:t>
            </a:r>
            <a:r>
              <a:rPr lang="en-ID" sz="1600" dirty="0" err="1"/>
              <a:t>tersambung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BC75D4-0007-0651-6ABB-8462ACF9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451" y="1027906"/>
            <a:ext cx="574040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289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7B5A-2A6F-01FF-1EFA-5148AD87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E627-81D3-031B-EEE6-43549D75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Kenapa</a:t>
            </a:r>
            <a:r>
              <a:rPr lang="en-ID" b="1" dirty="0"/>
              <a:t> </a:t>
            </a:r>
            <a:r>
              <a:rPr lang="en-ID" b="1" dirty="0" err="1"/>
              <a:t>Dokumen</a:t>
            </a:r>
            <a:r>
              <a:rPr lang="en-ID" b="1" dirty="0"/>
              <a:t> </a:t>
            </a:r>
            <a:r>
              <a:rPr lang="en-ID" b="1" dirty="0" err="1"/>
              <a:t>Perlu</a:t>
            </a:r>
            <a:r>
              <a:rPr lang="en-ID" b="1" dirty="0"/>
              <a:t> Di-Chunk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C3B6E-F94A-EBE7-134C-9D842E3A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520825"/>
            <a:ext cx="5846492" cy="435133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Model </a:t>
            </a:r>
            <a:r>
              <a:rPr lang="en-ID" sz="1600" dirty="0" err="1"/>
              <a:t>bahasa</a:t>
            </a:r>
            <a:r>
              <a:rPr lang="en-ID" sz="1600" dirty="0"/>
              <a:t> (LLM) dan model embedding punya </a:t>
            </a:r>
            <a:r>
              <a:rPr lang="en-ID" sz="1600" dirty="0" err="1"/>
              <a:t>batasan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(</a:t>
            </a:r>
            <a:r>
              <a:rPr lang="en-ID" sz="1600" i="1" dirty="0"/>
              <a:t>context window</a:t>
            </a:r>
            <a:r>
              <a:rPr lang="en-ID" sz="1600" dirty="0"/>
              <a:t>) yang </a:t>
            </a:r>
            <a:r>
              <a:rPr lang="en-ID" sz="1600" dirty="0" err="1"/>
              <a:t>terbatas</a:t>
            </a:r>
            <a:r>
              <a:rPr lang="en-ID" sz="1600" dirty="0"/>
              <a:t>. </a:t>
            </a:r>
            <a:r>
              <a:rPr lang="en-ID" sz="1600" dirty="0" err="1"/>
              <a:t>Dokumen</a:t>
            </a:r>
            <a:r>
              <a:rPr lang="en-ID" sz="1600" dirty="0"/>
              <a:t> SOP </a:t>
            </a:r>
            <a:r>
              <a:rPr lang="en-ID" sz="1600" dirty="0" err="1"/>
              <a:t>sering</a:t>
            </a:r>
            <a:r>
              <a:rPr lang="en-ID" sz="1600" dirty="0"/>
              <a:t> kali </a:t>
            </a: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panjang</a:t>
            </a:r>
            <a:r>
              <a:rPr lang="en-ID" sz="1600" dirty="0"/>
              <a:t>.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dipecah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diproses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efektif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yang </a:t>
            </a:r>
            <a:r>
              <a:rPr lang="en-ID" sz="1600" dirty="0" err="1"/>
              <a:t>kurang</a:t>
            </a:r>
            <a:r>
              <a:rPr lang="en-ID" sz="1600" dirty="0"/>
              <a:t> </a:t>
            </a:r>
            <a:r>
              <a:rPr lang="en-ID" sz="1600" dirty="0" err="1"/>
              <a:t>relevan</a:t>
            </a:r>
            <a:r>
              <a:rPr lang="en-ID" sz="1600" dirty="0"/>
              <a:t> </a:t>
            </a:r>
            <a:r>
              <a:rPr lang="en-ID" sz="1600" dirty="0" err="1"/>
              <a:t>saat</a:t>
            </a:r>
            <a:r>
              <a:rPr lang="en-ID" sz="1600" dirty="0"/>
              <a:t> di-retrieve.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Dengan </a:t>
            </a:r>
            <a:r>
              <a:rPr lang="en-ID" sz="1600" b="1" dirty="0"/>
              <a:t>chunking</a:t>
            </a:r>
            <a:r>
              <a:rPr lang="en-ID" sz="1600" dirty="0"/>
              <a:t> (</a:t>
            </a:r>
            <a:r>
              <a:rPr lang="en-ID" sz="1600" dirty="0" err="1"/>
              <a:t>pemecahan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),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besar</a:t>
            </a:r>
            <a:r>
              <a:rPr lang="en-ID" sz="1600" dirty="0"/>
              <a:t> </a:t>
            </a:r>
            <a:r>
              <a:rPr lang="en-ID" sz="1600" dirty="0" err="1"/>
              <a:t>dibagi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potongan-potongan</a:t>
            </a:r>
            <a:r>
              <a:rPr lang="en-ID" sz="1600" dirty="0"/>
              <a:t> </a:t>
            </a:r>
            <a:r>
              <a:rPr lang="en-ID" sz="1600" dirty="0" err="1"/>
              <a:t>kecil</a:t>
            </a:r>
            <a:r>
              <a:rPr lang="en-ID" sz="1600" dirty="0"/>
              <a:t> yang </a:t>
            </a:r>
            <a:r>
              <a:rPr lang="en-ID" sz="1600" dirty="0" err="1"/>
              <a:t>tetap</a:t>
            </a:r>
            <a:r>
              <a:rPr lang="en-ID" sz="1600" dirty="0"/>
              <a:t> </a:t>
            </a:r>
            <a:r>
              <a:rPr lang="en-ID" sz="1600" dirty="0" err="1"/>
              <a:t>mempertahankan</a:t>
            </a:r>
            <a:r>
              <a:rPr lang="en-ID" sz="1600" dirty="0"/>
              <a:t> </a:t>
            </a:r>
            <a:r>
              <a:rPr lang="en-ID" sz="1600" dirty="0" err="1"/>
              <a:t>kohesi</a:t>
            </a:r>
            <a:r>
              <a:rPr lang="en-ID" sz="1600" dirty="0"/>
              <a:t> </a:t>
            </a:r>
            <a:r>
              <a:rPr lang="en-ID" sz="1600" dirty="0" err="1"/>
              <a:t>semantik</a:t>
            </a:r>
            <a:r>
              <a:rPr lang="en-ID" sz="1600" dirty="0"/>
              <a:t> — </a:t>
            </a: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kecil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diproses</a:t>
            </a:r>
            <a:r>
              <a:rPr lang="en-ID" sz="1600" dirty="0"/>
              <a:t> LLM, </a:t>
            </a: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besar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mempertahankan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dan </a:t>
            </a:r>
            <a:r>
              <a:rPr lang="en-ID" sz="1600" dirty="0" err="1"/>
              <a:t>makna</a:t>
            </a:r>
            <a:r>
              <a:rPr lang="en-ID" sz="1600" dirty="0"/>
              <a:t>. Ini </a:t>
            </a:r>
            <a:r>
              <a:rPr lang="en-ID" sz="1600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RAG </a:t>
            </a:r>
            <a:r>
              <a:rPr lang="en-ID" sz="1600" dirty="0" err="1"/>
              <a:t>menemukan</a:t>
            </a:r>
            <a:r>
              <a:rPr lang="en-ID" sz="1600" dirty="0"/>
              <a:t> dan </a:t>
            </a:r>
            <a:r>
              <a:rPr lang="en-ID" sz="1600" dirty="0" err="1"/>
              <a:t>mengambil</a:t>
            </a:r>
            <a:r>
              <a:rPr lang="en-ID" sz="1600" dirty="0"/>
              <a:t> </a:t>
            </a:r>
            <a:r>
              <a:rPr lang="en-ID" sz="1600" b="1" dirty="0" err="1"/>
              <a:t>hanya</a:t>
            </a:r>
            <a:r>
              <a:rPr lang="en-ID" sz="1600" b="1" dirty="0"/>
              <a:t> chunk yang </a:t>
            </a:r>
            <a:r>
              <a:rPr lang="en-ID" sz="1600" b="1" dirty="0" err="1"/>
              <a:t>relevan</a:t>
            </a:r>
            <a:r>
              <a:rPr lang="en-ID" sz="1600" dirty="0"/>
              <a:t> 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pertanyaan</a:t>
            </a:r>
            <a:r>
              <a:rPr lang="en-ID" sz="1600" dirty="0"/>
              <a:t>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sekaligus</a:t>
            </a:r>
            <a:r>
              <a:rPr lang="en-ID" sz="1600" dirty="0"/>
              <a:t>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DF0AEBF-05A6-8B12-9277-C2B8CB5A496F}"/>
              </a:ext>
            </a:extLst>
          </p:cNvPr>
          <p:cNvSpPr txBox="1">
            <a:spLocks/>
          </p:cNvSpPr>
          <p:nvPr/>
        </p:nvSpPr>
        <p:spPr>
          <a:xfrm>
            <a:off x="6345508" y="1520825"/>
            <a:ext cx="58464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D" sz="1600" b="1" dirty="0"/>
              <a:t>Strategi Chunking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b="1" dirty="0"/>
              <a:t>fixed-size chunking </a:t>
            </a:r>
            <a:r>
              <a:rPr lang="en-ID" sz="1600" b="1" dirty="0" err="1"/>
              <a:t>dengan</a:t>
            </a:r>
            <a:r>
              <a:rPr lang="en-ID" sz="1600" b="1" dirty="0"/>
              <a:t> overlap</a:t>
            </a:r>
            <a:r>
              <a:rPr lang="en-ID" sz="1600" dirty="0"/>
              <a:t> — </a:t>
            </a:r>
            <a:r>
              <a:rPr lang="en-ID" sz="1600" dirty="0" err="1"/>
              <a:t>memotong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jumlah</a:t>
            </a:r>
            <a:r>
              <a:rPr lang="en-ID" sz="1600" dirty="0"/>
              <a:t> </a:t>
            </a:r>
            <a:r>
              <a:rPr lang="en-ID" sz="1600" dirty="0" err="1"/>
              <a:t>karakter</a:t>
            </a:r>
            <a:r>
              <a:rPr lang="en-ID" sz="1600" dirty="0"/>
              <a:t> </a:t>
            </a:r>
            <a:r>
              <a:rPr lang="en-ID" sz="1600" dirty="0" err="1"/>
              <a:t>tetap</a:t>
            </a:r>
            <a:r>
              <a:rPr lang="en-ID" sz="1600" dirty="0"/>
              <a:t>,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karakter</a:t>
            </a:r>
            <a:r>
              <a:rPr lang="en-ID" sz="1600" dirty="0"/>
              <a:t> overlap </a:t>
            </a:r>
            <a:r>
              <a:rPr lang="en-ID" sz="1600" dirty="0" err="1"/>
              <a:t>antar</a:t>
            </a:r>
            <a:r>
              <a:rPr lang="en-ID" sz="1600" dirty="0"/>
              <a:t> chunk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mempertahankan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di batas-batas </a:t>
            </a:r>
            <a:r>
              <a:rPr lang="en-ID" sz="1600" dirty="0" err="1"/>
              <a:t>potongan</a:t>
            </a:r>
            <a:r>
              <a:rPr lang="en-ID" sz="16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b="1" dirty="0"/>
              <a:t>structure-aware chunking</a:t>
            </a:r>
            <a:r>
              <a:rPr lang="en-ID" sz="1600" dirty="0"/>
              <a:t> — </a:t>
            </a:r>
            <a:r>
              <a:rPr lang="en-ID" sz="1600" dirty="0" err="1"/>
              <a:t>pecah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 heading Markdown,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jumlah</a:t>
            </a:r>
            <a:r>
              <a:rPr lang="en-ID" sz="1600" dirty="0"/>
              <a:t> </a:t>
            </a:r>
            <a:r>
              <a:rPr lang="en-ID" sz="1600" dirty="0" err="1"/>
              <a:t>karakter</a:t>
            </a:r>
            <a:r>
              <a:rPr lang="en-ID" sz="1600" dirty="0"/>
              <a:t>. </a:t>
            </a:r>
            <a:r>
              <a:rPr lang="en-ID" sz="1600" dirty="0" err="1"/>
              <a:t>Tiap</a:t>
            </a:r>
            <a:r>
              <a:rPr lang="en-ID" sz="1600" dirty="0"/>
              <a:t> ## Bagian </a:t>
            </a:r>
            <a:r>
              <a:rPr lang="en-ID" sz="1600" dirty="0" err="1"/>
              <a:t>beserta</a:t>
            </a:r>
            <a:r>
              <a:rPr lang="en-ID" sz="1600" dirty="0"/>
              <a:t> </a:t>
            </a:r>
            <a:r>
              <a:rPr lang="en-ID" sz="1600" dirty="0" err="1"/>
              <a:t>isinya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chunk </a:t>
            </a:r>
            <a:r>
              <a:rPr lang="en-ID" sz="1600" dirty="0" err="1"/>
              <a:t>utuh</a:t>
            </a:r>
            <a:r>
              <a:rPr lang="en-ID" sz="1600" dirty="0"/>
              <a:t> (</a:t>
            </a:r>
            <a:r>
              <a:rPr lang="en-ID" sz="1600" dirty="0" err="1"/>
              <a:t>satu</a:t>
            </a:r>
            <a:r>
              <a:rPr lang="en-ID" sz="1600" dirty="0"/>
              <a:t> unit </a:t>
            </a:r>
            <a:r>
              <a:rPr lang="en-ID" sz="1600" dirty="0" err="1"/>
              <a:t>semantik</a:t>
            </a:r>
            <a:r>
              <a:rPr lang="en-ID" sz="1600" dirty="0"/>
              <a:t>).</a:t>
            </a:r>
            <a:endParaRPr lang="en-ID" sz="1600" b="1" dirty="0"/>
          </a:p>
        </p:txBody>
      </p:sp>
    </p:spTree>
    <p:extLst>
      <p:ext uri="{BB962C8B-B14F-4D97-AF65-F5344CB8AC3E}">
        <p14:creationId xmlns:p14="http://schemas.microsoft.com/office/powerpoint/2010/main" val="131258074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86308-5A41-7D8F-AED7-1909AF17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72F620-0F4A-9FF2-1088-15464E98E72E}"/>
              </a:ext>
            </a:extLst>
          </p:cNvPr>
          <p:cNvSpPr txBox="1"/>
          <p:nvPr/>
        </p:nvSpPr>
        <p:spPr>
          <a:xfrm>
            <a:off x="806774" y="1646103"/>
            <a:ext cx="68831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Update </a:t>
            </a:r>
            <a:r>
              <a:rPr lang="en-US" sz="5400" b="1" dirty="0" err="1">
                <a:solidFill>
                  <a:srgbClr val="085A76"/>
                </a:solidFill>
              </a:rPr>
              <a:t>Aplikasi</a:t>
            </a:r>
            <a:r>
              <a:rPr lang="en-US" sz="5400" b="1" dirty="0">
                <a:solidFill>
                  <a:srgbClr val="085A76"/>
                </a:solidFill>
              </a:rPr>
              <a:t> </a:t>
            </a:r>
            <a:r>
              <a:rPr lang="en-US" sz="5400" b="1" dirty="0" err="1">
                <a:solidFill>
                  <a:srgbClr val="085A76"/>
                </a:solidFill>
              </a:rPr>
              <a:t>dengan</a:t>
            </a:r>
            <a:r>
              <a:rPr lang="en-US" sz="5400" b="1" dirty="0">
                <a:solidFill>
                  <a:srgbClr val="085A76"/>
                </a:solidFill>
              </a:rPr>
              <a:t> Fitur Upload </a:t>
            </a:r>
            <a:r>
              <a:rPr lang="en-US" sz="5400" b="1" dirty="0" err="1">
                <a:solidFill>
                  <a:srgbClr val="085A76"/>
                </a:solidFill>
              </a:rPr>
              <a:t>Dokumen</a:t>
            </a:r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3183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9784-1486-8D28-3D93-1B378DDA1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pache Airflow - Wikipedia">
            <a:extLst>
              <a:ext uri="{FF2B5EF4-FFF2-40B4-BE49-F238E27FC236}">
                <a16:creationId xmlns:a16="http://schemas.microsoft.com/office/drawing/2014/main" id="{0B7275F6-0356-E347-E062-A3921B6E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215" y="1984451"/>
            <a:ext cx="6066534" cy="233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38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B63C-1135-391E-4234-6C272FC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7590-5AAF-067E-BFB3-E7D4771D2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Apache Airflow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9A354-28D5-CC80-6E65-73912A48F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6" y="1520825"/>
            <a:ext cx="11472229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Apache Airflow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 </a:t>
            </a:r>
            <a:r>
              <a:rPr lang="en-ID" sz="1600" b="1" dirty="0"/>
              <a:t>platform orchestration</a:t>
            </a:r>
            <a:r>
              <a:rPr lang="en-ID" sz="1600" dirty="0"/>
              <a:t> yang </a:t>
            </a:r>
            <a:r>
              <a:rPr lang="en-ID" sz="1600" dirty="0" err="1"/>
              <a:t>memungkinkan</a:t>
            </a:r>
            <a:r>
              <a:rPr lang="en-ID" sz="1600" dirty="0"/>
              <a:t> Anda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menjadwalkan</a:t>
            </a:r>
            <a:r>
              <a:rPr lang="en-ID" sz="1600" dirty="0"/>
              <a:t> dan </a:t>
            </a:r>
            <a:r>
              <a:rPr lang="en-ID" sz="1600" dirty="0" err="1"/>
              <a:t>menjalankan</a:t>
            </a:r>
            <a:r>
              <a:rPr lang="en-ID" sz="1600" dirty="0"/>
              <a:t> </a:t>
            </a:r>
            <a:r>
              <a:rPr lang="en-ID" sz="1600" b="1" dirty="0"/>
              <a:t>workflow</a:t>
            </a:r>
            <a:r>
              <a:rPr lang="en-ID" sz="1600" dirty="0"/>
              <a:t> (</a:t>
            </a:r>
            <a:r>
              <a:rPr lang="en-ID" sz="1600" dirty="0" err="1"/>
              <a:t>alur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 </a:t>
            </a:r>
            <a:r>
              <a:rPr lang="en-ID" sz="1600" dirty="0" err="1"/>
              <a:t>otomaatis</a:t>
            </a:r>
            <a:r>
              <a:rPr lang="en-ID" sz="1600" dirty="0"/>
              <a:t>)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terpusat</a:t>
            </a:r>
            <a:r>
              <a:rPr lang="en-ID" sz="1600" dirty="0"/>
              <a:t>, </a:t>
            </a:r>
            <a:r>
              <a:rPr lang="en-ID" sz="1600" dirty="0" err="1"/>
              <a:t>terukur</a:t>
            </a:r>
            <a:r>
              <a:rPr lang="en-ID" sz="1600" dirty="0"/>
              <a:t>, dan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dipantau</a:t>
            </a:r>
            <a:r>
              <a:rPr lang="en-ID" sz="1600" dirty="0"/>
              <a:t>.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D" sz="1600" b="1" dirty="0" err="1"/>
              <a:t>Analogi</a:t>
            </a:r>
            <a:r>
              <a:rPr lang="en-ID" sz="1600" b="1" dirty="0"/>
              <a:t> </a:t>
            </a:r>
            <a:r>
              <a:rPr lang="en-ID" sz="1600" b="1" dirty="0" err="1"/>
              <a:t>Sederhana</a:t>
            </a:r>
            <a:r>
              <a:rPr lang="en-ID" sz="1600" b="1" dirty="0"/>
              <a:t>:</a:t>
            </a:r>
            <a:endParaRPr lang="en-ID" sz="1600" dirty="0"/>
          </a:p>
          <a:p>
            <a:pPr>
              <a:lnSpc>
                <a:spcPct val="150000"/>
              </a:lnSpc>
            </a:pPr>
            <a:r>
              <a:rPr lang="en-ID" sz="1600" dirty="0" err="1"/>
              <a:t>Bayangkan</a:t>
            </a:r>
            <a:r>
              <a:rPr lang="en-ID" sz="1600" dirty="0"/>
              <a:t> Anda </a:t>
            </a:r>
            <a:r>
              <a:rPr lang="en-ID" sz="1600" dirty="0" err="1"/>
              <a:t>memiliki</a:t>
            </a:r>
            <a:r>
              <a:rPr lang="en-ID" sz="1600" dirty="0"/>
              <a:t> rutin </a:t>
            </a:r>
            <a:r>
              <a:rPr lang="en-ID" sz="1600" dirty="0" err="1"/>
              <a:t>pagi</a:t>
            </a:r>
            <a:r>
              <a:rPr lang="en-ID" sz="1600" dirty="0"/>
              <a:t>: </a:t>
            </a:r>
            <a:r>
              <a:rPr lang="en-ID" sz="1600" dirty="0" err="1"/>
              <a:t>bangun</a:t>
            </a:r>
            <a:r>
              <a:rPr lang="en-ID" sz="1600" dirty="0"/>
              <a:t> → mandi → </a:t>
            </a:r>
            <a:r>
              <a:rPr lang="en-ID" sz="1600" dirty="0" err="1"/>
              <a:t>sarapan</a:t>
            </a:r>
            <a:r>
              <a:rPr lang="en-ID" sz="1600" dirty="0"/>
              <a:t> → </a:t>
            </a:r>
            <a:r>
              <a:rPr lang="en-ID" sz="1600" dirty="0" err="1"/>
              <a:t>berangkat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kantor</a:t>
            </a:r>
            <a:r>
              <a:rPr lang="en-ID" sz="1600" dirty="0"/>
              <a:t>. Kalau </a:t>
            </a:r>
            <a:r>
              <a:rPr lang="en-ID" sz="1600" dirty="0" err="1"/>
              <a:t>dilakukan</a:t>
            </a:r>
            <a:r>
              <a:rPr lang="en-ID" sz="1600" dirty="0"/>
              <a:t> manual, Anda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mengingat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langkah</a:t>
            </a:r>
            <a:r>
              <a:rPr lang="en-ID" sz="1600" dirty="0"/>
              <a:t> dan </a:t>
            </a:r>
            <a:r>
              <a:rPr lang="en-ID" sz="1600" dirty="0" err="1"/>
              <a:t>kapan</a:t>
            </a:r>
            <a:r>
              <a:rPr lang="en-ID" sz="1600" dirty="0"/>
              <a:t> </a:t>
            </a:r>
            <a:r>
              <a:rPr lang="en-ID" sz="1600" dirty="0" err="1"/>
              <a:t>mengerjakannya</a:t>
            </a:r>
            <a:r>
              <a:rPr lang="en-ID" sz="1600" dirty="0"/>
              <a:t>. Tapi </a:t>
            </a:r>
            <a:r>
              <a:rPr lang="en-ID" sz="1600" dirty="0" err="1"/>
              <a:t>kalau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 </a:t>
            </a:r>
            <a:r>
              <a:rPr lang="en-ID" sz="1600" b="1" dirty="0"/>
              <a:t>alarm </a:t>
            </a:r>
            <a:r>
              <a:rPr lang="en-ID" sz="1600" b="1" dirty="0" err="1"/>
              <a:t>otomatis</a:t>
            </a:r>
            <a:r>
              <a:rPr lang="en-ID" sz="1600" b="1" dirty="0"/>
              <a:t> yang </a:t>
            </a:r>
            <a:r>
              <a:rPr lang="en-ID" sz="1600" b="1" dirty="0" err="1"/>
              <a:t>memicu</a:t>
            </a:r>
            <a:r>
              <a:rPr lang="en-ID" sz="1600" b="1" dirty="0"/>
              <a:t> </a:t>
            </a:r>
            <a:r>
              <a:rPr lang="en-ID" sz="1600" b="1" dirty="0" err="1"/>
              <a:t>setiap</a:t>
            </a:r>
            <a:r>
              <a:rPr lang="en-ID" sz="1600" b="1" dirty="0"/>
              <a:t> </a:t>
            </a:r>
            <a:r>
              <a:rPr lang="en-ID" sz="1600" b="1" dirty="0" err="1"/>
              <a:t>langkah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urutan</a:t>
            </a:r>
            <a:r>
              <a:rPr lang="en-ID" sz="1600" b="1" dirty="0"/>
              <a:t> yang </a:t>
            </a:r>
            <a:r>
              <a:rPr lang="en-ID" sz="1600" b="1" dirty="0" err="1"/>
              <a:t>benar</a:t>
            </a:r>
            <a:r>
              <a:rPr lang="en-ID" sz="1600" dirty="0"/>
              <a:t> — </a:t>
            </a:r>
            <a:r>
              <a:rPr lang="en-ID" sz="1600" dirty="0" err="1"/>
              <a:t>maka</a:t>
            </a:r>
            <a:r>
              <a:rPr lang="en-ID" sz="1600" dirty="0"/>
              <a:t> Anda </a:t>
            </a:r>
            <a:r>
              <a:rPr lang="en-ID" sz="1600" dirty="0" err="1"/>
              <a:t>tinggal</a:t>
            </a:r>
            <a:r>
              <a:rPr lang="en-ID" sz="1600" dirty="0"/>
              <a:t> </a:t>
            </a:r>
            <a:r>
              <a:rPr lang="en-ID" sz="1600" dirty="0" err="1"/>
              <a:t>ikuti</a:t>
            </a:r>
            <a:r>
              <a:rPr lang="en-ID" sz="1600" dirty="0"/>
              <a:t> </a:t>
            </a:r>
            <a:r>
              <a:rPr lang="en-ID" sz="1600" dirty="0" err="1"/>
              <a:t>saja</a:t>
            </a:r>
            <a:r>
              <a:rPr lang="en-ID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ID" sz="1600" b="1" dirty="0"/>
              <a:t>Airflow </a:t>
            </a:r>
            <a:r>
              <a:rPr lang="en-ID" sz="1600" b="1" dirty="0" err="1"/>
              <a:t>bekerja</a:t>
            </a:r>
            <a:r>
              <a:rPr lang="en-ID" sz="1600" b="1" dirty="0"/>
              <a:t> </a:t>
            </a:r>
            <a:r>
              <a:rPr lang="en-ID" sz="1600" b="1" dirty="0" err="1"/>
              <a:t>seperti</a:t>
            </a:r>
            <a:r>
              <a:rPr lang="en-ID" sz="1600" b="1" dirty="0"/>
              <a:t> </a:t>
            </a:r>
            <a:r>
              <a:rPr lang="en-ID" sz="1600" b="1" dirty="0" err="1"/>
              <a:t>sistem</a:t>
            </a:r>
            <a:r>
              <a:rPr lang="en-ID" sz="1600" b="1" dirty="0"/>
              <a:t> alarm </a:t>
            </a:r>
            <a:r>
              <a:rPr lang="en-ID" sz="1600" b="1" dirty="0" err="1"/>
              <a:t>ini</a:t>
            </a:r>
            <a:r>
              <a:rPr lang="en-ID" sz="1600" b="1" dirty="0"/>
              <a:t>:</a:t>
            </a:r>
            <a:r>
              <a:rPr lang="en-ID" sz="1600" dirty="0"/>
              <a:t> Airflow </a:t>
            </a:r>
            <a:r>
              <a:rPr lang="en-ID" sz="1600" dirty="0" err="1"/>
              <a:t>memungkinkan</a:t>
            </a:r>
            <a:r>
              <a:rPr lang="en-ID" sz="1600" dirty="0"/>
              <a:t> Anda </a:t>
            </a:r>
            <a:r>
              <a:rPr lang="en-ID" sz="1600" dirty="0" err="1"/>
              <a:t>mendefinisikan</a:t>
            </a:r>
            <a:r>
              <a:rPr lang="en-ID" sz="1600" dirty="0"/>
              <a:t> </a:t>
            </a:r>
            <a:r>
              <a:rPr lang="en-ID" sz="1600" dirty="0" err="1"/>
              <a:t>urutan</a:t>
            </a:r>
            <a:r>
              <a:rPr lang="en-ID" sz="1600" dirty="0"/>
              <a:t> </a:t>
            </a:r>
            <a:r>
              <a:rPr lang="en-ID" sz="1600" dirty="0" err="1"/>
              <a:t>tugas</a:t>
            </a:r>
            <a:r>
              <a:rPr lang="en-ID" sz="1600" dirty="0"/>
              <a:t> (tasks) yang </a:t>
            </a:r>
            <a:r>
              <a:rPr lang="en-ID" sz="1600" dirty="0" err="1"/>
              <a:t>disebut</a:t>
            </a:r>
            <a:r>
              <a:rPr lang="en-ID" sz="1600" dirty="0"/>
              <a:t> </a:t>
            </a:r>
            <a:r>
              <a:rPr lang="en-ID" sz="1600" b="1" dirty="0"/>
              <a:t>Directed Acyclic Graph (DAG)</a:t>
            </a:r>
            <a:r>
              <a:rPr lang="en-ID" sz="1600" dirty="0"/>
              <a:t>, </a:t>
            </a:r>
            <a:r>
              <a:rPr lang="en-ID" sz="1600" dirty="0" err="1"/>
              <a:t>lalu</a:t>
            </a:r>
            <a:r>
              <a:rPr lang="en-ID" sz="1600" dirty="0"/>
              <a:t> </a:t>
            </a:r>
            <a:r>
              <a:rPr lang="en-ID" sz="1600" dirty="0" err="1"/>
              <a:t>membiarkan</a:t>
            </a:r>
            <a:r>
              <a:rPr lang="en-ID" sz="1600" dirty="0"/>
              <a:t> Airflow </a:t>
            </a:r>
            <a:r>
              <a:rPr lang="en-ID" sz="1600" b="1" dirty="0" err="1"/>
              <a:t>otomatis</a:t>
            </a:r>
            <a:r>
              <a:rPr lang="en-ID" sz="1600" b="1" dirty="0"/>
              <a:t> </a:t>
            </a:r>
            <a:r>
              <a:rPr lang="en-ID" sz="1600" b="1" dirty="0" err="1"/>
              <a:t>menjalankan</a:t>
            </a:r>
            <a:r>
              <a:rPr lang="en-ID" sz="1600" b="1" dirty="0"/>
              <a:t> </a:t>
            </a:r>
            <a:r>
              <a:rPr lang="en-ID" sz="1600" b="1" dirty="0" err="1"/>
              <a:t>tugas-tugas</a:t>
            </a:r>
            <a:r>
              <a:rPr lang="en-ID" sz="1600" b="1" dirty="0"/>
              <a:t> </a:t>
            </a:r>
            <a:r>
              <a:rPr lang="en-ID" sz="1600" b="1" dirty="0" err="1"/>
              <a:t>tersebut</a:t>
            </a:r>
            <a:r>
              <a:rPr lang="en-ID" sz="1600" b="1" dirty="0"/>
              <a:t> </a:t>
            </a:r>
            <a:r>
              <a:rPr lang="en-ID" sz="1600" b="1" dirty="0" err="1"/>
              <a:t>sesuai</a:t>
            </a:r>
            <a:r>
              <a:rPr lang="en-ID" sz="1600" b="1" dirty="0"/>
              <a:t> </a:t>
            </a:r>
            <a:r>
              <a:rPr lang="en-ID" sz="1600" b="1" dirty="0" err="1"/>
              <a:t>jadwal</a:t>
            </a:r>
            <a:r>
              <a:rPr lang="en-ID" sz="1600" b="1" dirty="0"/>
              <a:t> yang </a:t>
            </a:r>
            <a:r>
              <a:rPr lang="en-ID" sz="1600" b="1" dirty="0" err="1"/>
              <a:t>ditentukan</a:t>
            </a:r>
            <a:r>
              <a:rPr lang="en-ID" sz="1600" dirty="0"/>
              <a:t>,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perlu</a:t>
            </a:r>
            <a:r>
              <a:rPr lang="en-ID" sz="1600" dirty="0"/>
              <a:t> </a:t>
            </a:r>
            <a:r>
              <a:rPr lang="en-ID" sz="1600" dirty="0" err="1"/>
              <a:t>intervensi</a:t>
            </a:r>
            <a:r>
              <a:rPr lang="en-ID" sz="1600" dirty="0"/>
              <a:t> manual </a:t>
            </a:r>
            <a:r>
              <a:rPr lang="en-ID" sz="1600" dirty="0" err="1"/>
              <a:t>setiap</a:t>
            </a:r>
            <a:r>
              <a:rPr lang="en-ID" sz="1600" dirty="0"/>
              <a:t> kali.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25209793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19DB-7911-485D-8D7E-E9D88383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2D7C2-880D-0147-117E-20B93AAC1959}"/>
              </a:ext>
            </a:extLst>
          </p:cNvPr>
          <p:cNvSpPr txBox="1"/>
          <p:nvPr/>
        </p:nvSpPr>
        <p:spPr>
          <a:xfrm>
            <a:off x="806774" y="1646103"/>
            <a:ext cx="68831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Hybrid Search &amp; </a:t>
            </a:r>
            <a:r>
              <a:rPr lang="en-US" sz="5400" b="1" dirty="0" err="1">
                <a:solidFill>
                  <a:srgbClr val="085A76"/>
                </a:solidFill>
              </a:rPr>
              <a:t>Evaluasi</a:t>
            </a:r>
            <a:r>
              <a:rPr lang="en-US" sz="5400" b="1" dirty="0">
                <a:solidFill>
                  <a:srgbClr val="085A76"/>
                </a:solidFill>
              </a:rPr>
              <a:t> RAG</a:t>
            </a: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6377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D62C-1A2C-8769-A8E4-1AABF5F36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95D8-4E4D-00FA-069A-8850C8A3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Kenapa</a:t>
            </a:r>
            <a:r>
              <a:rPr lang="en-ID" b="1" dirty="0"/>
              <a:t> Vector Search Murni Tidak </a:t>
            </a:r>
            <a:r>
              <a:rPr lang="en-ID" b="1" dirty="0" err="1"/>
              <a:t>Cukup</a:t>
            </a:r>
            <a:r>
              <a:rPr lang="en-ID" b="1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EE39C-FE5D-7AFA-0C6A-09B28DAAF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6" y="1520825"/>
            <a:ext cx="11472229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Vector search </a:t>
            </a:r>
            <a:r>
              <a:rPr lang="en-ID" sz="1600" dirty="0" err="1"/>
              <a:t>murni</a:t>
            </a:r>
            <a:r>
              <a:rPr lang="en-ID" sz="1600" dirty="0"/>
              <a:t> </a:t>
            </a:r>
            <a:r>
              <a:rPr lang="en-ID" sz="1600" dirty="0" err="1"/>
              <a:t>bagus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menangkap</a:t>
            </a:r>
            <a:r>
              <a:rPr lang="en-ID" sz="1600" dirty="0"/>
              <a:t> </a:t>
            </a:r>
            <a:r>
              <a:rPr lang="en-ID" sz="1600" dirty="0" err="1"/>
              <a:t>makna</a:t>
            </a:r>
            <a:r>
              <a:rPr lang="en-ID" sz="1600" dirty="0"/>
              <a:t> (</a:t>
            </a:r>
            <a:r>
              <a:rPr lang="en-ID" sz="1600" dirty="0" err="1"/>
              <a:t>nasabah</a:t>
            </a:r>
            <a:r>
              <a:rPr lang="en-ID" sz="1600" dirty="0"/>
              <a:t> </a:t>
            </a:r>
            <a:r>
              <a:rPr lang="en-ID" sz="1600" dirty="0" err="1"/>
              <a:t>bertanya</a:t>
            </a:r>
            <a:r>
              <a:rPr lang="en-ID" sz="1600" dirty="0"/>
              <a:t> "</a:t>
            </a:r>
            <a:r>
              <a:rPr lang="en-ID" sz="1600" dirty="0" err="1"/>
              <a:t>syarat</a:t>
            </a:r>
            <a:r>
              <a:rPr lang="en-ID" sz="1600" dirty="0"/>
              <a:t> </a:t>
            </a:r>
            <a:r>
              <a:rPr lang="en-ID" sz="1600" dirty="0" err="1"/>
              <a:t>kredit</a:t>
            </a:r>
            <a:r>
              <a:rPr lang="en-ID" sz="1600" dirty="0"/>
              <a:t>",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bicara</a:t>
            </a:r>
            <a:r>
              <a:rPr lang="en-ID" sz="1600" dirty="0"/>
              <a:t> "</a:t>
            </a:r>
            <a:r>
              <a:rPr lang="en-ID" sz="1600" dirty="0" err="1"/>
              <a:t>dokumen</a:t>
            </a:r>
            <a:r>
              <a:rPr lang="en-ID" sz="1600" dirty="0"/>
              <a:t> yang </a:t>
            </a:r>
            <a:r>
              <a:rPr lang="en-ID" sz="1600" dirty="0" err="1"/>
              <a:t>dibutuhkan</a:t>
            </a:r>
            <a:r>
              <a:rPr lang="en-ID" sz="1600" dirty="0"/>
              <a:t>" — </a:t>
            </a:r>
            <a:r>
              <a:rPr lang="en-ID" sz="1600" dirty="0" err="1"/>
              <a:t>beda</a:t>
            </a:r>
            <a:r>
              <a:rPr lang="en-ID" sz="1600" dirty="0"/>
              <a:t> kata, </a:t>
            </a:r>
            <a:r>
              <a:rPr lang="en-ID" sz="1600" dirty="0" err="1"/>
              <a:t>makna</a:t>
            </a:r>
            <a:r>
              <a:rPr lang="en-ID" sz="1600" dirty="0"/>
              <a:t> </a:t>
            </a:r>
            <a:r>
              <a:rPr lang="en-ID" sz="1600" dirty="0" err="1"/>
              <a:t>dekat</a:t>
            </a:r>
            <a:r>
              <a:rPr lang="en-ID" sz="1600" dirty="0"/>
              <a:t>), </a:t>
            </a:r>
            <a:r>
              <a:rPr lang="en-ID" sz="1600" dirty="0" err="1"/>
              <a:t>tapi</a:t>
            </a:r>
            <a:r>
              <a:rPr lang="en-ID" sz="1600" dirty="0"/>
              <a:t> </a:t>
            </a:r>
            <a:r>
              <a:rPr lang="en-ID" sz="1600" dirty="0" err="1"/>
              <a:t>lemah</a:t>
            </a:r>
            <a:r>
              <a:rPr lang="en-ID" sz="1600" dirty="0"/>
              <a:t> </a:t>
            </a:r>
            <a:r>
              <a:rPr lang="en-ID" sz="1600" dirty="0" err="1"/>
              <a:t>menangkap</a:t>
            </a:r>
            <a:r>
              <a:rPr lang="en-ID" sz="1600" dirty="0"/>
              <a:t> </a:t>
            </a:r>
            <a:r>
              <a:rPr lang="en-ID" sz="1600" dirty="0" err="1"/>
              <a:t>kecocokan</a:t>
            </a:r>
            <a:r>
              <a:rPr lang="en-ID" sz="1600" dirty="0"/>
              <a:t> kata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eksak</a:t>
            </a:r>
            <a:r>
              <a:rPr lang="en-ID" sz="1600" dirty="0"/>
              <a:t> — </a:t>
            </a:r>
            <a:r>
              <a:rPr lang="en-ID" sz="1600" dirty="0" err="1"/>
              <a:t>istilah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 "KTP", "NPWP", "slip </a:t>
            </a:r>
            <a:r>
              <a:rPr lang="en-ID" sz="1600" dirty="0" err="1"/>
              <a:t>gaji</a:t>
            </a:r>
            <a:r>
              <a:rPr lang="en-ID" sz="1600" dirty="0"/>
              <a:t>",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nomor</a:t>
            </a:r>
            <a:r>
              <a:rPr lang="en-ID" sz="1600" dirty="0"/>
              <a:t> SOP </a:t>
            </a:r>
            <a:r>
              <a:rPr lang="en-ID" sz="1600" dirty="0" err="1"/>
              <a:t>justru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ditangkap</a:t>
            </a:r>
            <a:r>
              <a:rPr lang="en-ID" sz="1600" dirty="0"/>
              <a:t> oleh </a:t>
            </a:r>
            <a:r>
              <a:rPr lang="en-ID" sz="1600" dirty="0" err="1"/>
              <a:t>pencarian</a:t>
            </a:r>
            <a:r>
              <a:rPr lang="en-ID" sz="1600" dirty="0"/>
              <a:t> lexical (keyword matching) </a:t>
            </a:r>
            <a:r>
              <a:rPr lang="en-ID" sz="1600" dirty="0" err="1"/>
              <a:t>klasik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 BM25. </a:t>
            </a:r>
            <a:r>
              <a:rPr lang="en-ID" sz="1600" dirty="0" err="1"/>
              <a:t>Kedua</a:t>
            </a:r>
            <a:r>
              <a:rPr lang="en-ID" sz="1600" dirty="0"/>
              <a:t> </a:t>
            </a:r>
            <a:r>
              <a:rPr lang="en-ID" sz="1600" dirty="0" err="1"/>
              <a:t>metode</a:t>
            </a:r>
            <a:r>
              <a:rPr lang="en-ID" sz="1600" dirty="0"/>
              <a:t> punya </a:t>
            </a:r>
            <a:r>
              <a:rPr lang="en-ID" sz="1600" dirty="0" err="1"/>
              <a:t>kelemahan</a:t>
            </a:r>
            <a:r>
              <a:rPr lang="en-ID" sz="1600" dirty="0"/>
              <a:t> yang </a:t>
            </a:r>
            <a:r>
              <a:rPr lang="en-ID" sz="1600" dirty="0" err="1"/>
              <a:t>saling</a:t>
            </a:r>
            <a:r>
              <a:rPr lang="en-ID" sz="1600" dirty="0"/>
              <a:t> </a:t>
            </a:r>
            <a:r>
              <a:rPr lang="en-ID" sz="1600" dirty="0" err="1"/>
              <a:t>melengkapi</a:t>
            </a:r>
            <a:r>
              <a:rPr lang="en-ID" sz="1600" dirty="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19914E-F123-9BAE-3AD5-51FA9003B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3185407"/>
            <a:ext cx="10854200" cy="24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5357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237D-EB94-A965-0FCC-043DC2E5C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26EB-8F6A-AC8A-0018-F46D3926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BM25?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911B3-BFD5-2B45-A897-4A04081A3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6" y="1520825"/>
            <a:ext cx="11472229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400" b="1" dirty="0"/>
              <a:t>BM25</a:t>
            </a:r>
            <a:r>
              <a:rPr lang="en-ID" sz="1400" dirty="0"/>
              <a:t> (</a:t>
            </a:r>
            <a:r>
              <a:rPr lang="en-ID" sz="1400" dirty="0" err="1"/>
              <a:t>singkatan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 </a:t>
            </a:r>
            <a:r>
              <a:rPr lang="en-ID" sz="1400" i="1" dirty="0"/>
              <a:t>Best Matching 25</a:t>
            </a:r>
            <a:r>
              <a:rPr lang="en-ID" sz="1400" dirty="0"/>
              <a:t> — </a:t>
            </a:r>
            <a:r>
              <a:rPr lang="en-ID" sz="1400" dirty="0" err="1"/>
              <a:t>versi</a:t>
            </a:r>
            <a:r>
              <a:rPr lang="en-ID" sz="1400" dirty="0"/>
              <a:t> ke-25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rumus</a:t>
            </a:r>
            <a:r>
              <a:rPr lang="en-ID" sz="1400" dirty="0"/>
              <a:t> yang </a:t>
            </a:r>
            <a:r>
              <a:rPr lang="en-ID" sz="1400" dirty="0" err="1"/>
              <a:t>dikembangkan</a:t>
            </a:r>
            <a:r>
              <a:rPr lang="en-ID" sz="1400" dirty="0"/>
              <a:t> </a:t>
            </a:r>
            <a:r>
              <a:rPr lang="en-ID" sz="1400" dirty="0" err="1"/>
              <a:t>tim</a:t>
            </a:r>
            <a:r>
              <a:rPr lang="en-ID" sz="1400" dirty="0"/>
              <a:t> </a:t>
            </a:r>
            <a:r>
              <a:rPr lang="en-ID" sz="1400" dirty="0" err="1"/>
              <a:t>riset</a:t>
            </a:r>
            <a:r>
              <a:rPr lang="en-ID" sz="1400" dirty="0"/>
              <a:t> </a:t>
            </a:r>
            <a:r>
              <a:rPr lang="en-ID" sz="1400" i="1" dirty="0"/>
              <a:t>information retrieval</a:t>
            </a:r>
            <a:r>
              <a:rPr lang="en-ID" sz="1400" dirty="0"/>
              <a:t> </a:t>
            </a:r>
            <a:r>
              <a:rPr lang="en-ID" sz="1400" dirty="0" err="1"/>
              <a:t>mulai</a:t>
            </a:r>
            <a:r>
              <a:rPr lang="en-ID" sz="1400" dirty="0"/>
              <a:t> era 1970-1990an)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algoritma</a:t>
            </a:r>
            <a:r>
              <a:rPr lang="en-ID" sz="1400" dirty="0"/>
              <a:t> scoring </a:t>
            </a:r>
            <a:r>
              <a:rPr lang="en-ID" sz="1400" dirty="0" err="1"/>
              <a:t>standar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pencarian</a:t>
            </a:r>
            <a:r>
              <a:rPr lang="en-ID" sz="1400" dirty="0"/>
              <a:t> </a:t>
            </a:r>
            <a:r>
              <a:rPr lang="en-ID" sz="1400" dirty="0" err="1"/>
              <a:t>berbasis</a:t>
            </a:r>
            <a:r>
              <a:rPr lang="en-ID" sz="1400" dirty="0"/>
              <a:t> kata </a:t>
            </a:r>
            <a:r>
              <a:rPr lang="en-ID" sz="1400" dirty="0" err="1"/>
              <a:t>kunci</a:t>
            </a:r>
            <a:r>
              <a:rPr lang="en-ID" sz="1400" dirty="0"/>
              <a:t>, </a:t>
            </a:r>
            <a:r>
              <a:rPr lang="en-ID" sz="1400" dirty="0" err="1"/>
              <a:t>dipakai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default oleh </a:t>
            </a:r>
            <a:r>
              <a:rPr lang="en-ID" sz="1400" dirty="0" err="1"/>
              <a:t>hampir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 search engine modern </a:t>
            </a:r>
            <a:r>
              <a:rPr lang="en-ID" sz="1400" dirty="0" err="1"/>
              <a:t>berbasis</a:t>
            </a:r>
            <a:r>
              <a:rPr lang="en-ID" sz="1400" dirty="0"/>
              <a:t> Lucene — </a:t>
            </a:r>
            <a:r>
              <a:rPr lang="en-ID" sz="1400" dirty="0" err="1"/>
              <a:t>termasuk</a:t>
            </a:r>
            <a:r>
              <a:rPr lang="en-ID" sz="1400" dirty="0"/>
              <a:t> OpenSearch dan Elasticsearch. </a:t>
            </a:r>
            <a:r>
              <a:rPr lang="en-ID" sz="1400" dirty="0" err="1"/>
              <a:t>Intuisinya</a:t>
            </a:r>
            <a:r>
              <a:rPr lang="en-ID" sz="1400" dirty="0"/>
              <a:t> </a:t>
            </a:r>
            <a:r>
              <a:rPr lang="en-ID" sz="1400" dirty="0" err="1"/>
              <a:t>sederhana</a:t>
            </a:r>
            <a:r>
              <a:rPr lang="en-ID" sz="1400" dirty="0"/>
              <a:t>: </a:t>
            </a:r>
            <a:r>
              <a:rPr lang="en-ID" sz="1400" dirty="0" err="1"/>
              <a:t>dokumen</a:t>
            </a:r>
            <a:r>
              <a:rPr lang="en-ID" sz="1400" dirty="0"/>
              <a:t> yang </a:t>
            </a:r>
            <a:r>
              <a:rPr lang="en-ID" sz="1400" b="1" dirty="0" err="1"/>
              <a:t>lebih</a:t>
            </a:r>
            <a:r>
              <a:rPr lang="en-ID" sz="1400" b="1" dirty="0"/>
              <a:t> </a:t>
            </a:r>
            <a:r>
              <a:rPr lang="en-ID" sz="1400" b="1" dirty="0" err="1"/>
              <a:t>sering</a:t>
            </a:r>
            <a:r>
              <a:rPr lang="en-ID" sz="1400" b="1" dirty="0"/>
              <a:t> </a:t>
            </a:r>
            <a:r>
              <a:rPr lang="en-ID" sz="1400" b="1" dirty="0" err="1"/>
              <a:t>menyebut</a:t>
            </a:r>
            <a:r>
              <a:rPr lang="en-ID" sz="1400" b="1" dirty="0"/>
              <a:t> kata-kata </a:t>
            </a:r>
            <a:r>
              <a:rPr lang="en-ID" sz="1400" b="1" dirty="0" err="1"/>
              <a:t>dari</a:t>
            </a:r>
            <a:r>
              <a:rPr lang="en-ID" sz="1400" b="1" dirty="0"/>
              <a:t> query</a:t>
            </a:r>
            <a:r>
              <a:rPr lang="en-ID" sz="1400" dirty="0"/>
              <a:t>, </a:t>
            </a:r>
            <a:r>
              <a:rPr lang="en-ID" sz="1400" dirty="0" err="1"/>
              <a:t>terutama</a:t>
            </a:r>
            <a:r>
              <a:rPr lang="en-ID" sz="1400" dirty="0"/>
              <a:t> kata-kata yang </a:t>
            </a:r>
            <a:r>
              <a:rPr lang="en-ID" sz="1400" b="1" dirty="0" err="1"/>
              <a:t>jarang</a:t>
            </a:r>
            <a:r>
              <a:rPr lang="en-ID" sz="1400" b="1" dirty="0"/>
              <a:t> </a:t>
            </a:r>
            <a:r>
              <a:rPr lang="en-ID" sz="1400" b="1" dirty="0" err="1"/>
              <a:t>muncul</a:t>
            </a:r>
            <a:r>
              <a:rPr lang="en-ID" sz="1400" dirty="0"/>
              <a:t> di </a:t>
            </a:r>
            <a:r>
              <a:rPr lang="en-ID" sz="1400" dirty="0" err="1"/>
              <a:t>seluruh</a:t>
            </a:r>
            <a:r>
              <a:rPr lang="en-ID" sz="1400" dirty="0"/>
              <a:t> </a:t>
            </a:r>
            <a:r>
              <a:rPr lang="en-ID" sz="1400" dirty="0" err="1"/>
              <a:t>koleksi</a:t>
            </a:r>
            <a:r>
              <a:rPr lang="en-ID" sz="1400" dirty="0"/>
              <a:t> </a:t>
            </a:r>
            <a:r>
              <a:rPr lang="en-ID" sz="1400" dirty="0" err="1"/>
              <a:t>dokumen</a:t>
            </a:r>
            <a:r>
              <a:rPr lang="en-ID" sz="1400" dirty="0"/>
              <a:t> (</a:t>
            </a:r>
            <a:r>
              <a:rPr lang="en-ID" sz="1400" dirty="0" err="1"/>
              <a:t>makanya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"</a:t>
            </a:r>
            <a:r>
              <a:rPr lang="en-ID" sz="1400" dirty="0" err="1"/>
              <a:t>khas</a:t>
            </a:r>
            <a:r>
              <a:rPr lang="en-ID" sz="1400" dirty="0"/>
              <a:t>"/</a:t>
            </a:r>
            <a:r>
              <a:rPr lang="en-ID" sz="1400" dirty="0" err="1"/>
              <a:t>informatif</a:t>
            </a:r>
            <a:r>
              <a:rPr lang="en-ID" sz="1400" dirty="0"/>
              <a:t> </a:t>
            </a:r>
            <a:r>
              <a:rPr lang="en-ID" sz="1400" dirty="0" err="1"/>
              <a:t>kalau</a:t>
            </a:r>
            <a:r>
              <a:rPr lang="en-ID" sz="1400" dirty="0"/>
              <a:t> </a:t>
            </a:r>
            <a:r>
              <a:rPr lang="en-ID" sz="1400" dirty="0" err="1"/>
              <a:t>sampai</a:t>
            </a:r>
            <a:r>
              <a:rPr lang="en-ID" sz="1400" dirty="0"/>
              <a:t> </a:t>
            </a:r>
            <a:r>
              <a:rPr lang="en-ID" sz="1400" dirty="0" err="1"/>
              <a:t>cocok</a:t>
            </a:r>
            <a:r>
              <a:rPr lang="en-ID" sz="1400" dirty="0"/>
              <a:t>), </a:t>
            </a:r>
            <a:r>
              <a:rPr lang="en-ID" sz="1400" dirty="0" err="1"/>
              <a:t>mendapat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tinggi</a:t>
            </a:r>
            <a:r>
              <a:rPr lang="en-ID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D" sz="1400" dirty="0"/>
              <a:t>Tiga </a:t>
            </a:r>
            <a:r>
              <a:rPr lang="en-ID" sz="1400" dirty="0" err="1"/>
              <a:t>komponen</a:t>
            </a:r>
            <a:r>
              <a:rPr lang="en-ID" sz="1400" dirty="0"/>
              <a:t> yang </a:t>
            </a:r>
            <a:r>
              <a:rPr lang="en-ID" sz="1400" dirty="0" err="1"/>
              <a:t>menyusun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BM25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dokumen</a:t>
            </a:r>
            <a:r>
              <a:rPr lang="en-ID" sz="1400" dirty="0"/>
              <a:t> </a:t>
            </a:r>
            <a:r>
              <a:rPr lang="en-ID" sz="1400" dirty="0" err="1"/>
              <a:t>relatif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query:</a:t>
            </a:r>
          </a:p>
          <a:p>
            <a:pPr lvl="0">
              <a:lnSpc>
                <a:spcPct val="150000"/>
              </a:lnSpc>
            </a:pPr>
            <a:r>
              <a:rPr lang="en-ID" sz="1400" b="1" dirty="0"/>
              <a:t>Term Frequency (TF)</a:t>
            </a:r>
            <a:r>
              <a:rPr lang="en-ID" sz="1400" dirty="0"/>
              <a:t> — </a:t>
            </a:r>
            <a:r>
              <a:rPr lang="en-ID" sz="1400" dirty="0" err="1"/>
              <a:t>seberapa</a:t>
            </a:r>
            <a:r>
              <a:rPr lang="en-ID" sz="1400" dirty="0"/>
              <a:t> </a:t>
            </a:r>
            <a:r>
              <a:rPr lang="en-ID" sz="1400" dirty="0" err="1"/>
              <a:t>sering</a:t>
            </a:r>
            <a:r>
              <a:rPr lang="en-ID" sz="1400" dirty="0"/>
              <a:t> </a:t>
            </a:r>
            <a:r>
              <a:rPr lang="en-ID" sz="1400" dirty="0" err="1"/>
              <a:t>tiap</a:t>
            </a:r>
            <a:r>
              <a:rPr lang="en-ID" sz="1400" dirty="0"/>
              <a:t> kata query </a:t>
            </a:r>
            <a:r>
              <a:rPr lang="en-ID" sz="1400" dirty="0" err="1"/>
              <a:t>muncul</a:t>
            </a:r>
            <a:r>
              <a:rPr lang="en-ID" sz="1400" dirty="0"/>
              <a:t> di </a:t>
            </a:r>
            <a:r>
              <a:rPr lang="en-ID" sz="1400" dirty="0" err="1"/>
              <a:t>dokumen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. Makin </a:t>
            </a:r>
            <a:r>
              <a:rPr lang="en-ID" sz="1400" dirty="0" err="1"/>
              <a:t>sering</a:t>
            </a:r>
            <a:r>
              <a:rPr lang="en-ID" sz="1400" dirty="0"/>
              <a:t>, </a:t>
            </a:r>
            <a:r>
              <a:rPr lang="en-ID" sz="1400" dirty="0" err="1"/>
              <a:t>skor</a:t>
            </a:r>
            <a:r>
              <a:rPr lang="en-ID" sz="1400" dirty="0"/>
              <a:t> </a:t>
            </a:r>
            <a:r>
              <a:rPr lang="en-ID" sz="1400" dirty="0" err="1"/>
              <a:t>makin</a:t>
            </a:r>
            <a:r>
              <a:rPr lang="en-ID" sz="1400" dirty="0"/>
              <a:t> </a:t>
            </a:r>
            <a:r>
              <a:rPr lang="en-ID" sz="1400" dirty="0" err="1"/>
              <a:t>tinggi</a:t>
            </a:r>
            <a:r>
              <a:rPr lang="en-ID" sz="1400" dirty="0"/>
              <a:t>, </a:t>
            </a:r>
            <a:r>
              <a:rPr lang="en-ID" sz="1400" dirty="0" err="1"/>
              <a:t>tapi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efek</a:t>
            </a:r>
            <a:r>
              <a:rPr lang="en-ID" sz="1400" dirty="0"/>
              <a:t> </a:t>
            </a:r>
            <a:r>
              <a:rPr lang="en-ID" sz="1400" dirty="0" err="1"/>
              <a:t>jenuh</a:t>
            </a:r>
            <a:r>
              <a:rPr lang="en-ID" sz="1400" dirty="0"/>
              <a:t> (</a:t>
            </a:r>
            <a:r>
              <a:rPr lang="en-ID" sz="1400" i="1" dirty="0"/>
              <a:t>saturating</a:t>
            </a:r>
            <a:r>
              <a:rPr lang="en-ID" sz="1400" dirty="0"/>
              <a:t>): kata yang </a:t>
            </a:r>
            <a:r>
              <a:rPr lang="en-ID" sz="1400" dirty="0" err="1"/>
              <a:t>muncul</a:t>
            </a:r>
            <a:r>
              <a:rPr lang="en-ID" sz="1400" dirty="0"/>
              <a:t> 10 kali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otomatis</a:t>
            </a:r>
            <a:r>
              <a:rPr lang="en-ID" sz="1400" dirty="0"/>
              <a:t> </a:t>
            </a:r>
            <a:r>
              <a:rPr lang="en-ID" sz="1400" dirty="0" err="1"/>
              <a:t>dianggap</a:t>
            </a:r>
            <a:r>
              <a:rPr lang="en-ID" sz="1400" dirty="0"/>
              <a:t> 10×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relevan</a:t>
            </a:r>
            <a:r>
              <a:rPr lang="en-ID" sz="1400" dirty="0"/>
              <a:t> </a:t>
            </a:r>
            <a:r>
              <a:rPr lang="en-ID" sz="1400" dirty="0" err="1"/>
              <a:t>daripada</a:t>
            </a:r>
            <a:r>
              <a:rPr lang="en-ID" sz="1400" dirty="0"/>
              <a:t> yang </a:t>
            </a:r>
            <a:r>
              <a:rPr lang="en-ID" sz="1400" dirty="0" err="1"/>
              <a:t>muncul</a:t>
            </a:r>
            <a:r>
              <a:rPr lang="en-ID" sz="1400" dirty="0"/>
              <a:t> </a:t>
            </a:r>
            <a:r>
              <a:rPr lang="en-ID" sz="1400" dirty="0" err="1"/>
              <a:t>sekali</a:t>
            </a:r>
            <a:r>
              <a:rPr lang="en-ID" sz="1400" dirty="0"/>
              <a:t> — </a:t>
            </a:r>
            <a:r>
              <a:rPr lang="en-ID" sz="1400" dirty="0" err="1"/>
              <a:t>ada</a:t>
            </a:r>
            <a:r>
              <a:rPr lang="en-ID" sz="1400" dirty="0"/>
              <a:t> </a:t>
            </a:r>
            <a:r>
              <a:rPr lang="en-ID" sz="1400" dirty="0" err="1"/>
              <a:t>titik</a:t>
            </a:r>
            <a:r>
              <a:rPr lang="en-ID" sz="1400" dirty="0"/>
              <a:t> di mana </a:t>
            </a:r>
            <a:r>
              <a:rPr lang="en-ID" sz="1400" dirty="0" err="1"/>
              <a:t>pengulangan</a:t>
            </a:r>
            <a:r>
              <a:rPr lang="en-ID" sz="1400" dirty="0"/>
              <a:t> </a:t>
            </a:r>
            <a:r>
              <a:rPr lang="en-ID" sz="1400" dirty="0" err="1"/>
              <a:t>tambahan</a:t>
            </a:r>
            <a:r>
              <a:rPr lang="en-ID" sz="1400" dirty="0"/>
              <a:t> </a:t>
            </a:r>
            <a:r>
              <a:rPr lang="en-ID" sz="1400" dirty="0" err="1"/>
              <a:t>berhenti</a:t>
            </a:r>
            <a:r>
              <a:rPr lang="en-ID" sz="1400" dirty="0"/>
              <a:t> </a:t>
            </a:r>
            <a:r>
              <a:rPr lang="en-ID" sz="1400" dirty="0" err="1"/>
              <a:t>menaikkan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linear.</a:t>
            </a:r>
          </a:p>
          <a:p>
            <a:pPr lvl="0">
              <a:lnSpc>
                <a:spcPct val="150000"/>
              </a:lnSpc>
            </a:pPr>
            <a:r>
              <a:rPr lang="en-ID" sz="1400" b="1" dirty="0"/>
              <a:t>Inverse Document Frequency (IDF)</a:t>
            </a:r>
            <a:r>
              <a:rPr lang="en-ID" sz="1400" dirty="0"/>
              <a:t> — </a:t>
            </a:r>
            <a:r>
              <a:rPr lang="en-ID" sz="1400" dirty="0" err="1"/>
              <a:t>seberapa</a:t>
            </a:r>
            <a:r>
              <a:rPr lang="en-ID" sz="1400" dirty="0"/>
              <a:t> </a:t>
            </a:r>
            <a:r>
              <a:rPr lang="en-ID" sz="1400" b="1" dirty="0" err="1"/>
              <a:t>jarang</a:t>
            </a:r>
            <a:r>
              <a:rPr lang="en-ID" sz="1400" dirty="0"/>
              <a:t> kata </a:t>
            </a:r>
            <a:r>
              <a:rPr lang="en-ID" sz="1400" dirty="0" err="1"/>
              <a:t>itu</a:t>
            </a:r>
            <a:r>
              <a:rPr lang="en-ID" sz="1400" dirty="0"/>
              <a:t> </a:t>
            </a:r>
            <a:r>
              <a:rPr lang="en-ID" sz="1400" dirty="0" err="1"/>
              <a:t>muncul</a:t>
            </a:r>
            <a:r>
              <a:rPr lang="en-ID" sz="1400" dirty="0"/>
              <a:t> di </a:t>
            </a:r>
            <a:r>
              <a:rPr lang="en-ID" sz="1400" dirty="0" err="1"/>
              <a:t>seluruh</a:t>
            </a:r>
            <a:r>
              <a:rPr lang="en-ID" sz="1400" dirty="0"/>
              <a:t> index. Kata </a:t>
            </a:r>
            <a:r>
              <a:rPr lang="en-ID" sz="1400" dirty="0" err="1"/>
              <a:t>umum</a:t>
            </a:r>
            <a:r>
              <a:rPr lang="en-ID" sz="1400" dirty="0"/>
              <a:t> </a:t>
            </a:r>
            <a:r>
              <a:rPr lang="en-ID" sz="1400" dirty="0" err="1"/>
              <a:t>seperti</a:t>
            </a:r>
            <a:r>
              <a:rPr lang="en-ID" sz="1400" dirty="0"/>
              <a:t> "dan", "yang", "</a:t>
            </a:r>
            <a:r>
              <a:rPr lang="en-ID" sz="1400" dirty="0" err="1"/>
              <a:t>untuk</a:t>
            </a:r>
            <a:r>
              <a:rPr lang="en-ID" sz="1400" dirty="0"/>
              <a:t>" </a:t>
            </a:r>
            <a:r>
              <a:rPr lang="en-ID" sz="1400" dirty="0" err="1"/>
              <a:t>muncul</a:t>
            </a:r>
            <a:r>
              <a:rPr lang="en-ID" sz="1400" dirty="0"/>
              <a:t> di </a:t>
            </a:r>
            <a:r>
              <a:rPr lang="en-ID" sz="1400" dirty="0" err="1"/>
              <a:t>hampir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dirty="0" err="1"/>
              <a:t>dokumen</a:t>
            </a:r>
            <a:r>
              <a:rPr lang="en-ID" sz="1400" dirty="0"/>
              <a:t>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kontribusinya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skor</a:t>
            </a:r>
            <a:r>
              <a:rPr lang="en-ID" sz="1400" dirty="0"/>
              <a:t> </a:t>
            </a:r>
            <a:r>
              <a:rPr lang="en-ID" sz="1400" dirty="0" err="1"/>
              <a:t>kecil</a:t>
            </a:r>
            <a:r>
              <a:rPr lang="en-ID" sz="1400" dirty="0"/>
              <a:t>. Kata </a:t>
            </a:r>
            <a:r>
              <a:rPr lang="en-ID" sz="1400" dirty="0" err="1"/>
              <a:t>spesifik</a:t>
            </a:r>
            <a:r>
              <a:rPr lang="en-ID" sz="1400" dirty="0"/>
              <a:t> </a:t>
            </a:r>
            <a:r>
              <a:rPr lang="en-ID" sz="1400" dirty="0" err="1"/>
              <a:t>seperti</a:t>
            </a:r>
            <a:r>
              <a:rPr lang="en-ID" sz="1400" dirty="0"/>
              <a:t> "NPWP" </a:t>
            </a:r>
            <a:r>
              <a:rPr lang="en-ID" sz="1400" dirty="0" err="1"/>
              <a:t>atau</a:t>
            </a:r>
            <a:r>
              <a:rPr lang="en-ID" sz="1400" dirty="0"/>
              <a:t> "</a:t>
            </a:r>
            <a:r>
              <a:rPr lang="en-ID" sz="1400" dirty="0" err="1"/>
              <a:t>perorangan</a:t>
            </a:r>
            <a:r>
              <a:rPr lang="en-ID" sz="1400" dirty="0"/>
              <a:t>", yang </a:t>
            </a:r>
            <a:r>
              <a:rPr lang="en-ID" sz="1400" dirty="0" err="1"/>
              <a:t>cuma</a:t>
            </a:r>
            <a:r>
              <a:rPr lang="en-ID" sz="1400" dirty="0"/>
              <a:t> </a:t>
            </a:r>
            <a:r>
              <a:rPr lang="en-ID" sz="1400" dirty="0" err="1"/>
              <a:t>muncul</a:t>
            </a:r>
            <a:r>
              <a:rPr lang="en-ID" sz="1400" dirty="0"/>
              <a:t> di </a:t>
            </a:r>
            <a:r>
              <a:rPr lang="en-ID" sz="1400" dirty="0" err="1"/>
              <a:t>segelintir</a:t>
            </a:r>
            <a:r>
              <a:rPr lang="en-ID" sz="1400" dirty="0"/>
              <a:t> chunk, punya IDF </a:t>
            </a:r>
            <a:r>
              <a:rPr lang="en-ID" sz="1400" dirty="0" err="1"/>
              <a:t>tinggi</a:t>
            </a:r>
            <a:r>
              <a:rPr lang="en-ID" sz="1400" dirty="0"/>
              <a:t> — </a:t>
            </a:r>
            <a:r>
              <a:rPr lang="en-ID" sz="1400" dirty="0" err="1"/>
              <a:t>kecocokan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kata </a:t>
            </a:r>
            <a:r>
              <a:rPr lang="en-ID" sz="1400" dirty="0" err="1"/>
              <a:t>semacam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jauh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bermakna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statistik</a:t>
            </a:r>
            <a:r>
              <a:rPr lang="en-ID" sz="1400" dirty="0"/>
              <a:t>.</a:t>
            </a:r>
          </a:p>
          <a:p>
            <a:pPr lvl="0">
              <a:lnSpc>
                <a:spcPct val="150000"/>
              </a:lnSpc>
            </a:pPr>
            <a:r>
              <a:rPr lang="en-ID" sz="1400" b="1" dirty="0"/>
              <a:t>Length normalization</a:t>
            </a:r>
            <a:r>
              <a:rPr lang="en-ID" sz="1400" dirty="0"/>
              <a:t> — </a:t>
            </a:r>
            <a:r>
              <a:rPr lang="en-ID" sz="1400" dirty="0" err="1"/>
              <a:t>dokumen</a:t>
            </a:r>
            <a:r>
              <a:rPr lang="en-ID" sz="1400" dirty="0"/>
              <a:t> yang </a:t>
            </a:r>
            <a:r>
              <a:rPr lang="en-ID" sz="1400" dirty="0" err="1"/>
              <a:t>jauh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panjang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rata-rata index </a:t>
            </a:r>
            <a:r>
              <a:rPr lang="en-ID" sz="1400" dirty="0" err="1"/>
              <a:t>dikenai</a:t>
            </a:r>
            <a:r>
              <a:rPr lang="en-ID" sz="1400" dirty="0"/>
              <a:t> </a:t>
            </a:r>
            <a:r>
              <a:rPr lang="en-ID" sz="1400" dirty="0" err="1"/>
              <a:t>penalti</a:t>
            </a:r>
            <a:r>
              <a:rPr lang="en-ID" sz="1400" dirty="0"/>
              <a:t> </a:t>
            </a:r>
            <a:r>
              <a:rPr lang="en-ID" sz="1400" dirty="0" err="1"/>
              <a:t>ringan</a:t>
            </a:r>
            <a:r>
              <a:rPr lang="en-ID" sz="1400" dirty="0"/>
              <a:t>, </a:t>
            </a:r>
            <a:r>
              <a:rPr lang="en-ID" sz="1400" dirty="0" err="1"/>
              <a:t>supaya</a:t>
            </a:r>
            <a:r>
              <a:rPr lang="en-ID" sz="1400" dirty="0"/>
              <a:t> </a:t>
            </a:r>
            <a:r>
              <a:rPr lang="en-ID" sz="1400" dirty="0" err="1"/>
              <a:t>dokumen</a:t>
            </a:r>
            <a:r>
              <a:rPr lang="en-ID" sz="1400" dirty="0"/>
              <a:t> </a:t>
            </a:r>
            <a:r>
              <a:rPr lang="en-ID" sz="1400" dirty="0" err="1"/>
              <a:t>panjang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otomatis</a:t>
            </a:r>
            <a:r>
              <a:rPr lang="en-ID" sz="1400" dirty="0"/>
              <a:t> </a:t>
            </a:r>
            <a:r>
              <a:rPr lang="en-ID" sz="1400" dirty="0" err="1"/>
              <a:t>menang</a:t>
            </a:r>
            <a:r>
              <a:rPr lang="en-ID" sz="1400" dirty="0"/>
              <a:t> </a:t>
            </a:r>
            <a:r>
              <a:rPr lang="en-ID" sz="1400" dirty="0" err="1"/>
              <a:t>cuma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kebetulan</a:t>
            </a:r>
            <a:r>
              <a:rPr lang="en-ID" sz="1400" dirty="0"/>
              <a:t> punya </a:t>
            </a:r>
            <a:r>
              <a:rPr lang="en-ID" sz="1400" dirty="0" err="1"/>
              <a:t>peluang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</a:t>
            </a:r>
            <a:r>
              <a:rPr lang="en-ID" sz="1400" dirty="0" err="1"/>
              <a:t>mengandung</a:t>
            </a:r>
            <a:r>
              <a:rPr lang="en-ID" sz="1400" dirty="0"/>
              <a:t> kata-kata query di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tempat</a:t>
            </a:r>
            <a:r>
              <a:rPr lang="en-ID" sz="1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0264009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6DDA-A61A-508F-463D-55A8A4A7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35F9-F616-F721-748A-144A55DA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Reciprocal Rank Fusion (RRF)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A5F6D-9C71-CB9C-D4C6-4888283FC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6" y="1520825"/>
            <a:ext cx="11472229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Teknik </a:t>
            </a:r>
            <a:r>
              <a:rPr lang="en-ID" sz="1600" dirty="0"/>
              <a:t>fusion yang </a:t>
            </a:r>
            <a:r>
              <a:rPr lang="en-ID" sz="1600" b="1" dirty="0" err="1"/>
              <a:t>mengabaikan</a:t>
            </a:r>
            <a:r>
              <a:rPr lang="en-ID" sz="1600" b="1" dirty="0"/>
              <a:t> </a:t>
            </a:r>
            <a:r>
              <a:rPr lang="en-ID" sz="1600" b="1" dirty="0" err="1"/>
              <a:t>skor</a:t>
            </a:r>
            <a:r>
              <a:rPr lang="en-ID" sz="1600" b="1" dirty="0"/>
              <a:t> </a:t>
            </a:r>
            <a:r>
              <a:rPr lang="en-ID" sz="1600" b="1" dirty="0" err="1"/>
              <a:t>mentah</a:t>
            </a:r>
            <a:r>
              <a:rPr lang="en-ID" sz="1600" b="1" dirty="0"/>
              <a:t> </a:t>
            </a:r>
            <a:r>
              <a:rPr lang="en-ID" sz="1600" b="1" dirty="0" err="1"/>
              <a:t>sama</a:t>
            </a:r>
            <a:r>
              <a:rPr lang="en-ID" sz="1600" b="1" dirty="0"/>
              <a:t> </a:t>
            </a:r>
            <a:r>
              <a:rPr lang="en-ID" sz="1600" b="1" dirty="0" err="1"/>
              <a:t>sekali</a:t>
            </a:r>
            <a:r>
              <a:rPr lang="en-ID" sz="1600" dirty="0"/>
              <a:t> dan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memakai</a:t>
            </a:r>
            <a:r>
              <a:rPr lang="en-ID" sz="1600" dirty="0"/>
              <a:t> </a:t>
            </a:r>
            <a:r>
              <a:rPr lang="en-ID" sz="1600" b="1" dirty="0" err="1"/>
              <a:t>peringkat</a:t>
            </a:r>
            <a:r>
              <a:rPr lang="en-ID" sz="1600" b="1" dirty="0"/>
              <a:t> (rank)</a:t>
            </a:r>
            <a:r>
              <a:rPr lang="en-ID" sz="1600" dirty="0"/>
              <a:t> </a:t>
            </a:r>
            <a:r>
              <a:rPr lang="en-ID" sz="1600" dirty="0" err="1"/>
              <a:t>tiap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di masing-masing daftar </a:t>
            </a:r>
            <a:r>
              <a:rPr lang="en-ID" sz="1600" dirty="0" err="1"/>
              <a:t>hasil</a:t>
            </a:r>
            <a:r>
              <a:rPr lang="en-ID" sz="1600" dirty="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CD76A-C3E5-5BB8-AFDE-D03121F4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92" y="2659927"/>
            <a:ext cx="10732511" cy="212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080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E620-1950-D679-13CD-296BE960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63104-80F9-133E-C339-523CD744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Observability &amp; Tracing </a:t>
            </a:r>
            <a:r>
              <a:rPr lang="en-ID" b="1" dirty="0" err="1"/>
              <a:t>dengan</a:t>
            </a:r>
            <a:r>
              <a:rPr lang="en-ID" b="1" dirty="0"/>
              <a:t> </a:t>
            </a:r>
            <a:r>
              <a:rPr lang="en-ID" b="1" dirty="0" err="1"/>
              <a:t>Langfuse</a:t>
            </a:r>
            <a:endParaRPr lang="en-ID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08E03-B1D9-DAE8-57E7-AEB33EDF4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6" y="1520825"/>
            <a:ext cx="11472229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BM25</a:t>
            </a:r>
            <a:r>
              <a:rPr lang="en-ID" sz="1600" dirty="0"/>
              <a:t> (</a:t>
            </a:r>
            <a:r>
              <a:rPr lang="en-ID" sz="1600" dirty="0" err="1"/>
              <a:t>singkatan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 </a:t>
            </a:r>
            <a:r>
              <a:rPr lang="en-ID" sz="1600" i="1" dirty="0"/>
              <a:t>Best Matching 25</a:t>
            </a:r>
            <a:r>
              <a:rPr lang="en-ID" sz="1600" dirty="0"/>
              <a:t> — </a:t>
            </a:r>
            <a:r>
              <a:rPr lang="en-ID" sz="1600" dirty="0" err="1"/>
              <a:t>versi</a:t>
            </a:r>
            <a:r>
              <a:rPr lang="en-ID" sz="1600" dirty="0"/>
              <a:t> ke-25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rumus</a:t>
            </a:r>
            <a:r>
              <a:rPr lang="en-ID" sz="1600" dirty="0"/>
              <a:t> yang </a:t>
            </a:r>
            <a:r>
              <a:rPr lang="en-ID" sz="1600" dirty="0" err="1"/>
              <a:t>dikembangkan</a:t>
            </a:r>
            <a:r>
              <a:rPr lang="en-ID" sz="1600" dirty="0"/>
              <a:t> </a:t>
            </a:r>
            <a:r>
              <a:rPr lang="en-ID" sz="1600" dirty="0" err="1"/>
              <a:t>tim</a:t>
            </a:r>
            <a:r>
              <a:rPr lang="en-ID" sz="1600" dirty="0"/>
              <a:t> </a:t>
            </a:r>
            <a:r>
              <a:rPr lang="en-ID" sz="1600" dirty="0" err="1"/>
              <a:t>riset</a:t>
            </a:r>
            <a:r>
              <a:rPr lang="en-ID" sz="1600" dirty="0"/>
              <a:t> </a:t>
            </a:r>
            <a:r>
              <a:rPr lang="en-ID" sz="1600" i="1" dirty="0"/>
              <a:t>information retrieval</a:t>
            </a:r>
            <a:r>
              <a:rPr lang="en-ID" sz="1600" dirty="0"/>
              <a:t> </a:t>
            </a:r>
            <a:r>
              <a:rPr lang="en-ID" sz="1600" dirty="0" err="1"/>
              <a:t>mulai</a:t>
            </a:r>
            <a:r>
              <a:rPr lang="en-ID" sz="1600" dirty="0"/>
              <a:t> era 1970-1990an)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algoritma</a:t>
            </a:r>
            <a:r>
              <a:rPr lang="en-ID" sz="1600" dirty="0"/>
              <a:t> scoring </a:t>
            </a:r>
            <a:r>
              <a:rPr lang="en-ID" sz="1600" dirty="0" err="1"/>
              <a:t>standar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pencarian</a:t>
            </a:r>
            <a:r>
              <a:rPr lang="en-ID" sz="1600" dirty="0"/>
              <a:t> </a:t>
            </a:r>
            <a:r>
              <a:rPr lang="en-ID" sz="1600" dirty="0" err="1"/>
              <a:t>berbasis</a:t>
            </a:r>
            <a:r>
              <a:rPr lang="en-ID" sz="1600" dirty="0"/>
              <a:t> kata </a:t>
            </a:r>
            <a:r>
              <a:rPr lang="en-ID" sz="1600" dirty="0" err="1"/>
              <a:t>kunci</a:t>
            </a:r>
            <a:r>
              <a:rPr lang="en-ID" sz="1600" dirty="0"/>
              <a:t>, </a:t>
            </a:r>
            <a:r>
              <a:rPr lang="en-ID" sz="1600" dirty="0" err="1"/>
              <a:t>dipakai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default oleh </a:t>
            </a:r>
            <a:r>
              <a:rPr lang="en-ID" sz="1600" dirty="0" err="1"/>
              <a:t>hampir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search engine modern </a:t>
            </a:r>
            <a:r>
              <a:rPr lang="en-ID" sz="1600" dirty="0" err="1"/>
              <a:t>berbasis</a:t>
            </a:r>
            <a:r>
              <a:rPr lang="en-ID" sz="1600" dirty="0"/>
              <a:t> Lucene — </a:t>
            </a:r>
            <a:r>
              <a:rPr lang="en-ID" sz="1600" dirty="0" err="1"/>
              <a:t>termasuk</a:t>
            </a:r>
            <a:r>
              <a:rPr lang="en-ID" sz="1600" dirty="0"/>
              <a:t> OpenSearch dan Elasticsearch. </a:t>
            </a:r>
            <a:r>
              <a:rPr lang="en-ID" sz="1600" dirty="0" err="1"/>
              <a:t>Intuisinya</a:t>
            </a:r>
            <a:r>
              <a:rPr lang="en-ID" sz="1600" dirty="0"/>
              <a:t> </a:t>
            </a:r>
            <a:r>
              <a:rPr lang="en-ID" sz="1600" dirty="0" err="1"/>
              <a:t>sederhana</a:t>
            </a:r>
            <a:r>
              <a:rPr lang="en-ID" sz="1600" dirty="0"/>
              <a:t>: </a:t>
            </a:r>
            <a:r>
              <a:rPr lang="en-ID" sz="1600" dirty="0" err="1"/>
              <a:t>dokumen</a:t>
            </a:r>
            <a:r>
              <a:rPr lang="en-ID" sz="1600" dirty="0"/>
              <a:t> yang </a:t>
            </a:r>
            <a:r>
              <a:rPr lang="en-ID" sz="1600" b="1" dirty="0" err="1"/>
              <a:t>lebih</a:t>
            </a:r>
            <a:r>
              <a:rPr lang="en-ID" sz="1600" b="1" dirty="0"/>
              <a:t> </a:t>
            </a:r>
            <a:r>
              <a:rPr lang="en-ID" sz="1600" b="1" dirty="0" err="1"/>
              <a:t>sering</a:t>
            </a:r>
            <a:r>
              <a:rPr lang="en-ID" sz="1600" b="1" dirty="0"/>
              <a:t> </a:t>
            </a:r>
            <a:r>
              <a:rPr lang="en-ID" sz="1600" b="1" dirty="0" err="1"/>
              <a:t>menyebut</a:t>
            </a:r>
            <a:r>
              <a:rPr lang="en-ID" sz="1600" b="1" dirty="0"/>
              <a:t> kata-kata </a:t>
            </a:r>
            <a:r>
              <a:rPr lang="en-ID" sz="1600" b="1" dirty="0" err="1"/>
              <a:t>dari</a:t>
            </a:r>
            <a:r>
              <a:rPr lang="en-ID" sz="1600" b="1" dirty="0"/>
              <a:t> query</a:t>
            </a:r>
            <a:r>
              <a:rPr lang="en-ID" sz="1600" dirty="0"/>
              <a:t>, </a:t>
            </a:r>
            <a:r>
              <a:rPr lang="en-ID" sz="1600" dirty="0" err="1"/>
              <a:t>terutama</a:t>
            </a:r>
            <a:r>
              <a:rPr lang="en-ID" sz="1600" dirty="0"/>
              <a:t> kata-kata yang </a:t>
            </a:r>
            <a:r>
              <a:rPr lang="en-ID" sz="1600" b="1" dirty="0" err="1"/>
              <a:t>jarang</a:t>
            </a:r>
            <a:r>
              <a:rPr lang="en-ID" sz="1600" b="1" dirty="0"/>
              <a:t> </a:t>
            </a:r>
            <a:r>
              <a:rPr lang="en-ID" sz="1600" b="1" dirty="0" err="1"/>
              <a:t>muncul</a:t>
            </a:r>
            <a:r>
              <a:rPr lang="en-ID" sz="1600" dirty="0"/>
              <a:t> di </a:t>
            </a:r>
            <a:r>
              <a:rPr lang="en-ID" sz="1600" dirty="0" err="1"/>
              <a:t>seluruh</a:t>
            </a:r>
            <a:r>
              <a:rPr lang="en-ID" sz="1600" dirty="0"/>
              <a:t> </a:t>
            </a:r>
            <a:r>
              <a:rPr lang="en-ID" sz="1600" dirty="0" err="1"/>
              <a:t>koleksi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(</a:t>
            </a:r>
            <a:r>
              <a:rPr lang="en-ID" sz="1600" dirty="0" err="1"/>
              <a:t>makanya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"</a:t>
            </a:r>
            <a:r>
              <a:rPr lang="en-ID" sz="1600" dirty="0" err="1"/>
              <a:t>khas</a:t>
            </a:r>
            <a:r>
              <a:rPr lang="en-ID" sz="1600" dirty="0"/>
              <a:t>"/</a:t>
            </a:r>
            <a:r>
              <a:rPr lang="en-ID" sz="1600" dirty="0" err="1"/>
              <a:t>informatif</a:t>
            </a:r>
            <a:r>
              <a:rPr lang="en-ID" sz="1600" dirty="0"/>
              <a:t> </a:t>
            </a:r>
            <a:r>
              <a:rPr lang="en-ID" sz="1600" dirty="0" err="1"/>
              <a:t>kalau</a:t>
            </a:r>
            <a:r>
              <a:rPr lang="en-ID" sz="1600" dirty="0"/>
              <a:t> </a:t>
            </a:r>
            <a:r>
              <a:rPr lang="en-ID" sz="1600" dirty="0" err="1"/>
              <a:t>sampai</a:t>
            </a:r>
            <a:r>
              <a:rPr lang="en-ID" sz="1600" dirty="0"/>
              <a:t> </a:t>
            </a:r>
            <a:r>
              <a:rPr lang="en-ID" sz="1600" dirty="0" err="1"/>
              <a:t>cocok</a:t>
            </a:r>
            <a:r>
              <a:rPr lang="en-ID" sz="1600" dirty="0"/>
              <a:t>), </a:t>
            </a:r>
            <a:r>
              <a:rPr lang="en-ID" sz="1600" dirty="0" err="1"/>
              <a:t>mendapat</a:t>
            </a:r>
            <a:r>
              <a:rPr lang="en-ID" sz="1600" dirty="0"/>
              <a:t> </a:t>
            </a:r>
            <a:r>
              <a:rPr lang="en-ID" sz="1600" dirty="0" err="1"/>
              <a:t>skor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tinggi</a:t>
            </a:r>
            <a:r>
              <a:rPr lang="en-ID" sz="1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362280327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9E68C-9CA5-18F7-446E-D6F12D99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9B7FC7-EFE9-CE60-F736-B8F5627BEB79}"/>
              </a:ext>
            </a:extLst>
          </p:cNvPr>
          <p:cNvSpPr txBox="1"/>
          <p:nvPr/>
        </p:nvSpPr>
        <p:spPr>
          <a:xfrm>
            <a:off x="806774" y="1646103"/>
            <a:ext cx="68831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Agentic Tools &amp; Data </a:t>
            </a:r>
            <a:r>
              <a:rPr lang="en-US" sz="5400" b="1" dirty="0" err="1">
                <a:solidFill>
                  <a:srgbClr val="085A76"/>
                </a:solidFill>
              </a:rPr>
              <a:t>Operasional</a:t>
            </a:r>
            <a:endParaRPr lang="en-US" sz="5400" b="1" dirty="0">
              <a:solidFill>
                <a:srgbClr val="085A76"/>
              </a:solidFill>
            </a:endParaRPr>
          </a:p>
          <a:p>
            <a:endParaRPr lang="en-US" sz="5400" b="1" dirty="0">
              <a:solidFill>
                <a:srgbClr val="085A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8425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40FD2-30F7-EF4B-6E6C-2E242772B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6A77-4C92-DF4A-3AE8-BB275F6E0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 err="1"/>
              <a:t>Kenapa</a:t>
            </a:r>
            <a:r>
              <a:rPr lang="en-ID" b="1" dirty="0"/>
              <a:t> NALA </a:t>
            </a:r>
            <a:r>
              <a:rPr lang="en-ID" b="1" dirty="0" err="1"/>
              <a:t>Butuh</a:t>
            </a:r>
            <a:r>
              <a:rPr lang="en-ID" b="1" dirty="0"/>
              <a:t> Jadi "Agent"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3777-20B0-A64B-BDE3-89132C402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dirty="0" err="1"/>
              <a:t>Sampai</a:t>
            </a:r>
            <a:r>
              <a:rPr lang="en-ID" sz="1600" dirty="0"/>
              <a:t> step </a:t>
            </a:r>
            <a:r>
              <a:rPr lang="en-ID" sz="1600" dirty="0" err="1"/>
              <a:t>ini</a:t>
            </a:r>
            <a:r>
              <a:rPr lang="en-ID" sz="1600" dirty="0"/>
              <a:t> AI Chatbot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bekerja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urutan</a:t>
            </a:r>
            <a:r>
              <a:rPr lang="en-ID" sz="1600" dirty="0"/>
              <a:t> </a:t>
            </a:r>
            <a:r>
              <a:rPr lang="en-ID" sz="1600" dirty="0" err="1"/>
              <a:t>langkah</a:t>
            </a:r>
            <a:r>
              <a:rPr lang="en-ID" sz="1600" dirty="0"/>
              <a:t> yang </a:t>
            </a:r>
            <a:r>
              <a:rPr lang="en-ID" sz="1600" b="1" dirty="0" err="1"/>
              <a:t>selalu</a:t>
            </a:r>
            <a:r>
              <a:rPr lang="en-ID" sz="1600" b="1" dirty="0"/>
              <a:t> </a:t>
            </a:r>
            <a:r>
              <a:rPr lang="en-ID" sz="1600" b="1" dirty="0" err="1"/>
              <a:t>sama</a:t>
            </a:r>
            <a:r>
              <a:rPr lang="en-ID" sz="1600" dirty="0"/>
              <a:t>, </a:t>
            </a:r>
            <a:r>
              <a:rPr lang="en-ID" sz="1600" dirty="0" err="1"/>
              <a:t>apapun</a:t>
            </a:r>
            <a:r>
              <a:rPr lang="en-ID" sz="1600" dirty="0"/>
              <a:t> </a:t>
            </a:r>
            <a:r>
              <a:rPr lang="en-ID" sz="1600" dirty="0" err="1"/>
              <a:t>pertanyaannya</a:t>
            </a:r>
            <a:r>
              <a:rPr lang="en-ID" sz="1600" dirty="0"/>
              <a:t>: </a:t>
            </a:r>
            <a:r>
              <a:rPr lang="en-ID" sz="1600" dirty="0" err="1"/>
              <a:t>terima</a:t>
            </a:r>
            <a:r>
              <a:rPr lang="en-ID" sz="1600" dirty="0"/>
              <a:t> </a:t>
            </a:r>
            <a:r>
              <a:rPr lang="en-ID" sz="1600" dirty="0" err="1"/>
              <a:t>pesan</a:t>
            </a:r>
            <a:r>
              <a:rPr lang="en-ID" sz="1600" dirty="0"/>
              <a:t> → embed → </a:t>
            </a:r>
            <a:r>
              <a:rPr lang="en-ID" sz="1600" dirty="0" err="1"/>
              <a:t>cari</a:t>
            </a:r>
            <a:r>
              <a:rPr lang="en-ID" sz="1600" dirty="0"/>
              <a:t> di vector store  → </a:t>
            </a:r>
            <a:r>
              <a:rPr lang="en-ID" sz="1600" dirty="0" err="1"/>
              <a:t>susun</a:t>
            </a:r>
            <a:r>
              <a:rPr lang="en-ID" sz="1600" dirty="0"/>
              <a:t> prompt </a:t>
            </a:r>
            <a:r>
              <a:rPr lang="en-ID" sz="1600" dirty="0" err="1"/>
              <a:t>ber-konteks</a:t>
            </a:r>
            <a:r>
              <a:rPr lang="en-ID" sz="1600" dirty="0"/>
              <a:t> → generate </a:t>
            </a:r>
            <a:r>
              <a:rPr lang="en-ID" sz="1600" dirty="0" err="1"/>
              <a:t>jawaban</a:t>
            </a:r>
            <a:r>
              <a:rPr lang="en-ID" sz="1600" dirty="0"/>
              <a:t>. </a:t>
            </a:r>
            <a:r>
              <a:rPr lang="en-ID" sz="1600" dirty="0" err="1"/>
              <a:t>Urutan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disebut</a:t>
            </a:r>
            <a:r>
              <a:rPr lang="en-ID" sz="1600" dirty="0"/>
              <a:t> </a:t>
            </a:r>
            <a:r>
              <a:rPr lang="en-ID" sz="1600" b="1" dirty="0"/>
              <a:t>pipeline linear</a:t>
            </a:r>
            <a:r>
              <a:rPr lang="en-ID" sz="1600" dirty="0"/>
              <a:t> 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Ini </a:t>
            </a:r>
            <a:r>
              <a:rPr lang="en-ID" sz="1600" dirty="0" err="1"/>
              <a:t>bekerja</a:t>
            </a:r>
            <a:r>
              <a:rPr lang="en-ID" sz="1600" dirty="0"/>
              <a:t> </a:t>
            </a:r>
            <a:r>
              <a:rPr lang="en-ID" sz="1600" dirty="0" err="1"/>
              <a:t>baik</a:t>
            </a:r>
            <a:r>
              <a:rPr lang="en-ID" sz="1600" dirty="0"/>
              <a:t> </a:t>
            </a:r>
            <a:r>
              <a:rPr lang="en-ID" sz="1600" dirty="0" err="1"/>
              <a:t>selama</a:t>
            </a:r>
            <a:r>
              <a:rPr lang="en-ID" sz="1600" dirty="0"/>
              <a:t> </a:t>
            </a:r>
            <a:r>
              <a:rPr lang="en-ID" sz="1600" dirty="0" err="1"/>
              <a:t>satu-satunya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jawaban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SOP. Tapi </a:t>
            </a:r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baru</a:t>
            </a:r>
            <a:r>
              <a:rPr lang="en-ID" sz="1600" dirty="0"/>
              <a:t> data </a:t>
            </a:r>
            <a:r>
              <a:rPr lang="en-ID" sz="1600" dirty="0" err="1"/>
              <a:t>operasional</a:t>
            </a:r>
            <a:r>
              <a:rPr lang="en-ID" sz="1600" dirty="0"/>
              <a:t> yang </a:t>
            </a:r>
            <a:r>
              <a:rPr lang="en-ID" sz="1600" dirty="0" err="1"/>
              <a:t>tersimpan</a:t>
            </a:r>
            <a:r>
              <a:rPr lang="en-ID" sz="1600" dirty="0"/>
              <a:t> di database, </a:t>
            </a:r>
            <a:r>
              <a:rPr lang="en-ID" sz="1600" dirty="0" err="1"/>
              <a:t>bukan</a:t>
            </a:r>
            <a:r>
              <a:rPr lang="en-ID" sz="1600" dirty="0"/>
              <a:t> di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teks</a:t>
            </a:r>
            <a:r>
              <a:rPr lang="en-ID" sz="1600" dirty="0"/>
              <a:t>. Pipeline linear </a:t>
            </a:r>
            <a:r>
              <a:rPr lang="en-ID" sz="1600" dirty="0" err="1"/>
              <a:t>tidak</a:t>
            </a:r>
            <a:r>
              <a:rPr lang="en-ID" sz="1600" dirty="0"/>
              <a:t> punya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memutuskan</a:t>
            </a:r>
            <a:r>
              <a:rPr lang="en-ID" sz="1600" dirty="0"/>
              <a:t> "</a:t>
            </a:r>
            <a:r>
              <a:rPr lang="en-ID" sz="1600" dirty="0" err="1"/>
              <a:t>pertanyaan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butuh</a:t>
            </a:r>
            <a:r>
              <a:rPr lang="en-ID" sz="1600" dirty="0"/>
              <a:t> </a:t>
            </a:r>
            <a:r>
              <a:rPr lang="en-ID" sz="1600" dirty="0" err="1"/>
              <a:t>dokumen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butuh</a:t>
            </a:r>
            <a:r>
              <a:rPr lang="en-ID" sz="1600" dirty="0"/>
              <a:t> </a:t>
            </a:r>
            <a:r>
              <a:rPr lang="en-ID" sz="1600" dirty="0" err="1"/>
              <a:t>angka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database?" — </a:t>
            </a:r>
            <a:r>
              <a:rPr lang="en-ID" sz="1600" dirty="0" err="1"/>
              <a:t>keputusan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di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tempat</a:t>
            </a:r>
            <a:r>
              <a:rPr lang="en-ID" sz="1600" dirty="0"/>
              <a:t>, dan </a:t>
            </a:r>
            <a:r>
              <a:rPr lang="en-ID" sz="1600" b="1" dirty="0" err="1"/>
              <a:t>LangGraph</a:t>
            </a:r>
            <a:r>
              <a:rPr lang="en-ID" sz="1600" b="1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alat</a:t>
            </a:r>
            <a:r>
              <a:rPr lang="en-ID" sz="1600" dirty="0"/>
              <a:t> yang </a:t>
            </a:r>
            <a:r>
              <a:rPr lang="en-ID" sz="1600" dirty="0" err="1"/>
              <a:t>dipakai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menaruhnya</a:t>
            </a:r>
            <a:r>
              <a:rPr lang="en-ID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0171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DB5D-ED3E-2691-DBFD-DDE593DC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659A-7C33-FD8B-1AEB-CA4780BA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 err="1"/>
              <a:t>Perbedaan</a:t>
            </a:r>
            <a:r>
              <a:rPr lang="en-ID" b="1" dirty="0"/>
              <a:t> Native RAG </a:t>
            </a:r>
            <a:r>
              <a:rPr lang="en-ID" b="1" dirty="0" err="1"/>
              <a:t>dengan</a:t>
            </a:r>
            <a:r>
              <a:rPr lang="en-ID" b="1" dirty="0"/>
              <a:t> Agentic RAG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6C1EA9-BEC4-D5B3-06E4-809526A62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574" y="1496439"/>
            <a:ext cx="8781370" cy="1178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3D6C7E-F54B-DA70-1387-F2CBCBE42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80" y="3042881"/>
            <a:ext cx="7772400" cy="314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264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0B8C2-4F0A-2514-9793-595A84C5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1C4B-8A5C-6727-408E-FDDC2410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</a:t>
            </a:r>
            <a:r>
              <a:rPr lang="en-ID" b="1" dirty="0" err="1"/>
              <a:t>LangGraph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E828F-35DD-E363-D318-538171C19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55364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 err="1"/>
              <a:t>LangGraph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pustaka</a:t>
            </a:r>
            <a:r>
              <a:rPr lang="en-ID" sz="1600" dirty="0"/>
              <a:t> yang </a:t>
            </a:r>
            <a:r>
              <a:rPr lang="en-ID" sz="1600" dirty="0" err="1"/>
              <a:t>dipakai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merangkai</a:t>
            </a:r>
            <a:r>
              <a:rPr lang="en-ID" sz="1600" dirty="0"/>
              <a:t> </a:t>
            </a:r>
            <a:r>
              <a:rPr lang="en-ID" sz="1600" dirty="0" err="1"/>
              <a:t>keputusan</a:t>
            </a:r>
            <a:r>
              <a:rPr lang="en-ID" sz="1600" dirty="0"/>
              <a:t> </a:t>
            </a:r>
            <a:r>
              <a:rPr lang="en-ID" sz="1600" dirty="0" err="1"/>
              <a:t>itu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 </a:t>
            </a:r>
            <a:r>
              <a:rPr lang="en-ID" sz="1600" b="1" dirty="0"/>
              <a:t>graph</a:t>
            </a:r>
            <a:r>
              <a:rPr lang="en-ID" sz="1600" dirty="0"/>
              <a:t>: </a:t>
            </a:r>
            <a:r>
              <a:rPr lang="en-ID" sz="1600" dirty="0" err="1"/>
              <a:t>kumpulan</a:t>
            </a:r>
            <a:r>
              <a:rPr lang="en-ID" sz="1600" dirty="0"/>
              <a:t> </a:t>
            </a:r>
            <a:r>
              <a:rPr lang="en-ID" sz="1600" b="1" dirty="0"/>
              <a:t>node</a:t>
            </a:r>
            <a:r>
              <a:rPr lang="en-ID" sz="1600" dirty="0"/>
              <a:t> (</a:t>
            </a:r>
            <a:r>
              <a:rPr lang="en-ID" sz="1600" dirty="0" err="1"/>
              <a:t>langkah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) yang </a:t>
            </a:r>
            <a:r>
              <a:rPr lang="en-ID" sz="1600" dirty="0" err="1"/>
              <a:t>saling</a:t>
            </a:r>
            <a:r>
              <a:rPr lang="en-ID" sz="1600" dirty="0"/>
              <a:t> </a:t>
            </a:r>
            <a:r>
              <a:rPr lang="en-ID" sz="1600" dirty="0" err="1"/>
              <a:t>terhubung</a:t>
            </a:r>
            <a:r>
              <a:rPr lang="en-ID" sz="1600" dirty="0"/>
              <a:t> </a:t>
            </a:r>
            <a:r>
              <a:rPr lang="en-ID" sz="1600" dirty="0" err="1"/>
              <a:t>lewat</a:t>
            </a:r>
            <a:r>
              <a:rPr lang="en-ID" sz="1600" dirty="0"/>
              <a:t> </a:t>
            </a:r>
            <a:r>
              <a:rPr lang="en-ID" sz="1600" b="1" dirty="0"/>
              <a:t>edge</a:t>
            </a:r>
            <a:r>
              <a:rPr lang="en-ID" sz="1600" dirty="0"/>
              <a:t> (</a:t>
            </a:r>
            <a:r>
              <a:rPr lang="en-ID" sz="1600" dirty="0" err="1"/>
              <a:t>jalur</a:t>
            </a:r>
            <a:r>
              <a:rPr lang="en-ID" sz="1600" dirty="0"/>
              <a:t> </a:t>
            </a:r>
            <a:r>
              <a:rPr lang="en-ID" sz="1600" dirty="0" err="1"/>
              <a:t>antar</a:t>
            </a:r>
            <a:r>
              <a:rPr lang="en-ID" sz="1600" dirty="0"/>
              <a:t>-node), </a:t>
            </a:r>
            <a:r>
              <a:rPr lang="en-ID" sz="1600" dirty="0" err="1"/>
              <a:t>dengan</a:t>
            </a:r>
            <a:r>
              <a:rPr lang="en-ID" sz="1600" dirty="0"/>
              <a:t> </a:t>
            </a:r>
            <a:r>
              <a:rPr lang="en-ID" sz="1600" b="1" dirty="0"/>
              <a:t>state</a:t>
            </a:r>
            <a:r>
              <a:rPr lang="en-ID" sz="1600" dirty="0"/>
              <a:t> (data yang </a:t>
            </a:r>
            <a:r>
              <a:rPr lang="en-ID" sz="1600" dirty="0" err="1"/>
              <a:t>mengalir</a:t>
            </a:r>
            <a:r>
              <a:rPr lang="en-ID" sz="1600" dirty="0"/>
              <a:t> dan </a:t>
            </a:r>
            <a:r>
              <a:rPr lang="en-ID" sz="1600" dirty="0" err="1"/>
              <a:t>terus</a:t>
            </a:r>
            <a:r>
              <a:rPr lang="en-ID" sz="1600" dirty="0"/>
              <a:t> </a:t>
            </a:r>
            <a:r>
              <a:rPr lang="en-ID" sz="1600" dirty="0" err="1"/>
              <a:t>bertambah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node </a:t>
            </a:r>
            <a:r>
              <a:rPr lang="en-ID" sz="1600" dirty="0" err="1"/>
              <a:t>ke</a:t>
            </a:r>
            <a:r>
              <a:rPr lang="en-ID" sz="1600" dirty="0"/>
              <a:t> node </a:t>
            </a:r>
            <a:r>
              <a:rPr lang="en-ID" sz="1600" dirty="0" err="1"/>
              <a:t>berikutnya</a:t>
            </a:r>
            <a:r>
              <a:rPr lang="en-ID" sz="1600" dirty="0"/>
              <a:t>) </a:t>
            </a:r>
            <a:r>
              <a:rPr lang="en-ID" sz="1600" dirty="0" err="1"/>
              <a:t>sebagai</a:t>
            </a:r>
            <a:r>
              <a:rPr lang="en-ID" sz="1600" dirty="0"/>
              <a:t> "</a:t>
            </a:r>
            <a:r>
              <a:rPr lang="en-ID" sz="1600" dirty="0" err="1"/>
              <a:t>memori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" </a:t>
            </a:r>
            <a:r>
              <a:rPr lang="en-ID" sz="1600" dirty="0" err="1"/>
              <a:t>bersama</a:t>
            </a:r>
            <a:r>
              <a:rPr lang="en-ID" sz="1600" dirty="0"/>
              <a:t>. </a:t>
            </a:r>
            <a:r>
              <a:rPr lang="en-ID" sz="1600" dirty="0" err="1"/>
              <a:t>Bedanya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pipeline </a:t>
            </a:r>
            <a:r>
              <a:rPr lang="en-ID" sz="1600" dirty="0" err="1"/>
              <a:t>lurus</a:t>
            </a:r>
            <a:r>
              <a:rPr lang="en-ID" sz="1600" dirty="0"/>
              <a:t>: graph </a:t>
            </a:r>
            <a:r>
              <a:rPr lang="en-ID" sz="1600" dirty="0" err="1"/>
              <a:t>bisa</a:t>
            </a:r>
            <a:r>
              <a:rPr lang="en-ID" sz="1600" dirty="0"/>
              <a:t> </a:t>
            </a:r>
            <a:r>
              <a:rPr lang="en-ID" sz="1600" b="1" dirty="0"/>
              <a:t>loop back</a:t>
            </a:r>
            <a:r>
              <a:rPr lang="en-ID" sz="1600" dirty="0"/>
              <a:t> — </a:t>
            </a:r>
            <a:r>
              <a:rPr lang="en-ID" sz="1600" dirty="0" err="1"/>
              <a:t>sebuah</a:t>
            </a:r>
            <a:r>
              <a:rPr lang="en-ID" sz="1600" dirty="0"/>
              <a:t> node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dilewati</a:t>
            </a:r>
            <a:r>
              <a:rPr lang="en-ID" sz="1600" dirty="0"/>
              <a:t> </a:t>
            </a:r>
            <a:r>
              <a:rPr lang="en-ID" sz="1600" dirty="0" err="1"/>
              <a:t>berkali</a:t>
            </a:r>
            <a:r>
              <a:rPr lang="en-ID" sz="1600" dirty="0"/>
              <a:t>-kali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request </a:t>
            </a:r>
            <a:r>
              <a:rPr lang="en-ID" sz="1600" dirty="0" err="1"/>
              <a:t>sampai</a:t>
            </a:r>
            <a:r>
              <a:rPr lang="en-ID" sz="1600" dirty="0"/>
              <a:t> model </a:t>
            </a:r>
            <a:r>
              <a:rPr lang="en-ID" sz="1600" dirty="0" err="1"/>
              <a:t>memutuskan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perlu</a:t>
            </a:r>
            <a:r>
              <a:rPr lang="en-ID" sz="1600" dirty="0"/>
              <a:t> tool </a:t>
            </a:r>
            <a:r>
              <a:rPr lang="en-ID" sz="1600" dirty="0" err="1"/>
              <a:t>lagi</a:t>
            </a:r>
            <a:r>
              <a:rPr lang="en-ID" sz="1600" dirty="0"/>
              <a:t>.</a:t>
            </a:r>
          </a:p>
          <a:p>
            <a:pPr marL="0" indent="0" algn="just">
              <a:buNone/>
            </a:pPr>
            <a:r>
              <a:rPr lang="en-ID" sz="1600" b="1" dirty="0"/>
              <a:t>Tiga </a:t>
            </a:r>
            <a:r>
              <a:rPr lang="en-ID" sz="1600" b="1" dirty="0" err="1"/>
              <a:t>konsep</a:t>
            </a:r>
            <a:r>
              <a:rPr lang="en-ID" sz="1600" b="1" dirty="0"/>
              <a:t> inti </a:t>
            </a:r>
            <a:r>
              <a:rPr lang="en-ID" sz="1600" b="1" dirty="0" err="1"/>
              <a:t>LangGraph</a:t>
            </a:r>
            <a:endParaRPr lang="en-ID" sz="1600" b="1" dirty="0"/>
          </a:p>
          <a:p>
            <a:pPr marL="342900" indent="-342900" algn="just">
              <a:buFont typeface="+mj-lt"/>
              <a:buAutoNum type="arabicPeriod"/>
            </a:pPr>
            <a:r>
              <a:rPr lang="en-ID" sz="1600" b="1" dirty="0"/>
              <a:t>State - </a:t>
            </a:r>
            <a:r>
              <a:rPr lang="en-ID" sz="1600" dirty="0"/>
              <a:t>"</a:t>
            </a:r>
            <a:r>
              <a:rPr lang="en-ID" sz="1600" dirty="0" err="1"/>
              <a:t>memori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" yang </a:t>
            </a:r>
            <a:r>
              <a:rPr lang="en-ID" sz="1600" dirty="0" err="1"/>
              <a:t>dibawa</a:t>
            </a:r>
            <a:r>
              <a:rPr lang="en-ID" sz="1600" dirty="0"/>
              <a:t> </a:t>
            </a:r>
            <a:r>
              <a:rPr lang="en-ID" sz="1600" dirty="0" err="1"/>
              <a:t>berjalan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node </a:t>
            </a:r>
            <a:r>
              <a:rPr lang="en-ID" sz="1600" dirty="0" err="1"/>
              <a:t>ke</a:t>
            </a:r>
            <a:r>
              <a:rPr lang="en-ID" sz="1600" dirty="0"/>
              <a:t> node </a:t>
            </a:r>
            <a:r>
              <a:rPr lang="en-ID" sz="1600" dirty="0" err="1"/>
              <a:t>berikutnya</a:t>
            </a:r>
            <a:r>
              <a:rPr lang="en-ID" sz="16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D" sz="1600" b="1" dirty="0"/>
              <a:t>Node -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langkah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, </a:t>
            </a:r>
            <a:r>
              <a:rPr lang="en-ID" sz="1600" dirty="0" err="1"/>
              <a:t>ditulis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fungsi</a:t>
            </a:r>
            <a:r>
              <a:rPr lang="en-ID" sz="1600" dirty="0"/>
              <a:t> yang </a:t>
            </a:r>
            <a:r>
              <a:rPr lang="en-ID" sz="1600" dirty="0" err="1"/>
              <a:t>menerima</a:t>
            </a:r>
            <a:r>
              <a:rPr lang="en-ID" sz="1600" dirty="0"/>
              <a:t> state dan </a:t>
            </a:r>
            <a:r>
              <a:rPr lang="en-ID" sz="1600" dirty="0" err="1"/>
              <a:t>mengembalikan</a:t>
            </a:r>
            <a:r>
              <a:rPr lang="en-ID" sz="1600" dirty="0"/>
              <a:t> </a:t>
            </a:r>
            <a:r>
              <a:rPr lang="en-ID" sz="1600" dirty="0" err="1"/>
              <a:t>perubahan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state </a:t>
            </a:r>
            <a:r>
              <a:rPr lang="en-ID" sz="1600" dirty="0" err="1"/>
              <a:t>itu</a:t>
            </a:r>
            <a:r>
              <a:rPr lang="en-ID" sz="1600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D" sz="1600" b="1" dirty="0"/>
              <a:t>Edge - </a:t>
            </a:r>
            <a:r>
              <a:rPr lang="en-ID" sz="1600" dirty="0" err="1"/>
              <a:t>jalur</a:t>
            </a:r>
            <a:r>
              <a:rPr lang="en-ID" sz="1600" dirty="0"/>
              <a:t> </a:t>
            </a:r>
            <a:r>
              <a:rPr lang="en-ID" sz="1600" dirty="0" err="1"/>
              <a:t>antar</a:t>
            </a:r>
            <a:r>
              <a:rPr lang="en-ID" sz="1600" dirty="0"/>
              <a:t>-node.</a:t>
            </a:r>
            <a:endParaRPr lang="en-ID" sz="1600" b="1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E7221-A00D-F81C-D9B5-33AAC5014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372" y="4268228"/>
            <a:ext cx="6551023" cy="178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077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4846-EADB-DB66-EC8F-039E8A157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121FC-0687-8DE0-B12B-05457B9A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Apa </a:t>
            </a:r>
            <a:r>
              <a:rPr lang="en-ID" b="1" dirty="0" err="1"/>
              <a:t>itu</a:t>
            </a:r>
            <a:r>
              <a:rPr lang="en-ID" b="1" dirty="0"/>
              <a:t> Tool (Function)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CFBE5-5CFD-5A48-879B-29AAEFA7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5515566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Tool</a:t>
            </a:r>
            <a:r>
              <a:rPr lang="en-ID" sz="1600" dirty="0"/>
              <a:t> / </a:t>
            </a:r>
            <a:r>
              <a:rPr lang="en-ID" sz="1600" b="1" dirty="0"/>
              <a:t>Function</a:t>
            </a:r>
            <a:r>
              <a:rPr lang="en-ID" sz="1600" dirty="0"/>
              <a:t>, </a:t>
            </a:r>
            <a:r>
              <a:rPr lang="en-ID" sz="1600" dirty="0" err="1"/>
              <a:t>istilah</a:t>
            </a:r>
            <a:r>
              <a:rPr lang="en-ID" sz="1600" dirty="0"/>
              <a:t> yang </a:t>
            </a:r>
            <a:r>
              <a:rPr lang="en-ID" sz="1600" dirty="0" err="1"/>
              <a:t>dipakai</a:t>
            </a:r>
            <a:r>
              <a:rPr lang="en-ID" sz="1600" dirty="0"/>
              <a:t> di </a:t>
            </a:r>
            <a:r>
              <a:rPr lang="en-ID" sz="1600" dirty="0" err="1"/>
              <a:t>dokumentasi</a:t>
            </a:r>
            <a:r>
              <a:rPr lang="en-ID" sz="1600" dirty="0"/>
              <a:t> OpenAI/</a:t>
            </a:r>
            <a:r>
              <a:rPr lang="en-ID" sz="1600" dirty="0" err="1"/>
              <a:t>Ollama</a:t>
            </a:r>
            <a:r>
              <a:rPr lang="en-ID" sz="1600" dirty="0"/>
              <a:t>/</a:t>
            </a:r>
            <a:r>
              <a:rPr lang="en-ID" sz="1600" dirty="0" err="1"/>
              <a:t>LangGraph</a:t>
            </a:r>
            <a:r>
              <a:rPr lang="en-ID" sz="1600" dirty="0"/>
              <a:t>, </a:t>
            </a:r>
            <a:r>
              <a:rPr lang="en-ID" sz="1600" dirty="0" err="1"/>
              <a:t>artinya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 —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kemampuan</a:t>
            </a:r>
            <a:r>
              <a:rPr lang="en-ID" sz="1600" dirty="0"/>
              <a:t> yang "</a:t>
            </a:r>
            <a:r>
              <a:rPr lang="en-ID" sz="1600" dirty="0" err="1"/>
              <a:t>ditawarkan</a:t>
            </a:r>
            <a:r>
              <a:rPr lang="en-ID" sz="1600" dirty="0"/>
              <a:t>" </a:t>
            </a:r>
            <a:r>
              <a:rPr lang="en-ID" sz="1600" dirty="0" err="1"/>
              <a:t>ke</a:t>
            </a:r>
            <a:r>
              <a:rPr lang="en-ID" sz="1600" dirty="0"/>
              <a:t> LLM </a:t>
            </a:r>
            <a:r>
              <a:rPr lang="en-ID" sz="1600" dirty="0" err="1"/>
              <a:t>lewat</a:t>
            </a:r>
            <a:r>
              <a:rPr lang="en-ID" sz="1600" dirty="0"/>
              <a:t> </a:t>
            </a:r>
            <a:r>
              <a:rPr lang="en-ID" sz="1600" dirty="0" err="1"/>
              <a:t>tiga</a:t>
            </a:r>
            <a:r>
              <a:rPr lang="en-ID" sz="1600" dirty="0"/>
              <a:t> </a:t>
            </a:r>
            <a:r>
              <a:rPr lang="en-ID" sz="1600" dirty="0" err="1"/>
              <a:t>bagian</a:t>
            </a:r>
            <a:r>
              <a:rPr lang="en-ID" sz="1600" dirty="0"/>
              <a:t> </a:t>
            </a:r>
            <a:r>
              <a:rPr lang="en-ID" sz="1600" dirty="0" err="1"/>
              <a:t>wajib</a:t>
            </a:r>
            <a:r>
              <a:rPr lang="en-ID" sz="1600" dirty="0"/>
              <a:t>: 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b="1" dirty="0"/>
              <a:t>Nama</a:t>
            </a:r>
            <a:r>
              <a:rPr lang="en-ID" sz="1600" dirty="0"/>
              <a:t> (</a:t>
            </a:r>
            <a:r>
              <a:rPr lang="en-ID" sz="1600" dirty="0" err="1"/>
              <a:t>identitas</a:t>
            </a:r>
            <a:r>
              <a:rPr lang="en-ID" sz="1600" dirty="0"/>
              <a:t> </a:t>
            </a:r>
            <a:r>
              <a:rPr lang="en-ID" sz="1600" dirty="0" err="1"/>
              <a:t>unik</a:t>
            </a:r>
            <a:r>
              <a:rPr lang="en-ID" sz="1600" dirty="0"/>
              <a:t> tool </a:t>
            </a:r>
            <a:r>
              <a:rPr lang="en-ID" sz="1600" dirty="0" err="1"/>
              <a:t>itu</a:t>
            </a:r>
            <a:r>
              <a:rPr lang="en-ID" sz="1600" dirty="0"/>
              <a:t>), 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b="1" dirty="0" err="1"/>
              <a:t>Deskripsi</a:t>
            </a:r>
            <a:r>
              <a:rPr lang="en-ID" sz="1600" dirty="0"/>
              <a:t> (</a:t>
            </a:r>
            <a:r>
              <a:rPr lang="en-ID" sz="1600" dirty="0" err="1"/>
              <a:t>kalimat</a:t>
            </a:r>
            <a:r>
              <a:rPr lang="en-ID" sz="1600" dirty="0"/>
              <a:t> yang </a:t>
            </a:r>
            <a:r>
              <a:rPr lang="en-ID" sz="1600" dirty="0" err="1"/>
              <a:t>menjelaskan</a:t>
            </a:r>
            <a:r>
              <a:rPr lang="en-ID" sz="1600" dirty="0"/>
              <a:t> KAPAN dan UNTUK APA tool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dipakai</a:t>
            </a:r>
            <a:r>
              <a:rPr lang="en-ID" sz="1600" dirty="0"/>
              <a:t>), dan 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600" b="1" dirty="0"/>
              <a:t>Skema parameter</a:t>
            </a:r>
            <a:r>
              <a:rPr lang="en-ID" sz="1600" dirty="0"/>
              <a:t> (</a:t>
            </a:r>
            <a:r>
              <a:rPr lang="en-ID" sz="1600" dirty="0" err="1"/>
              <a:t>aturan</a:t>
            </a:r>
            <a:r>
              <a:rPr lang="en-ID" sz="1600" dirty="0"/>
              <a:t> JSON </a:t>
            </a:r>
            <a:r>
              <a:rPr lang="en-ID" sz="1600" dirty="0" err="1"/>
              <a:t>tentang</a:t>
            </a:r>
            <a:r>
              <a:rPr lang="en-ID" sz="1600" dirty="0"/>
              <a:t> </a:t>
            </a:r>
            <a:r>
              <a:rPr lang="en-ID" sz="1600" dirty="0" err="1"/>
              <a:t>argumen</a:t>
            </a:r>
            <a:r>
              <a:rPr lang="en-ID" sz="1600" dirty="0"/>
              <a:t> </a:t>
            </a:r>
            <a:r>
              <a:rPr lang="en-ID" sz="1600" dirty="0" err="1"/>
              <a:t>apa</a:t>
            </a:r>
            <a:r>
              <a:rPr lang="en-ID" sz="1600" dirty="0"/>
              <a:t> </a:t>
            </a:r>
            <a:r>
              <a:rPr lang="en-ID" sz="1600" dirty="0" err="1"/>
              <a:t>saja</a:t>
            </a:r>
            <a:r>
              <a:rPr lang="en-ID" sz="1600" dirty="0"/>
              <a:t> yang </a:t>
            </a:r>
            <a:r>
              <a:rPr lang="en-ID" sz="1600" dirty="0" err="1"/>
              <a:t>dibutuhkan</a:t>
            </a:r>
            <a:r>
              <a:rPr lang="en-ID" sz="1600" dirty="0"/>
              <a:t>, dan </a:t>
            </a:r>
            <a:r>
              <a:rPr lang="en-ID" sz="1600" dirty="0" err="1"/>
              <a:t>tipe</a:t>
            </a:r>
            <a:r>
              <a:rPr lang="en-ID" sz="1600" dirty="0"/>
              <a:t> </a:t>
            </a:r>
            <a:r>
              <a:rPr lang="en-ID" sz="1600" dirty="0" err="1"/>
              <a:t>datanya</a:t>
            </a:r>
            <a:r>
              <a:rPr lang="en-ID" sz="1600" dirty="0"/>
              <a:t>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60F94-01D0-6044-2BD9-20FC2CAD7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43" y="1690689"/>
            <a:ext cx="5888865" cy="37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975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1965-A2EC-655B-1A4A-A6F1B181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5073-9520-6066-EDF1-E238EE83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Routing -  </a:t>
            </a:r>
            <a:r>
              <a:rPr lang="en-ID" b="1" dirty="0" err="1"/>
              <a:t>Menggabungkan</a:t>
            </a:r>
            <a:r>
              <a:rPr lang="en-ID" b="1" dirty="0"/>
              <a:t> </a:t>
            </a:r>
            <a:r>
              <a:rPr lang="en-ID" b="1" dirty="0" err="1"/>
              <a:t>banyak</a:t>
            </a:r>
            <a:r>
              <a:rPr lang="en-ID" b="1" dirty="0"/>
              <a:t>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8DE92-7017-0449-93CB-08B79AE8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8D7AEF-CD4C-E4FA-2BA8-B9BCDB2AE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299" y="1690688"/>
            <a:ext cx="8813672" cy="456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3022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966A-A37A-B56E-244A-DD0A091B1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3CD6-42C4-8FD9-28E3-A440E9CE9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RBAC - Audit Log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78768-51D0-999B-3945-B7BF92BEC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177" y="1433738"/>
            <a:ext cx="11668384" cy="4933607"/>
          </a:xfrm>
          <a:ln w="28575">
            <a:noFill/>
            <a:prstDash val="dash"/>
          </a:ln>
        </p:spPr>
        <p:txBody>
          <a:bodyPr lIns="180000" tIns="180000" rIns="18000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1600" b="1" dirty="0"/>
              <a:t>RBAC (Role-Based Access Control)</a:t>
            </a:r>
            <a:r>
              <a:rPr lang="en-ID" sz="1600" dirty="0"/>
              <a:t> 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pola</a:t>
            </a:r>
            <a:r>
              <a:rPr lang="en-ID" sz="1600" dirty="0"/>
              <a:t> </a:t>
            </a:r>
            <a:r>
              <a:rPr lang="en-ID" sz="1600" dirty="0" err="1"/>
              <a:t>pembatasan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r>
              <a:rPr lang="en-ID" sz="1600" dirty="0"/>
              <a:t> </a:t>
            </a:r>
            <a:r>
              <a:rPr lang="en-ID" sz="1600" dirty="0" err="1"/>
              <a:t>berdasarkan</a:t>
            </a:r>
            <a:r>
              <a:rPr lang="en-ID" sz="1600" dirty="0"/>
              <a:t> </a:t>
            </a:r>
            <a:r>
              <a:rPr lang="en-ID" sz="1600" b="1" dirty="0" err="1"/>
              <a:t>peran</a:t>
            </a:r>
            <a:r>
              <a:rPr lang="en-ID" sz="1600" dirty="0"/>
              <a:t> (role) yang </a:t>
            </a:r>
            <a:r>
              <a:rPr lang="en-ID" sz="1600" dirty="0" err="1"/>
              <a:t>dipegang</a:t>
            </a:r>
            <a:r>
              <a:rPr lang="en-ID" sz="1600" dirty="0"/>
              <a:t> </a:t>
            </a:r>
            <a:r>
              <a:rPr lang="en-ID" sz="1600" dirty="0" err="1"/>
              <a:t>seseorang</a:t>
            </a:r>
            <a:r>
              <a:rPr lang="en-ID" sz="1600" dirty="0"/>
              <a:t>,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identitas</a:t>
            </a:r>
            <a:r>
              <a:rPr lang="en-ID" sz="1600" dirty="0"/>
              <a:t> </a:t>
            </a:r>
            <a:r>
              <a:rPr lang="en-ID" sz="1600" dirty="0" err="1"/>
              <a:t>individunya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per </a:t>
            </a:r>
            <a:r>
              <a:rPr lang="en-ID" sz="1600" dirty="0" err="1"/>
              <a:t>satu</a:t>
            </a:r>
            <a:endParaRPr lang="en-ID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600" dirty="0"/>
              <a:t>RBAC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menentukan</a:t>
            </a:r>
            <a:r>
              <a:rPr lang="en-ID" sz="1600" dirty="0"/>
              <a:t> tool mana yang </a:t>
            </a:r>
            <a:r>
              <a:rPr lang="en-ID" sz="1600" dirty="0" err="1"/>
              <a:t>boleh</a:t>
            </a:r>
            <a:r>
              <a:rPr lang="en-ID" sz="1600" dirty="0"/>
              <a:t> </a:t>
            </a:r>
            <a:r>
              <a:rPr lang="en-ID" sz="1600" dirty="0" err="1"/>
              <a:t>dipicu</a:t>
            </a:r>
            <a:r>
              <a:rPr lang="en-ID" sz="1600" dirty="0"/>
              <a:t>, </a:t>
            </a:r>
            <a:r>
              <a:rPr lang="en-ID" sz="1600" dirty="0" err="1"/>
              <a:t>bergantung</a:t>
            </a:r>
            <a:r>
              <a:rPr lang="en-ID" sz="1600" dirty="0"/>
              <a:t> </a:t>
            </a:r>
            <a:r>
              <a:rPr lang="en-ID" sz="1600" dirty="0" err="1"/>
              <a:t>kepada</a:t>
            </a:r>
            <a:r>
              <a:rPr lang="en-ID" sz="1600" dirty="0"/>
              <a:t> role user. </a:t>
            </a:r>
            <a:r>
              <a:rPr lang="en-ID" sz="1600" dirty="0" err="1"/>
              <a:t>Prinsip</a:t>
            </a:r>
            <a:r>
              <a:rPr lang="en-ID" sz="1600" dirty="0"/>
              <a:t> yang </a:t>
            </a:r>
            <a:r>
              <a:rPr lang="en-ID" sz="1600" dirty="0" err="1"/>
              <a:t>dipegang</a:t>
            </a:r>
            <a:r>
              <a:rPr lang="en-ID" sz="1600" dirty="0"/>
              <a:t> </a:t>
            </a:r>
            <a:r>
              <a:rPr lang="en-ID" sz="1600" dirty="0" err="1"/>
              <a:t>sejak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 </a:t>
            </a:r>
            <a:r>
              <a:rPr lang="en-ID" sz="1600" b="1" dirty="0"/>
              <a:t>fail-safe</a:t>
            </a:r>
            <a:r>
              <a:rPr lang="en-ID" sz="1600" dirty="0"/>
              <a:t>: </a:t>
            </a:r>
            <a:r>
              <a:rPr lang="en-ID" sz="1600" dirty="0" err="1"/>
              <a:t>kalau</a:t>
            </a:r>
            <a:r>
              <a:rPr lang="en-ID" sz="1600" dirty="0"/>
              <a:t> role 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disertakan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 </a:t>
            </a:r>
            <a:r>
              <a:rPr lang="en-ID" sz="1600" dirty="0" err="1"/>
              <a:t>sekali</a:t>
            </a:r>
            <a:r>
              <a:rPr lang="en-ID" sz="1600" dirty="0"/>
              <a:t> di request,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mengasumsikan</a:t>
            </a:r>
            <a:r>
              <a:rPr lang="en-ID" sz="1600" dirty="0"/>
              <a:t> </a:t>
            </a:r>
            <a:r>
              <a:rPr lang="en-ID" sz="1600" dirty="0" err="1"/>
              <a:t>hak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r>
              <a:rPr lang="en-ID" sz="1600" dirty="0"/>
              <a:t> paling </a:t>
            </a:r>
            <a:r>
              <a:rPr lang="en-ID" sz="1600" dirty="0" err="1"/>
              <a:t>rendah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jadi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diberikan</a:t>
            </a:r>
            <a:r>
              <a:rPr lang="en-ID" sz="1600" dirty="0"/>
              <a:t> </a:t>
            </a:r>
            <a:r>
              <a:rPr lang="en-ID" sz="1600" dirty="0" err="1"/>
              <a:t>akses</a:t>
            </a:r>
            <a:endParaRPr lang="en-ID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3DE26-2351-4C2F-CCAF-1FF95C0B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29" y="3625279"/>
            <a:ext cx="9599342" cy="306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219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BE55-32E8-3409-1FF5-D70B44EC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3CD6E-72D0-3A14-11CB-0FC71E0A237C}"/>
              </a:ext>
            </a:extLst>
          </p:cNvPr>
          <p:cNvSpPr txBox="1"/>
          <p:nvPr/>
        </p:nvSpPr>
        <p:spPr>
          <a:xfrm>
            <a:off x="806774" y="1646103"/>
            <a:ext cx="68831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85A76"/>
                </a:solidFill>
              </a:rPr>
              <a:t>Etika &amp; </a:t>
            </a:r>
          </a:p>
          <a:p>
            <a:r>
              <a:rPr lang="en-US" sz="5400" b="1" dirty="0">
                <a:solidFill>
                  <a:srgbClr val="085A76"/>
                </a:solidFill>
              </a:rPr>
              <a:t>Governance AI</a:t>
            </a:r>
          </a:p>
        </p:txBody>
      </p:sp>
    </p:spTree>
    <p:extLst>
      <p:ext uri="{BB962C8B-B14F-4D97-AF65-F5344CB8AC3E}">
        <p14:creationId xmlns:p14="http://schemas.microsoft.com/office/powerpoint/2010/main" val="6750323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5D35-3323-0357-AC75-F0ADEEC8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5EAF-132B-835B-8C7E-0BDBC621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Peta Risiko AI in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A0BCC-43CF-91F3-5D10-2EECDFDFE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58813E-A2BA-36B8-81C2-3E159F408C1D}"/>
              </a:ext>
            </a:extLst>
          </p:cNvPr>
          <p:cNvSpPr txBox="1">
            <a:spLocks/>
          </p:cNvSpPr>
          <p:nvPr/>
        </p:nvSpPr>
        <p:spPr>
          <a:xfrm>
            <a:off x="319177" y="1135004"/>
            <a:ext cx="11328181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CBFBD83-D492-04E6-E72C-BB9113B4228E}"/>
              </a:ext>
            </a:extLst>
          </p:cNvPr>
          <p:cNvSpPr txBox="1">
            <a:spLocks/>
          </p:cNvSpPr>
          <p:nvPr/>
        </p:nvSpPr>
        <p:spPr>
          <a:xfrm>
            <a:off x="438526" y="1491299"/>
            <a:ext cx="11033037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07E92-AD9A-56D3-662C-0FF80B273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3699"/>
            <a:ext cx="12192000" cy="197079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4EF01F7-8858-FA85-E7C8-C1B3165D7DC2}"/>
              </a:ext>
            </a:extLst>
          </p:cNvPr>
          <p:cNvSpPr txBox="1">
            <a:spLocks/>
          </p:cNvSpPr>
          <p:nvPr/>
        </p:nvSpPr>
        <p:spPr>
          <a:xfrm>
            <a:off x="590926" y="1643699"/>
            <a:ext cx="11033037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ID" sz="1600" b="1" dirty="0"/>
          </a:p>
          <a:p>
            <a:pPr marL="0" indent="0">
              <a:lnSpc>
                <a:spcPct val="150000"/>
              </a:lnSpc>
              <a:buNone/>
            </a:pPr>
            <a:endParaRPr lang="en-ID" sz="1600" b="1" dirty="0"/>
          </a:p>
          <a:p>
            <a:pPr marL="0" indent="0">
              <a:lnSpc>
                <a:spcPct val="150000"/>
              </a:lnSpc>
              <a:buNone/>
            </a:pPr>
            <a:endParaRPr lang="en-ID" sz="1600" b="1" dirty="0"/>
          </a:p>
          <a:p>
            <a:pPr marL="0" indent="0">
              <a:lnSpc>
                <a:spcPct val="100000"/>
              </a:lnSpc>
              <a:buNone/>
            </a:pPr>
            <a:endParaRPr lang="en-ID" sz="1600" dirty="0"/>
          </a:p>
          <a:p>
            <a:pPr marL="0" indent="0">
              <a:lnSpc>
                <a:spcPct val="100000"/>
              </a:lnSpc>
              <a:buNone/>
            </a:pPr>
            <a:endParaRPr lang="en-ID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D" sz="1600" b="1" dirty="0"/>
              <a:t>Data Leakage </a:t>
            </a:r>
            <a:r>
              <a:rPr lang="en-ID" sz="1600" dirty="0"/>
              <a:t>: Prompt </a:t>
            </a:r>
            <a:r>
              <a:rPr lang="en-ID" sz="1600" dirty="0" err="1"/>
              <a:t>berisi</a:t>
            </a:r>
            <a:r>
              <a:rPr lang="en-ID" sz="1600" dirty="0"/>
              <a:t> connection string production -&gt; Credential bocor </a:t>
            </a:r>
            <a:r>
              <a:rPr lang="en-ID" sz="1600" dirty="0" err="1"/>
              <a:t>ke</a:t>
            </a:r>
            <a:r>
              <a:rPr lang="en-ID" sz="1600" dirty="0"/>
              <a:t> log provide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D" sz="1600" b="1" dirty="0"/>
              <a:t>IP &amp; Source Exposure</a:t>
            </a:r>
            <a:r>
              <a:rPr lang="en-ID" sz="1600" dirty="0"/>
              <a:t> : Modul billing core </a:t>
            </a:r>
            <a:r>
              <a:rPr lang="en-ID" sz="1600" dirty="0" err="1"/>
              <a:t>diupload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konteks</a:t>
            </a:r>
            <a:r>
              <a:rPr lang="en-ID" sz="1600" dirty="0"/>
              <a:t> </a:t>
            </a:r>
            <a:r>
              <a:rPr lang="en-ID" sz="1600" dirty="0">
                <a:sym typeface="Wingdings" pitchFamily="2" charset="2"/>
              </a:rPr>
              <a:t> </a:t>
            </a:r>
            <a:r>
              <a:rPr lang="en-ID" sz="1600" dirty="0" err="1"/>
              <a:t>Hilangnya</a:t>
            </a:r>
            <a:r>
              <a:rPr lang="en-ID" sz="1600" dirty="0"/>
              <a:t> </a:t>
            </a:r>
            <a:r>
              <a:rPr lang="en-ID" sz="1600" dirty="0" err="1"/>
              <a:t>rahasia</a:t>
            </a:r>
            <a:r>
              <a:rPr lang="en-ID" sz="1600" dirty="0"/>
              <a:t> </a:t>
            </a:r>
            <a:r>
              <a:rPr lang="en-ID" sz="1600" dirty="0" err="1"/>
              <a:t>dagang</a:t>
            </a:r>
            <a:endParaRPr lang="en-ID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D" sz="1600" b="1" dirty="0"/>
              <a:t>Hallucinated Dependency </a:t>
            </a:r>
            <a:r>
              <a:rPr lang="en-ID" sz="1600" dirty="0"/>
              <a:t>: AI </a:t>
            </a:r>
            <a:r>
              <a:rPr lang="en-ID" sz="1600" dirty="0" err="1"/>
              <a:t>sarankan</a:t>
            </a:r>
            <a:r>
              <a:rPr lang="en-ID" sz="1600" dirty="0"/>
              <a:t> </a:t>
            </a:r>
            <a:r>
              <a:rPr lang="en-ID" sz="1600" dirty="0" err="1"/>
              <a:t>sesuatu</a:t>
            </a:r>
            <a:r>
              <a:rPr lang="en-ID" sz="1600" dirty="0"/>
              <a:t> </a:t>
            </a:r>
            <a:r>
              <a:rPr lang="en-ID" sz="1600" dirty="0" err="1"/>
              <a:t>installasi</a:t>
            </a:r>
            <a:r>
              <a:rPr lang="en-ID" sz="1600" dirty="0"/>
              <a:t> yang salah </a:t>
            </a:r>
            <a:r>
              <a:rPr lang="en-ID" sz="1600" dirty="0">
                <a:sym typeface="Wingdings" pitchFamily="2" charset="2"/>
              </a:rPr>
              <a:t> </a:t>
            </a:r>
            <a:r>
              <a:rPr lang="en-ID" sz="1600" dirty="0"/>
              <a:t>Supply chain attack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D" sz="1600" b="1" dirty="0"/>
              <a:t>License Contamination </a:t>
            </a:r>
            <a:r>
              <a:rPr lang="en-ID" sz="1600" dirty="0"/>
              <a:t>: Snippet GPL-3 </a:t>
            </a:r>
            <a:r>
              <a:rPr lang="en-ID" sz="1600" dirty="0" err="1"/>
              <a:t>masuk</a:t>
            </a:r>
            <a:r>
              <a:rPr lang="en-ID" sz="1600" dirty="0"/>
              <a:t> </a:t>
            </a:r>
            <a:r>
              <a:rPr lang="en-ID" sz="1600" dirty="0" err="1"/>
              <a:t>produk</a:t>
            </a:r>
            <a:r>
              <a:rPr lang="en-ID" sz="1600" dirty="0"/>
              <a:t> </a:t>
            </a:r>
            <a:r>
              <a:rPr lang="en-ID" sz="1600" dirty="0" err="1"/>
              <a:t>komersial</a:t>
            </a:r>
            <a:r>
              <a:rPr lang="en-ID" sz="1600" dirty="0"/>
              <a:t> </a:t>
            </a:r>
            <a:r>
              <a:rPr lang="en-ID" sz="1600" dirty="0">
                <a:sym typeface="Wingdings" pitchFamily="2" charset="2"/>
              </a:rPr>
              <a:t> </a:t>
            </a:r>
            <a:r>
              <a:rPr lang="en-ID" sz="1600" dirty="0" err="1"/>
              <a:t>Konsekuensi</a:t>
            </a:r>
            <a:r>
              <a:rPr lang="en-ID" sz="1600" dirty="0"/>
              <a:t> </a:t>
            </a:r>
            <a:r>
              <a:rPr lang="en-ID" sz="1600" dirty="0" err="1"/>
              <a:t>hukum</a:t>
            </a:r>
            <a:endParaRPr lang="en-ID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D" sz="1600" b="1" dirty="0"/>
              <a:t>Prompt Injection </a:t>
            </a:r>
            <a:r>
              <a:rPr lang="en-ID" sz="1600" dirty="0"/>
              <a:t>: </a:t>
            </a:r>
            <a:r>
              <a:rPr lang="en-ID" sz="1600" dirty="0" err="1"/>
              <a:t>Komentar</a:t>
            </a:r>
            <a:r>
              <a:rPr lang="en-ID" sz="1600" dirty="0"/>
              <a:t> di file open-source </a:t>
            </a: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instruksi</a:t>
            </a:r>
            <a:r>
              <a:rPr lang="en-ID" sz="1600" dirty="0"/>
              <a:t> </a:t>
            </a:r>
            <a:r>
              <a:rPr lang="en-ID" sz="1600" dirty="0">
                <a:sym typeface="Wingdings" pitchFamily="2" charset="2"/>
              </a:rPr>
              <a:t> </a:t>
            </a:r>
            <a:r>
              <a:rPr lang="en-ID" sz="1600" dirty="0"/>
              <a:t>AI </a:t>
            </a:r>
            <a:r>
              <a:rPr lang="en-ID" sz="1600" dirty="0" err="1"/>
              <a:t>lakukan</a:t>
            </a:r>
            <a:r>
              <a:rPr lang="en-ID" sz="1600" dirty="0"/>
              <a:t> </a:t>
            </a:r>
            <a:r>
              <a:rPr lang="en-ID" sz="1600" dirty="0" err="1"/>
              <a:t>aksi</a:t>
            </a:r>
            <a:r>
              <a:rPr lang="en-ID" sz="1600" dirty="0"/>
              <a:t>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diinginkan</a:t>
            </a:r>
            <a:endParaRPr lang="en-ID" sz="1600" dirty="0"/>
          </a:p>
          <a:p>
            <a:pPr marL="0" indent="0">
              <a:lnSpc>
                <a:spcPct val="150000"/>
              </a:lnSpc>
              <a:buNone/>
            </a:pPr>
            <a:endParaRPr lang="en-ID" sz="1600" b="1" dirty="0"/>
          </a:p>
          <a:p>
            <a:pPr marL="0" indent="0">
              <a:lnSpc>
                <a:spcPct val="150000"/>
              </a:lnSpc>
              <a:buNone/>
            </a:pPr>
            <a:endParaRPr lang="en-ID" sz="1600" b="1" dirty="0"/>
          </a:p>
        </p:txBody>
      </p:sp>
    </p:spTree>
    <p:extLst>
      <p:ext uri="{BB962C8B-B14F-4D97-AF65-F5344CB8AC3E}">
        <p14:creationId xmlns:p14="http://schemas.microsoft.com/office/powerpoint/2010/main" val="82943567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68E74-656B-AEBB-73DD-EE252B622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9B19-D5FE-A682-4754-EFF29BD9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Etika </a:t>
            </a:r>
            <a:r>
              <a:rPr lang="en-ID" b="1" dirty="0" err="1"/>
              <a:t>Penggunaan</a:t>
            </a:r>
            <a:endParaRPr lang="en-ID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6B1DB0-A7E8-A4CE-EB2A-ABEE85A881F2}"/>
              </a:ext>
            </a:extLst>
          </p:cNvPr>
          <p:cNvSpPr txBox="1">
            <a:spLocks/>
          </p:cNvSpPr>
          <p:nvPr/>
        </p:nvSpPr>
        <p:spPr>
          <a:xfrm>
            <a:off x="438526" y="1491299"/>
            <a:ext cx="11033037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EE87CE-9AE5-7A60-48EF-CFE1C489308F}"/>
              </a:ext>
            </a:extLst>
          </p:cNvPr>
          <p:cNvSpPr txBox="1">
            <a:spLocks/>
          </p:cNvSpPr>
          <p:nvPr/>
        </p:nvSpPr>
        <p:spPr>
          <a:xfrm>
            <a:off x="590926" y="1643699"/>
            <a:ext cx="11033037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D" sz="1800" b="1" dirty="0" err="1"/>
              <a:t>Empat</a:t>
            </a:r>
            <a:r>
              <a:rPr lang="en-ID" sz="1800" b="1" dirty="0"/>
              <a:t> </a:t>
            </a:r>
            <a:r>
              <a:rPr lang="en-ID" sz="1800" b="1" dirty="0" err="1"/>
              <a:t>dimensi</a:t>
            </a:r>
            <a:r>
              <a:rPr lang="en-ID" sz="1800" b="1" dirty="0"/>
              <a:t> yang </a:t>
            </a:r>
            <a:r>
              <a:rPr lang="en-ID" sz="1800" b="1" dirty="0" err="1"/>
              <a:t>perlu</a:t>
            </a:r>
            <a:r>
              <a:rPr lang="en-ID" sz="1800" b="1" dirty="0"/>
              <a:t> </a:t>
            </a:r>
            <a:r>
              <a:rPr lang="en-ID" sz="1800" b="1" dirty="0" err="1"/>
              <a:t>disepakati</a:t>
            </a:r>
            <a:r>
              <a:rPr lang="en-ID" sz="1800" b="1" dirty="0"/>
              <a:t>:</a:t>
            </a:r>
          </a:p>
          <a:p>
            <a:pPr>
              <a:lnSpc>
                <a:spcPct val="150000"/>
              </a:lnSpc>
            </a:pPr>
            <a:r>
              <a:rPr lang="en-ID" sz="1800" b="1" dirty="0" err="1"/>
              <a:t>Tanggung</a:t>
            </a:r>
            <a:r>
              <a:rPr lang="en-ID" sz="1800" b="1" dirty="0"/>
              <a:t> </a:t>
            </a:r>
            <a:r>
              <a:rPr lang="en-ID" sz="1800" b="1" dirty="0" err="1"/>
              <a:t>jawab</a:t>
            </a:r>
            <a:r>
              <a:rPr lang="en-ID" sz="1800" dirty="0"/>
              <a:t> — </a:t>
            </a:r>
            <a:r>
              <a:rPr lang="en-ID" sz="1800" dirty="0" err="1"/>
              <a:t>penulis</a:t>
            </a:r>
            <a:r>
              <a:rPr lang="en-ID" sz="1800" dirty="0"/>
              <a:t> commit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dirty="0" err="1"/>
              <a:t>manusia</a:t>
            </a:r>
            <a:r>
              <a:rPr lang="en-ID" sz="1800" dirty="0"/>
              <a:t>, AI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alat</a:t>
            </a:r>
            <a:r>
              <a:rPr lang="en-ID" sz="1800" dirty="0"/>
              <a:t>. </a:t>
            </a:r>
          </a:p>
          <a:p>
            <a:pPr>
              <a:lnSpc>
                <a:spcPct val="150000"/>
              </a:lnSpc>
            </a:pPr>
            <a:r>
              <a:rPr lang="en-ID" sz="1800" b="1" dirty="0"/>
              <a:t>Bias model</a:t>
            </a:r>
            <a:r>
              <a:rPr lang="en-ID" sz="1800" dirty="0"/>
              <a:t> — model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mereplikasi</a:t>
            </a:r>
            <a:r>
              <a:rPr lang="en-ID" sz="1800" dirty="0"/>
              <a:t> </a:t>
            </a:r>
            <a:r>
              <a:rPr lang="en-ID" sz="1800" dirty="0" err="1"/>
              <a:t>pola</a:t>
            </a:r>
            <a:r>
              <a:rPr lang="en-ID" sz="1800" dirty="0"/>
              <a:t> </a:t>
            </a:r>
            <a:r>
              <a:rPr lang="en-ID" sz="1800" dirty="0" err="1"/>
              <a:t>buruk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training data; reviewer </a:t>
            </a:r>
            <a:r>
              <a:rPr lang="en-ID" sz="1800" dirty="0" err="1"/>
              <a:t>manusia</a:t>
            </a:r>
            <a:r>
              <a:rPr lang="en-ID" sz="1800" dirty="0"/>
              <a:t> </a:t>
            </a:r>
            <a:r>
              <a:rPr lang="en-ID" sz="1800" dirty="0" err="1"/>
              <a:t>tetap</a:t>
            </a:r>
            <a:r>
              <a:rPr lang="en-ID" sz="1800" dirty="0"/>
              <a:t> final gate.</a:t>
            </a:r>
          </a:p>
          <a:p>
            <a:pPr>
              <a:lnSpc>
                <a:spcPct val="150000"/>
              </a:lnSpc>
            </a:pPr>
            <a:r>
              <a:rPr lang="en-ID" sz="1800" b="1" dirty="0" err="1"/>
              <a:t>Ketergantungan</a:t>
            </a:r>
            <a:r>
              <a:rPr lang="en-ID" sz="1800" b="1" dirty="0"/>
              <a:t> &amp; deskilling</a:t>
            </a:r>
            <a:r>
              <a:rPr lang="en-ID" sz="1800" dirty="0"/>
              <a:t> — </a:t>
            </a:r>
            <a:r>
              <a:rPr lang="en-ID" sz="1800" dirty="0" err="1"/>
              <a:t>bisa</a:t>
            </a:r>
            <a:r>
              <a:rPr lang="en-ID" sz="1800" dirty="0"/>
              <a:t> </a:t>
            </a:r>
            <a:r>
              <a:rPr lang="en-ID" sz="1800" dirty="0" err="1"/>
              <a:t>kehilangan</a:t>
            </a:r>
            <a:r>
              <a:rPr lang="en-ID" sz="1800" dirty="0"/>
              <a:t> </a:t>
            </a:r>
            <a:r>
              <a:rPr lang="en-ID" sz="1800" dirty="0" err="1"/>
              <a:t>kesempatan</a:t>
            </a:r>
            <a:r>
              <a:rPr lang="en-ID" sz="1800" dirty="0"/>
              <a:t> </a:t>
            </a:r>
            <a:r>
              <a:rPr lang="en-ID" sz="1800" dirty="0" err="1"/>
              <a:t>belajar</a:t>
            </a:r>
            <a:r>
              <a:rPr lang="en-ID" sz="1800" dirty="0"/>
              <a:t> fundamental </a:t>
            </a:r>
            <a:r>
              <a:rPr lang="en-ID" sz="1800" dirty="0" err="1"/>
              <a:t>bila</a:t>
            </a:r>
            <a:r>
              <a:rPr lang="en-ID" sz="1800" dirty="0"/>
              <a:t> </a:t>
            </a:r>
            <a:r>
              <a:rPr lang="en-ID" sz="1800" dirty="0" err="1"/>
              <a:t>terlalu</a:t>
            </a:r>
            <a:r>
              <a:rPr lang="en-ID" sz="1800" dirty="0"/>
              <a:t> </a:t>
            </a:r>
            <a:r>
              <a:rPr lang="en-ID" sz="1800" dirty="0" err="1"/>
              <a:t>cepat</a:t>
            </a:r>
            <a:r>
              <a:rPr lang="en-ID" sz="1800" dirty="0"/>
              <a:t> </a:t>
            </a:r>
            <a:r>
              <a:rPr lang="en-ID" sz="1800" dirty="0" err="1"/>
              <a:t>menggantungkan</a:t>
            </a:r>
            <a:r>
              <a:rPr lang="en-ID" sz="1800" dirty="0"/>
              <a:t> AI.</a:t>
            </a:r>
          </a:p>
          <a:p>
            <a:pPr>
              <a:lnSpc>
                <a:spcPct val="150000"/>
              </a:lnSpc>
            </a:pPr>
            <a:r>
              <a:rPr lang="en-ID" sz="1800" b="1" dirty="0" err="1"/>
              <a:t>Dampak</a:t>
            </a:r>
            <a:r>
              <a:rPr lang="en-ID" sz="1800" b="1" dirty="0"/>
              <a:t> </a:t>
            </a:r>
            <a:r>
              <a:rPr lang="en-ID" sz="1800" b="1" dirty="0" err="1"/>
              <a:t>lingkungan</a:t>
            </a:r>
            <a:r>
              <a:rPr lang="en-ID" sz="1800" dirty="0"/>
              <a:t> — </a:t>
            </a:r>
            <a:r>
              <a:rPr lang="en-ID" sz="1800" dirty="0" err="1"/>
              <a:t>inferensi</a:t>
            </a:r>
            <a:r>
              <a:rPr lang="en-ID" sz="1800" dirty="0"/>
              <a:t> punya energy footprint; </a:t>
            </a:r>
            <a:r>
              <a:rPr lang="en-ID" sz="1800" dirty="0" err="1"/>
              <a:t>gunakan</a:t>
            </a:r>
            <a:r>
              <a:rPr lang="en-ID" sz="1800" dirty="0"/>
              <a:t> </a:t>
            </a:r>
            <a:r>
              <a:rPr lang="en-ID" sz="1800" dirty="0" err="1"/>
              <a:t>secukupnya</a:t>
            </a:r>
            <a:r>
              <a:rPr lang="en-ID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</p:spTree>
    <p:extLst>
      <p:ext uri="{BB962C8B-B14F-4D97-AF65-F5344CB8AC3E}">
        <p14:creationId xmlns:p14="http://schemas.microsoft.com/office/powerpoint/2010/main" val="364207936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AF37-B0C3-B44C-2582-63284CD3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7853-A4A2-BB8A-20A3-3BE60621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Governance Framework </a:t>
            </a:r>
            <a:r>
              <a:rPr lang="en-ID" b="1" dirty="0" err="1"/>
              <a:t>Singkat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630A-A666-9F40-DEAE-AD28EAF23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8A4832-2433-B2F8-CA32-A3C8D370806D}"/>
              </a:ext>
            </a:extLst>
          </p:cNvPr>
          <p:cNvSpPr txBox="1">
            <a:spLocks/>
          </p:cNvSpPr>
          <p:nvPr/>
        </p:nvSpPr>
        <p:spPr>
          <a:xfrm>
            <a:off x="319177" y="1135004"/>
            <a:ext cx="11328181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3394F3-0CC1-B1DE-F886-60751720F963}"/>
              </a:ext>
            </a:extLst>
          </p:cNvPr>
          <p:cNvSpPr txBox="1">
            <a:spLocks/>
          </p:cNvSpPr>
          <p:nvPr/>
        </p:nvSpPr>
        <p:spPr>
          <a:xfrm>
            <a:off x="438526" y="1491299"/>
            <a:ext cx="11033037" cy="474494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ID" sz="1800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0FBBED-122F-3581-E7E4-59B6B958B0BD}"/>
              </a:ext>
            </a:extLst>
          </p:cNvPr>
          <p:cNvSpPr txBox="1">
            <a:spLocks/>
          </p:cNvSpPr>
          <p:nvPr/>
        </p:nvSpPr>
        <p:spPr>
          <a:xfrm>
            <a:off x="590926" y="1643699"/>
            <a:ext cx="11033037" cy="2360265"/>
          </a:xfrm>
          <a:prstGeom prst="rect">
            <a:avLst/>
          </a:prstGeom>
          <a:ln w="28575">
            <a:noFill/>
            <a:prstDash val="dash"/>
          </a:ln>
        </p:spPr>
        <p:txBody>
          <a:bodyPr vert="horz" lIns="180000" tIns="180000" rIns="18000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/>
              <a:t>Apa Itu Governance Framework?</a:t>
            </a: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1800" b="1" dirty="0"/>
              <a:t>Governance framework</a:t>
            </a:r>
            <a:r>
              <a:rPr lang="en-ID" sz="1800" dirty="0"/>
              <a:t> = </a:t>
            </a:r>
            <a:r>
              <a:rPr lang="en-ID" sz="1800" dirty="0" err="1"/>
              <a:t>kerangka</a:t>
            </a:r>
            <a:r>
              <a:rPr lang="en-ID" sz="1800" dirty="0"/>
              <a:t> </a:t>
            </a:r>
            <a:r>
              <a:rPr lang="en-ID" sz="1800" i="1" dirty="0" err="1"/>
              <a:t>siklus</a:t>
            </a:r>
            <a:r>
              <a:rPr lang="en-ID" sz="1800" dirty="0"/>
              <a:t> </a:t>
            </a:r>
            <a:r>
              <a:rPr lang="en-ID" sz="1800" dirty="0" err="1"/>
              <a:t>aktivitas</a:t>
            </a:r>
            <a:r>
              <a:rPr lang="en-ID" sz="1800" dirty="0"/>
              <a:t> yang </a:t>
            </a:r>
            <a:r>
              <a:rPr lang="en-ID" sz="1800" dirty="0" err="1"/>
              <a:t>memastikan</a:t>
            </a:r>
            <a:r>
              <a:rPr lang="en-ID" sz="1800" dirty="0"/>
              <a:t> </a:t>
            </a:r>
            <a:r>
              <a:rPr lang="en-ID" sz="1800" dirty="0" err="1"/>
              <a:t>penggunaan</a:t>
            </a:r>
            <a:r>
              <a:rPr lang="en-ID" sz="1800" dirty="0"/>
              <a:t> AI assistant di </a:t>
            </a:r>
            <a:r>
              <a:rPr lang="en-ID" sz="1800" dirty="0" err="1"/>
              <a:t>organisasi</a:t>
            </a:r>
            <a:r>
              <a:rPr lang="en-ID" sz="1800" dirty="0"/>
              <a:t>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b="1" dirty="0" err="1"/>
              <a:t>aman</a:t>
            </a:r>
            <a:r>
              <a:rPr lang="en-ID" sz="1800" b="1" dirty="0"/>
              <a:t>, </a:t>
            </a:r>
            <a:r>
              <a:rPr lang="en-ID" sz="1800" b="1" dirty="0" err="1"/>
              <a:t>patuh</a:t>
            </a:r>
            <a:r>
              <a:rPr lang="en-ID" sz="1800" b="1" dirty="0"/>
              <a:t>, dan </a:t>
            </a:r>
            <a:r>
              <a:rPr lang="en-ID" sz="1800" b="1" dirty="0" err="1"/>
              <a:t>terukur</a:t>
            </a:r>
            <a:r>
              <a:rPr lang="en-ID" sz="1800" dirty="0"/>
              <a:t> </a:t>
            </a:r>
            <a:r>
              <a:rPr lang="en-ID" sz="1800" dirty="0" err="1"/>
              <a:t>seiring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.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dokumen</a:t>
            </a:r>
            <a:r>
              <a:rPr lang="en-ID" sz="1800" dirty="0"/>
              <a:t> </a:t>
            </a:r>
            <a:r>
              <a:rPr lang="en-ID" sz="1800" dirty="0" err="1"/>
              <a:t>sekali</a:t>
            </a:r>
            <a:r>
              <a:rPr lang="en-ID" sz="1800" dirty="0"/>
              <a:t> </a:t>
            </a:r>
            <a:r>
              <a:rPr lang="en-ID" sz="1800" dirty="0" err="1"/>
              <a:t>tulis</a:t>
            </a:r>
            <a:r>
              <a:rPr lang="en-ID" sz="1800" dirty="0"/>
              <a:t>, </a:t>
            </a:r>
            <a:r>
              <a:rPr lang="en-ID" sz="1800" dirty="0" err="1"/>
              <a:t>tapi</a:t>
            </a:r>
            <a:r>
              <a:rPr lang="en-ID" sz="1800" dirty="0"/>
              <a:t> </a:t>
            </a:r>
            <a:r>
              <a:rPr lang="en-ID" sz="1800" b="1" dirty="0"/>
              <a:t>loop</a:t>
            </a:r>
            <a:r>
              <a:rPr lang="en-ID" sz="1800" dirty="0"/>
              <a:t> yang </a:t>
            </a:r>
            <a:r>
              <a:rPr lang="en-ID" sz="1800" dirty="0" err="1"/>
              <a:t>berputar</a:t>
            </a:r>
            <a:r>
              <a:rPr lang="en-ID" sz="1800" dirty="0"/>
              <a:t> </a:t>
            </a:r>
            <a:r>
              <a:rPr lang="en-ID" sz="1800" dirty="0" err="1"/>
              <a:t>terus</a:t>
            </a:r>
            <a:r>
              <a:rPr lang="en-ID" sz="18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1800" dirty="0"/>
          </a:p>
          <a:p>
            <a:pPr marL="0" indent="0" algn="just">
              <a:lnSpc>
                <a:spcPct val="150000"/>
              </a:lnSpc>
              <a:buNone/>
            </a:pPr>
            <a:endParaRPr lang="en-ID" sz="1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CD4C0-791B-D4D0-C9A7-ABF3F0760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11" y="3915377"/>
            <a:ext cx="10760149" cy="171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2908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C3A0BA-41EB-8150-5739-27DE73B14E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516" y="-2541"/>
            <a:ext cx="12196516" cy="6860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D3294A-D553-2CD2-436C-75ABBE4CCA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3495" y="2267144"/>
            <a:ext cx="3785011" cy="2323713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14500" err="1">
                <a:solidFill>
                  <a:schemeClr val="bg1"/>
                </a:solidFill>
                <a:effectLst>
                  <a:outerShdw blurRad="254000" dist="139700" dir="5400000" algn="t" rotWithShape="0">
                    <a:prstClr val="black">
                      <a:alpha val="68000"/>
                    </a:prstClr>
                  </a:outerShdw>
                </a:effectLst>
                <a:latin typeface="+mj-lt"/>
              </a:rPr>
              <a:t>Q</a:t>
            </a:r>
            <a:r>
              <a:rPr lang="en-US" sz="14500" err="1">
                <a:solidFill>
                  <a:schemeClr val="bg1"/>
                </a:solidFill>
                <a:effectLst>
                  <a:outerShdw blurRad="254000" dist="139700" dir="5400000" algn="t" rotWithShape="0">
                    <a:prstClr val="black">
                      <a:alpha val="68000"/>
                    </a:prstClr>
                  </a:outerShdw>
                </a:effectLst>
              </a:rPr>
              <a:t>n</a:t>
            </a:r>
            <a:r>
              <a:rPr lang="en-US" sz="14500" err="1">
                <a:solidFill>
                  <a:schemeClr val="bg1"/>
                </a:solidFill>
                <a:effectLst>
                  <a:outerShdw blurRad="254000" dist="139700" dir="5400000" algn="t" rotWithShape="0">
                    <a:prstClr val="black">
                      <a:alpha val="68000"/>
                    </a:prstClr>
                  </a:outerShdw>
                </a:effectLst>
                <a:latin typeface="+mj-lt"/>
              </a:rPr>
              <a:t>A</a:t>
            </a:r>
            <a:endParaRPr lang="en-US" sz="14500">
              <a:solidFill>
                <a:schemeClr val="bg1"/>
              </a:solidFill>
              <a:effectLst>
                <a:outerShdw blurRad="254000" dist="139700" dir="5400000" algn="t" rotWithShape="0">
                  <a:prstClr val="black">
                    <a:alpha val="68000"/>
                  </a:prstClr>
                </a:outerShdw>
              </a:effectLst>
              <a:latin typeface="+mj-lt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DDD8370E-1358-5435-0CAD-D92C56377E9E}"/>
              </a:ext>
            </a:extLst>
          </p:cNvPr>
          <p:cNvSpPr/>
          <p:nvPr/>
        </p:nvSpPr>
        <p:spPr>
          <a:xfrm>
            <a:off x="2537309" y="1987549"/>
            <a:ext cx="7592870" cy="2880360"/>
          </a:xfrm>
          <a:prstGeom prst="wedgeRectCallout">
            <a:avLst>
              <a:gd name="adj1" fmla="val 65996"/>
              <a:gd name="adj2" fmla="val 6944"/>
            </a:avLst>
          </a:prstGeom>
          <a:noFill/>
          <a:ln w="6350">
            <a:solidFill>
              <a:srgbClr val="2DFF00"/>
            </a:solidFill>
            <a:prstDash val="solid"/>
          </a:ln>
          <a:effectLst>
            <a:glow rad="228600">
              <a:schemeClr val="accent6">
                <a:satMod val="17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E860FA-3A79-55EC-205D-0E479D60A31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110" y="-618094"/>
            <a:ext cx="1905240" cy="19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4866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7C5F-7506-58F7-10EE-377DDEE4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09BC45-C6BE-26E3-2F23-412BD8C9D8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516" y="0"/>
            <a:ext cx="12192000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70C883F-B448-884D-6D0E-ABAA309A2B09}"/>
              </a:ext>
            </a:extLst>
          </p:cNvPr>
          <p:cNvGrpSpPr/>
          <p:nvPr/>
        </p:nvGrpSpPr>
        <p:grpSpPr>
          <a:xfrm>
            <a:off x="658368" y="1408176"/>
            <a:ext cx="6425157" cy="3731889"/>
            <a:chOff x="658368" y="1408176"/>
            <a:chExt cx="6425157" cy="373188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85759A-CCE7-26FB-8BD0-4544C5E0DB23}"/>
                </a:ext>
              </a:extLst>
            </p:cNvPr>
            <p:cNvSpPr txBox="1"/>
            <p:nvPr/>
          </p:nvSpPr>
          <p:spPr>
            <a:xfrm>
              <a:off x="658368" y="2816352"/>
              <a:ext cx="3786614" cy="23237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5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Roboto Light" panose="02000000000000000000" pitchFamily="2" charset="0"/>
                </a:rPr>
                <a:t>YOU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B7B945-7EAD-0EF8-3D14-285A4317B020}"/>
                </a:ext>
              </a:extLst>
            </p:cNvPr>
            <p:cNvSpPr txBox="1"/>
            <p:nvPr/>
          </p:nvSpPr>
          <p:spPr>
            <a:xfrm>
              <a:off x="658368" y="1408176"/>
              <a:ext cx="6425157" cy="2323713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4500">
                  <a:solidFill>
                    <a:schemeClr val="bg1"/>
                  </a:solidFill>
                  <a:effectLst>
                    <a:outerShdw blurRad="254000" dist="139700" dir="5400000" algn="t" rotWithShape="0">
                      <a:prstClr val="black">
                        <a:alpha val="68000"/>
                      </a:prstClr>
                    </a:outerShdw>
                  </a:effectLst>
                  <a:latin typeface="+mj-lt"/>
                </a:rPr>
                <a:t>THANK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A25EA43-16B3-9C65-46D6-27CDD521B9B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110" y="-618094"/>
            <a:ext cx="1905240" cy="19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0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4442153841]">
  <a:themeElements>
    <a:clrScheme name="Custom 1">
      <a:dk1>
        <a:srgbClr val="102D5F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F03A15-371A-0D48-B348-6DC2809D2D81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8ccd09fd-a232-4533-91bc-34bc50d3f09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70805</TotalTime>
  <Words>6180</Words>
  <Application>Microsoft Macintosh PowerPoint</Application>
  <PresentationFormat>Widescreen</PresentationFormat>
  <Paragraphs>770</Paragraphs>
  <Slides>113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3" baseType="lpstr">
      <vt:lpstr>-apple-system</vt:lpstr>
      <vt:lpstr>Aptos</vt:lpstr>
      <vt:lpstr>Arial</vt:lpstr>
      <vt:lpstr>Mona Sans VF</vt:lpstr>
      <vt:lpstr>Roboto</vt:lpstr>
      <vt:lpstr>Roboto Black</vt:lpstr>
      <vt:lpstr>Roboto Light</vt:lpstr>
      <vt:lpstr>var(--fontStack-monospace,ui-monospace, SFMono-Regular, SF Mono, Menlo, Consolas, Liberation Mono, monospace)</vt:lpstr>
      <vt:lpstr>Wingdings</vt:lpstr>
      <vt:lpstr>Office Theme [1784442153841]</vt:lpstr>
      <vt:lpstr>Building Enterprise AI Chatbot with  Private LLM &amp; RAG</vt:lpstr>
      <vt:lpstr>PowerPoint Presentation</vt:lpstr>
      <vt:lpstr>PowerPoint Presentation</vt:lpstr>
      <vt:lpstr>PowerPoint Presentation</vt:lpstr>
      <vt:lpstr>Prerequisite Pengetahuan</vt:lpstr>
      <vt:lpstr>Prerequisite Software</vt:lpstr>
      <vt:lpstr>Prerequisite Hardware</vt:lpstr>
      <vt:lpstr>PowerPoint Presentation</vt:lpstr>
      <vt:lpstr>Evolusi Artificial Intelligence</vt:lpstr>
      <vt:lpstr>Machine Learning VS Deep Learning</vt:lpstr>
      <vt:lpstr>Machine Learning VS Deep Learning</vt:lpstr>
      <vt:lpstr>Generative AI Overview</vt:lpstr>
      <vt:lpstr>Platform Generative AI</vt:lpstr>
      <vt:lpstr>PowerPoint Presentation</vt:lpstr>
      <vt:lpstr>Apa itu LLM?</vt:lpstr>
      <vt:lpstr>Alur Kerja Sederhana LLM</vt:lpstr>
      <vt:lpstr>Alur Kerja Sederhana LLM</vt:lpstr>
      <vt:lpstr>Token</vt:lpstr>
      <vt:lpstr>Context Windows</vt:lpstr>
      <vt:lpstr>AI Ecosistem</vt:lpstr>
      <vt:lpstr>Keterbatasan yang Wajib Dipahami</vt:lpstr>
      <vt:lpstr>PowerPoint Presentation</vt:lpstr>
      <vt:lpstr>Apa itu Prompt Engineering?</vt:lpstr>
      <vt:lpstr>Komponen Prompt</vt:lpstr>
      <vt:lpstr>Komponen Prompt (2)</vt:lpstr>
      <vt:lpstr>Prompt Quality Characteristics</vt:lpstr>
      <vt:lpstr>Prompt Quality Characteristics (2)</vt:lpstr>
      <vt:lpstr>Prompt Lifecycle</vt:lpstr>
      <vt:lpstr>PowerPoint Presentation</vt:lpstr>
      <vt:lpstr>Zero-Shot Prompting</vt:lpstr>
      <vt:lpstr>Few-Shot Prompting</vt:lpstr>
      <vt:lpstr>Instruction Prompting</vt:lpstr>
      <vt:lpstr>Instruction Prompting (2)</vt:lpstr>
      <vt:lpstr>Output Formating</vt:lpstr>
      <vt:lpstr>Output Formating (2)</vt:lpstr>
      <vt:lpstr>Output Formating (3)</vt:lpstr>
      <vt:lpstr>PowerPoint Presentation</vt:lpstr>
      <vt:lpstr>Open (Public) LLM API vs Private LLM</vt:lpstr>
      <vt:lpstr>Apa itu Ollama?</vt:lpstr>
      <vt:lpstr>Ollama vs Model Cloud (ChatGPT, Claude, dll.)</vt:lpstr>
      <vt:lpstr>Installasi Ollama</vt:lpstr>
      <vt:lpstr>Praktik — Verifikasi Instalasi &amp; Unduh Model</vt:lpstr>
      <vt:lpstr>Perbandingan Model yang Tersedia</vt:lpstr>
      <vt:lpstr>Akses Ollama via GUI</vt:lpstr>
      <vt:lpstr>System Prompt Sederhana di Ollama</vt:lpstr>
      <vt:lpstr>Contoh System Prompt Sederhana di Ollama</vt:lpstr>
      <vt:lpstr>Cara Set System Prompt Ollama di terminal</vt:lpstr>
      <vt:lpstr>Cara Persisten: Modelfile</vt:lpstr>
      <vt:lpstr>Referensi Lengkap Parameter Ollama</vt:lpstr>
      <vt:lpstr>PowerPoint Presentation</vt:lpstr>
      <vt:lpstr>Apa itu Docker?</vt:lpstr>
      <vt:lpstr>Docker Compose</vt:lpstr>
      <vt:lpstr>Arsitektur AI Project – Docker </vt:lpstr>
      <vt:lpstr>FastAPI</vt:lpstr>
      <vt:lpstr>Tahap I – FastApi </vt:lpstr>
      <vt:lpstr>Tahap 2 – Integrasi dengan Ollama </vt:lpstr>
      <vt:lpstr>Tahap 2 – Integrasi dengan Ollama </vt:lpstr>
      <vt:lpstr>Tahap 2 –  Kode Lengkap</vt:lpstr>
      <vt:lpstr>Tahap 3 – Integrasikan system prompt NALA</vt:lpstr>
      <vt:lpstr>Tahap 3 –  Kode Lengkap</vt:lpstr>
      <vt:lpstr>PowerPoint Presentation</vt:lpstr>
      <vt:lpstr>Introduction to AI-Assisted Coding</vt:lpstr>
      <vt:lpstr>AI-Assisted vs Traditional Coding</vt:lpstr>
      <vt:lpstr>Tools yang Tersedia di Agent Mode</vt:lpstr>
      <vt:lpstr>Prompting Efektif untuk Coding</vt:lpstr>
      <vt:lpstr>Prompting Efektif untuk Coding</vt:lpstr>
      <vt:lpstr>Code Understanding Memakan Waktu?</vt:lpstr>
      <vt:lpstr>Tiga Lapis Pemahaman Kode</vt:lpstr>
      <vt:lpstr>Dokumentasi yang Dihasilkan AI</vt:lpstr>
      <vt:lpstr>PowerPoint Presentation</vt:lpstr>
      <vt:lpstr>UI Chatbot</vt:lpstr>
      <vt:lpstr>Tambahkan File chat.html dan style.css</vt:lpstr>
      <vt:lpstr>Hubungkan File Templates dan Static</vt:lpstr>
      <vt:lpstr>Streaming Process</vt:lpstr>
      <vt:lpstr>Tahap A - Tambah Endpoint /chat/stream baru di app/main.py</vt:lpstr>
      <vt:lpstr>Tahap B - Tambah chat_stream() di app/ollama_client.py</vt:lpstr>
      <vt:lpstr>Tahap C — Frontend: baca stream + ingat riwayat percakapan</vt:lpstr>
      <vt:lpstr>PowerPoint Presentation</vt:lpstr>
      <vt:lpstr>Kelemahan Terbesar LLM: Halusinasi</vt:lpstr>
      <vt:lpstr>Analogi: Ujian Closed Book vs Open Book</vt:lpstr>
      <vt:lpstr>Apa itu RAG?</vt:lpstr>
      <vt:lpstr>Alur RAG</vt:lpstr>
      <vt:lpstr>Kapan RAG TIDAK Tepat?</vt:lpstr>
      <vt:lpstr>Setup Knowledge Base</vt:lpstr>
      <vt:lpstr>Embedding</vt:lpstr>
      <vt:lpstr>Contoh Konsep Embedding</vt:lpstr>
      <vt:lpstr>Instalasi Model Embedding</vt:lpstr>
      <vt:lpstr>Database Vector</vt:lpstr>
      <vt:lpstr>OpenSearch</vt:lpstr>
      <vt:lpstr>Semantic Search</vt:lpstr>
      <vt:lpstr>Chunking</vt:lpstr>
      <vt:lpstr>Kenapa Dokumen Perlu Di-Chunk</vt:lpstr>
      <vt:lpstr>PowerPoint Presentation</vt:lpstr>
      <vt:lpstr>PowerPoint Presentation</vt:lpstr>
      <vt:lpstr>Apa itu Apache Airflow</vt:lpstr>
      <vt:lpstr>PowerPoint Presentation</vt:lpstr>
      <vt:lpstr>Kenapa Vector Search Murni Tidak Cukup?</vt:lpstr>
      <vt:lpstr>Apa itu BM25?</vt:lpstr>
      <vt:lpstr>Reciprocal Rank Fusion (RRF)</vt:lpstr>
      <vt:lpstr>Observability &amp; Tracing dengan Langfuse</vt:lpstr>
      <vt:lpstr>PowerPoint Presentation</vt:lpstr>
      <vt:lpstr>Kenapa NALA Butuh Jadi "Agent"</vt:lpstr>
      <vt:lpstr>Perbedaan Native RAG dengan Agentic RAG</vt:lpstr>
      <vt:lpstr>Apa itu LangGraph</vt:lpstr>
      <vt:lpstr>Apa itu Tool (Function)</vt:lpstr>
      <vt:lpstr>Routing -  Menggabungkan banyak Tools</vt:lpstr>
      <vt:lpstr>RBAC - Audit Log </vt:lpstr>
      <vt:lpstr>PowerPoint Presentation</vt:lpstr>
      <vt:lpstr>Peta Risiko AI in Application</vt:lpstr>
      <vt:lpstr>Etika Penggunaan</vt:lpstr>
      <vt:lpstr>Governance Framework Singkat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Yudha Adriansyah</dc:creator>
  <cp:lastModifiedBy>A A</cp:lastModifiedBy>
  <cp:revision>167</cp:revision>
  <dcterms:created xsi:type="dcterms:W3CDTF">2025-08-18T01:49:27Z</dcterms:created>
  <dcterms:modified xsi:type="dcterms:W3CDTF">2026-09-21T01:51:38Z</dcterms:modified>
</cp:coreProperties>
</file>